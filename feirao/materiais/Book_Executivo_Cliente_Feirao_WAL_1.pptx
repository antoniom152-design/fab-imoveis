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E2C5C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16244F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120640"/>
            <a:ext cx="4206240" cy="4206240"/>
          </a:xfrm>
          <a:prstGeom prst="ellipse">
            <a:avLst/>
          </a:prstGeom>
          <a:solidFill>
            <a:srgbClr val="1624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40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0241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IMÓVEIS E CONSULTORIA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DO PARTICIPANTE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Feirão Online WAL Imóveis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seu imóvel novo, com condições especiais, sem sair de casa.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31596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oportunidade pensada para servidores públicos, militares,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aposentados e pensionistas do Rio de Janeiro.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5257800"/>
            <a:ext cx="0" cy="59436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5120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DE JULHO A 01 DE AGOSTO DE 2026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Online — Participe de onde você estiver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85832" y="6355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 12261-J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9A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E8C766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E8C76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MENSAGEM PRA VOCÊ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serve o país merece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acesso fácil aos melhores imóveis.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anos vimos a mesma cena se repetir: gente que trabalha o dia inteiro, que cuida da segurança, da saúde, da educação — e que não tem tempo nem paciência para plantão de vendas, fila ou deslocamento, só para saber se cabe no bolso comprar um imóvel.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criamos o Feirão Online WAL Imóveis: com um celular, um notebook e uma conexão de internet, você tem acesso aos melhores empreendimentos do Rio de Janeiro, com atendimento especializado, simulação na hora e total segurança.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Antonio Araujo, Diretor da WAL Imóveis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IMÓVEIS · FEIRÃO ONLINE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EVENTO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Feirão Online?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evento 100% digital que reúne, em um só lugar, os melhores empreendimentos do Rio de Janeiro — com atendimento especializado do início ao fim.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/>
          <a:effectLst>
            <a:outerShdw sx="100000" sy="100000" kx="0" ky="0" algn="bl" rotWithShape="0" blurRad="127000" dist="38100" dir="5400000">
              <a:srgbClr val="0F1B3D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77440"/>
            <a:ext cx="594360" cy="59436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411" y="2511171"/>
            <a:ext cx="326898" cy="3268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063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Online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4107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Participe de onde estiver, sem sair de casa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21488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/>
          <a:effectLst>
            <a:outerShdw sx="100000" sy="100000" kx="0" ky="0" algn="bl" rotWithShape="0" blurRad="127000" dist="38100" dir="5400000">
              <a:srgbClr val="0F1B3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377440"/>
            <a:ext cx="594360" cy="59436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731" y="2511171"/>
            <a:ext cx="326898" cy="326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063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Empreendimentos Selecionados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0" y="34107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melhores lançamentos do Rio de Janeiro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46720" y="21488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/>
          <a:effectLst>
            <a:outerShdw sx="100000" sy="100000" kx="0" ky="0" algn="bl" rotWithShape="0" blurRad="127000" dist="38100" dir="5400000">
              <a:srgbClr val="0F1B3D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75320" y="2377440"/>
            <a:ext cx="594360" cy="59436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051" y="2511171"/>
            <a:ext cx="326898" cy="32689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3063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Especializado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75320" y="34107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consultor te acompanha em cada etapa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2062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/>
          <a:effectLst>
            <a:outerShdw sx="100000" sy="100000" kx="0" ky="0" algn="bl" rotWithShape="0" blurRad="127000" dist="38100" dir="5400000">
              <a:srgbClr val="0F1B3D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68680" y="4434840"/>
            <a:ext cx="594360" cy="59436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411" y="4568571"/>
            <a:ext cx="326898" cy="32689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8680" y="5120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Exclusivas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68680" y="54681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especiais só durante o Feirão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43400" y="42062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/>
          <a:effectLst>
            <a:outerShdw sx="100000" sy="100000" kx="0" ky="0" algn="bl" rotWithShape="0" blurRad="127000" dist="38100" dir="5400000">
              <a:srgbClr val="0F1B3D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72000" y="4434840"/>
            <a:ext cx="594360" cy="59436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731" y="4568571"/>
            <a:ext cx="326898" cy="32689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72000" y="5120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na Hora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72000" y="54681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Saiba na hora o que cabe no seu bolso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046720" y="42062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/>
          <a:effectLst>
            <a:outerShdw sx="100000" sy="100000" kx="0" ky="0" algn="bl" rotWithShape="0" blurRad="127000" dist="38100" dir="5400000">
              <a:srgbClr val="0F1B3D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75320" y="4434840"/>
            <a:ext cx="594360" cy="59436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9051" y="4568571"/>
            <a:ext cx="326898" cy="32689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275320" y="5120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Total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275320" y="54681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transparente, sem letras miúdas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IMÓVEIS · FEIRÃO ONLINE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VOCÊ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Feito Pra Quem Serve o País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16244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FAZ PARTE SE 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242316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1E2C5C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50545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156" y="2561052"/>
            <a:ext cx="181417" cy="1814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11880" y="242316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1E2C5C"/>
          </a:solidFill>
          <a:ln/>
        </p:spPr>
      </p:sp>
      <p:sp>
        <p:nvSpPr>
          <p:cNvPr id="11" name="Shape 8"/>
          <p:cNvSpPr/>
          <p:nvPr/>
        </p:nvSpPr>
        <p:spPr>
          <a:xfrm>
            <a:off x="3703320" y="250545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916" y="2561052"/>
            <a:ext cx="181417" cy="1814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Marinha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60120" y="297180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1E2C5C"/>
          </a:solidFill>
          <a:ln/>
        </p:spPr>
      </p:sp>
      <p:sp>
        <p:nvSpPr>
          <p:cNvPr id="15" name="Shape 11"/>
          <p:cNvSpPr/>
          <p:nvPr/>
        </p:nvSpPr>
        <p:spPr>
          <a:xfrm>
            <a:off x="1051560" y="305409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" y="3109692"/>
            <a:ext cx="181417" cy="1814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2971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Exército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611880" y="297180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1E2C5C"/>
          </a:solidFill>
          <a:ln/>
        </p:spPr>
      </p:sp>
      <p:sp>
        <p:nvSpPr>
          <p:cNvPr id="19" name="Shape 14"/>
          <p:cNvSpPr/>
          <p:nvPr/>
        </p:nvSpPr>
        <p:spPr>
          <a:xfrm>
            <a:off x="3703320" y="305409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916" y="3109692"/>
            <a:ext cx="181417" cy="18141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069080" y="2971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Militar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960120" y="352044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1E2C5C"/>
          </a:solidFill>
          <a:ln/>
        </p:spPr>
      </p:sp>
      <p:sp>
        <p:nvSpPr>
          <p:cNvPr id="23" name="Shape 17"/>
          <p:cNvSpPr/>
          <p:nvPr/>
        </p:nvSpPr>
        <p:spPr>
          <a:xfrm>
            <a:off x="1051560" y="36027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156" y="3658332"/>
            <a:ext cx="181417" cy="18141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Polícia Civil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3611880" y="352044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1E2C5C"/>
          </a:solidFill>
          <a:ln/>
        </p:spPr>
      </p:sp>
      <p:sp>
        <p:nvSpPr>
          <p:cNvPr id="27" name="Shape 20"/>
          <p:cNvSpPr/>
          <p:nvPr/>
        </p:nvSpPr>
        <p:spPr>
          <a:xfrm>
            <a:off x="3703320" y="36027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8916" y="3658332"/>
            <a:ext cx="181417" cy="18141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06908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de Bombeiros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960120" y="406908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1E2C5C"/>
          </a:solidFill>
          <a:ln/>
        </p:spPr>
      </p:sp>
      <p:sp>
        <p:nvSpPr>
          <p:cNvPr id="31" name="Shape 23"/>
          <p:cNvSpPr/>
          <p:nvPr/>
        </p:nvSpPr>
        <p:spPr>
          <a:xfrm>
            <a:off x="1051560" y="415137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7156" y="4206972"/>
            <a:ext cx="181417" cy="181417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417320" y="4069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Federal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3611880" y="406908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1E2C5C"/>
          </a:solidFill>
          <a:ln/>
        </p:spPr>
      </p:sp>
      <p:sp>
        <p:nvSpPr>
          <p:cNvPr id="35" name="Shape 26"/>
          <p:cNvSpPr/>
          <p:nvPr/>
        </p:nvSpPr>
        <p:spPr>
          <a:xfrm>
            <a:off x="3703320" y="415137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8916" y="4206972"/>
            <a:ext cx="181417" cy="181417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069080" y="4069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Estadual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960120" y="461772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1E2C5C"/>
          </a:solidFill>
          <a:ln/>
        </p:spPr>
      </p:sp>
      <p:sp>
        <p:nvSpPr>
          <p:cNvPr id="39" name="Shape 29"/>
          <p:cNvSpPr/>
          <p:nvPr/>
        </p:nvSpPr>
        <p:spPr>
          <a:xfrm>
            <a:off x="1051560" y="47000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7156" y="4755612"/>
            <a:ext cx="181417" cy="181417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1417320" y="4617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Municipal</a:t>
            </a:r>
            <a:endParaRPr lang="en-US" sz="1150" dirty="0"/>
          </a:p>
        </p:txBody>
      </p:sp>
      <p:sp>
        <p:nvSpPr>
          <p:cNvPr id="42" name="Shape 31"/>
          <p:cNvSpPr/>
          <p:nvPr/>
        </p:nvSpPr>
        <p:spPr>
          <a:xfrm>
            <a:off x="3611880" y="461772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1E2C5C"/>
          </a:solidFill>
          <a:ln/>
        </p:spPr>
      </p:sp>
      <p:sp>
        <p:nvSpPr>
          <p:cNvPr id="43" name="Shape 32"/>
          <p:cNvSpPr/>
          <p:nvPr/>
        </p:nvSpPr>
        <p:spPr>
          <a:xfrm>
            <a:off x="3703320" y="47000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8916" y="4755612"/>
            <a:ext cx="181417" cy="181417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4069080" y="4617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Aposentado(a) / Pensionista</a:t>
            </a:r>
            <a:endParaRPr lang="en-US" sz="1150" dirty="0"/>
          </a:p>
        </p:txBody>
      </p:sp>
      <p:sp>
        <p:nvSpPr>
          <p:cNvPr id="46" name="Text 34"/>
          <p:cNvSpPr/>
          <p:nvPr/>
        </p:nvSpPr>
        <p:spPr>
          <a:xfrm>
            <a:off x="635508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 PRA VOCÊ</a:t>
            </a:r>
            <a:endParaRPr lang="en-US" sz="1200" dirty="0"/>
          </a:p>
        </p:txBody>
      </p:sp>
      <p:sp>
        <p:nvSpPr>
          <p:cNvPr id="47" name="Shape 35"/>
          <p:cNvSpPr/>
          <p:nvPr/>
        </p:nvSpPr>
        <p:spPr>
          <a:xfrm>
            <a:off x="6355080" y="219456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8232" y="2267712"/>
            <a:ext cx="219456" cy="219456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6858000" y="2148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estabilidade profissional facilita a aprovação de crédito</a:t>
            </a:r>
            <a:endParaRPr lang="en-US" sz="1350" dirty="0"/>
          </a:p>
        </p:txBody>
      </p:sp>
      <p:sp>
        <p:nvSpPr>
          <p:cNvPr id="50" name="Shape 37"/>
          <p:cNvSpPr/>
          <p:nvPr/>
        </p:nvSpPr>
        <p:spPr>
          <a:xfrm>
            <a:off x="6355080" y="297180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8232" y="3044952"/>
            <a:ext cx="219456" cy="219456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6858000" y="2926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diferenciadas de financiamento</a:t>
            </a:r>
            <a:endParaRPr lang="en-US" sz="1350" dirty="0"/>
          </a:p>
        </p:txBody>
      </p:sp>
      <p:sp>
        <p:nvSpPr>
          <p:cNvPr id="53" name="Shape 39"/>
          <p:cNvSpPr/>
          <p:nvPr/>
        </p:nvSpPr>
        <p:spPr>
          <a:xfrm>
            <a:off x="6355080" y="374904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8232" y="3822192"/>
            <a:ext cx="219456" cy="219456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6858000" y="3703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previsível abre portas que muitos não têm</a:t>
            </a:r>
            <a:endParaRPr lang="en-US" sz="1350" dirty="0"/>
          </a:p>
        </p:txBody>
      </p:sp>
      <p:sp>
        <p:nvSpPr>
          <p:cNvPr id="56" name="Shape 41"/>
          <p:cNvSpPr/>
          <p:nvPr/>
        </p:nvSpPr>
        <p:spPr>
          <a:xfrm>
            <a:off x="6355080" y="452628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8232" y="4599432"/>
            <a:ext cx="219456" cy="219456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6858000" y="4480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merece um atendimento à altura da sua trajetória</a:t>
            </a:r>
            <a:endParaRPr lang="en-US" sz="1350" dirty="0"/>
          </a:p>
        </p:txBody>
      </p:sp>
      <p:sp>
        <p:nvSpPr>
          <p:cNvPr id="59" name="Shape 43"/>
          <p:cNvSpPr/>
          <p:nvPr/>
        </p:nvSpPr>
        <p:spPr>
          <a:xfrm>
            <a:off x="6355080" y="5257800"/>
            <a:ext cx="5212080" cy="685800"/>
          </a:xfrm>
          <a:prstGeom prst="roundRect">
            <a:avLst>
              <a:gd name="adj" fmla="val 9333"/>
            </a:avLst>
          </a:prstGeom>
          <a:solidFill>
            <a:srgbClr val="C9A227"/>
          </a:solidFill>
          <a:ln/>
        </p:spPr>
      </p:sp>
      <p:sp>
        <p:nvSpPr>
          <p:cNvPr id="60" name="Text 44"/>
          <p:cNvSpPr/>
          <p:nvPr/>
        </p:nvSpPr>
        <p:spPr>
          <a:xfrm>
            <a:off x="6583680" y="52578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que serve o país merece esse cuidado.</a:t>
            </a:r>
            <a:endParaRPr lang="en-US" sz="1400" dirty="0"/>
          </a:p>
        </p:txBody>
      </p:sp>
      <p:sp>
        <p:nvSpPr>
          <p:cNvPr id="61" name="Text 4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2" name="Text 4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IMÓVEIS · FEIRÃO ONLINE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Sua Jornada no Feirão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pré-cadastro até as chaves na mão — você nunca caminha sozinho.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691640" cy="1920240"/>
          </a:xfrm>
          <a:prstGeom prst="roundRect">
            <a:avLst>
              <a:gd name="adj" fmla="val 4865"/>
            </a:avLst>
          </a:prstGeom>
          <a:solidFill>
            <a:srgbClr val="0F1B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34440" y="2606040"/>
            <a:ext cx="502920" cy="502920"/>
          </a:xfrm>
          <a:prstGeom prst="ellipse">
            <a:avLst/>
          </a:prstGeom>
          <a:solidFill>
            <a:srgbClr val="1E2C5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7597" y="2719197"/>
            <a:ext cx="276606" cy="2766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2004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Pré-cadastro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368296" y="2926080"/>
            <a:ext cx="91440" cy="91440"/>
          </a:xfrm>
          <a:prstGeom prst="ellipse">
            <a:avLst/>
          </a:prstGeom>
          <a:solidFill>
            <a:srgbClr val="9AA3C0"/>
          </a:solidFill>
          <a:ln/>
        </p:spPr>
      </p:sp>
      <p:sp>
        <p:nvSpPr>
          <p:cNvPr id="11" name="Shape 8"/>
          <p:cNvSpPr/>
          <p:nvPr/>
        </p:nvSpPr>
        <p:spPr>
          <a:xfrm>
            <a:off x="2496312" y="2011680"/>
            <a:ext cx="1691640" cy="1920240"/>
          </a:xfrm>
          <a:prstGeom prst="roundRect">
            <a:avLst>
              <a:gd name="adj" fmla="val 4865"/>
            </a:avLst>
          </a:prstGeom>
          <a:solidFill>
            <a:srgbClr val="0F1B3D"/>
          </a:solidFill>
          <a:ln/>
        </p:spPr>
      </p:sp>
      <p:sp>
        <p:nvSpPr>
          <p:cNvPr id="12" name="Text 9"/>
          <p:cNvSpPr/>
          <p:nvPr/>
        </p:nvSpPr>
        <p:spPr>
          <a:xfrm>
            <a:off x="2633472" y="21488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090672" y="2606040"/>
            <a:ext cx="502920" cy="502920"/>
          </a:xfrm>
          <a:prstGeom prst="ellipse">
            <a:avLst/>
          </a:prstGeom>
          <a:solidFill>
            <a:srgbClr val="1E2C5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29" y="2719197"/>
            <a:ext cx="276606" cy="27660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87752" y="32004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VIP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24528" y="2926080"/>
            <a:ext cx="91440" cy="91440"/>
          </a:xfrm>
          <a:prstGeom prst="ellipse">
            <a:avLst/>
          </a:prstGeom>
          <a:solidFill>
            <a:srgbClr val="9AA3C0"/>
          </a:solidFill>
          <a:ln/>
        </p:spPr>
      </p:sp>
      <p:sp>
        <p:nvSpPr>
          <p:cNvPr id="17" name="Shape 13"/>
          <p:cNvSpPr/>
          <p:nvPr/>
        </p:nvSpPr>
        <p:spPr>
          <a:xfrm>
            <a:off x="4352544" y="2011680"/>
            <a:ext cx="1691640" cy="1920240"/>
          </a:xfrm>
          <a:prstGeom prst="roundRect">
            <a:avLst>
              <a:gd name="adj" fmla="val 4865"/>
            </a:avLst>
          </a:prstGeom>
          <a:solidFill>
            <a:srgbClr val="0F1B3D"/>
          </a:solidFill>
          <a:ln/>
        </p:spPr>
      </p:sp>
      <p:sp>
        <p:nvSpPr>
          <p:cNvPr id="18" name="Text 14"/>
          <p:cNvSpPr/>
          <p:nvPr/>
        </p:nvSpPr>
        <p:spPr>
          <a:xfrm>
            <a:off x="4489704" y="21488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946904" y="2606040"/>
            <a:ext cx="502920" cy="502920"/>
          </a:xfrm>
          <a:prstGeom prst="ellipse">
            <a:avLst/>
          </a:prstGeom>
          <a:solidFill>
            <a:srgbClr val="1E2C5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061" y="2719197"/>
            <a:ext cx="276606" cy="27660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443984" y="32004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Personalizado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080760" y="2926080"/>
            <a:ext cx="91440" cy="91440"/>
          </a:xfrm>
          <a:prstGeom prst="ellipse">
            <a:avLst/>
          </a:prstGeom>
          <a:solidFill>
            <a:srgbClr val="9AA3C0"/>
          </a:solidFill>
          <a:ln/>
        </p:spPr>
      </p:sp>
      <p:sp>
        <p:nvSpPr>
          <p:cNvPr id="23" name="Shape 18"/>
          <p:cNvSpPr/>
          <p:nvPr/>
        </p:nvSpPr>
        <p:spPr>
          <a:xfrm>
            <a:off x="6208776" y="2011680"/>
            <a:ext cx="1691640" cy="1920240"/>
          </a:xfrm>
          <a:prstGeom prst="roundRect">
            <a:avLst>
              <a:gd name="adj" fmla="val 4865"/>
            </a:avLst>
          </a:prstGeom>
          <a:solidFill>
            <a:srgbClr val="0F1B3D"/>
          </a:solidFill>
          <a:ln/>
        </p:spPr>
      </p:sp>
      <p:sp>
        <p:nvSpPr>
          <p:cNvPr id="24" name="Text 19"/>
          <p:cNvSpPr/>
          <p:nvPr/>
        </p:nvSpPr>
        <p:spPr>
          <a:xfrm>
            <a:off x="6345936" y="21488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6803136" y="2606040"/>
            <a:ext cx="502920" cy="502920"/>
          </a:xfrm>
          <a:prstGeom prst="ellipse">
            <a:avLst/>
          </a:prstGeom>
          <a:solidFill>
            <a:srgbClr val="1E2C5C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293" y="2719197"/>
            <a:ext cx="276606" cy="27660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300216" y="32004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do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Imóvel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7936992" y="2926080"/>
            <a:ext cx="91440" cy="91440"/>
          </a:xfrm>
          <a:prstGeom prst="ellipse">
            <a:avLst/>
          </a:prstGeom>
          <a:solidFill>
            <a:srgbClr val="9AA3C0"/>
          </a:solidFill>
          <a:ln/>
        </p:spPr>
      </p:sp>
      <p:sp>
        <p:nvSpPr>
          <p:cNvPr id="29" name="Shape 23"/>
          <p:cNvSpPr/>
          <p:nvPr/>
        </p:nvSpPr>
        <p:spPr>
          <a:xfrm>
            <a:off x="8065008" y="2011680"/>
            <a:ext cx="1691640" cy="1920240"/>
          </a:xfrm>
          <a:prstGeom prst="roundRect">
            <a:avLst>
              <a:gd name="adj" fmla="val 4865"/>
            </a:avLst>
          </a:prstGeom>
          <a:solidFill>
            <a:srgbClr val="0F1B3D"/>
          </a:solidFill>
          <a:ln/>
        </p:spPr>
      </p:sp>
      <p:sp>
        <p:nvSpPr>
          <p:cNvPr id="30" name="Text 24"/>
          <p:cNvSpPr/>
          <p:nvPr/>
        </p:nvSpPr>
        <p:spPr>
          <a:xfrm>
            <a:off x="8202168" y="21488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8659368" y="2606040"/>
            <a:ext cx="502920" cy="502920"/>
          </a:xfrm>
          <a:prstGeom prst="ellipse">
            <a:avLst/>
          </a:prstGeom>
          <a:solidFill>
            <a:srgbClr val="1E2C5C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2525" y="2719197"/>
            <a:ext cx="276606" cy="27660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156448" y="32004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Financeira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9793224" y="2926080"/>
            <a:ext cx="91440" cy="91440"/>
          </a:xfrm>
          <a:prstGeom prst="ellipse">
            <a:avLst/>
          </a:prstGeom>
          <a:solidFill>
            <a:srgbClr val="9AA3C0"/>
          </a:solidFill>
          <a:ln/>
        </p:spPr>
      </p:sp>
      <p:sp>
        <p:nvSpPr>
          <p:cNvPr id="35" name="Shape 28"/>
          <p:cNvSpPr/>
          <p:nvPr/>
        </p:nvSpPr>
        <p:spPr>
          <a:xfrm>
            <a:off x="9921240" y="2011680"/>
            <a:ext cx="1691640" cy="1920240"/>
          </a:xfrm>
          <a:prstGeom prst="roundRect">
            <a:avLst>
              <a:gd name="adj" fmla="val 4865"/>
            </a:avLst>
          </a:prstGeom>
          <a:solidFill>
            <a:srgbClr val="C9A227"/>
          </a:solidFill>
          <a:ln/>
        </p:spPr>
      </p:sp>
      <p:sp>
        <p:nvSpPr>
          <p:cNvPr id="36" name="Text 29"/>
          <p:cNvSpPr/>
          <p:nvPr/>
        </p:nvSpPr>
        <p:spPr>
          <a:xfrm>
            <a:off x="10058400" y="21488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7" name="Shape 30"/>
          <p:cNvSpPr/>
          <p:nvPr/>
        </p:nvSpPr>
        <p:spPr>
          <a:xfrm>
            <a:off x="10515600" y="26060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8757" y="2719197"/>
            <a:ext cx="276606" cy="27660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0012680" y="32004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e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640080" y="43434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EEF1F8"/>
          </a:solidFill>
          <a:ln/>
        </p:spPr>
      </p:sp>
      <p:sp>
        <p:nvSpPr>
          <p:cNvPr id="41" name="Text 33"/>
          <p:cNvSpPr/>
          <p:nvPr/>
        </p:nvSpPr>
        <p:spPr>
          <a:xfrm>
            <a:off x="914400" y="45262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se pré-cadastrar, você entra no Grupo VIP do Feirão no WhatsApp e recebe em primeira mão os melhores empreendimentos, condições exclusivas e datas de lançamento — antes de todo mundo.</a:t>
            </a:r>
            <a:endParaRPr lang="en-US" sz="1400" dirty="0"/>
          </a:p>
        </p:txBody>
      </p:sp>
      <p:sp>
        <p:nvSpPr>
          <p:cNvPr id="42" name="Text 3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IMÓVEIS · FEIRÃO ONLINE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VOCÊ VAI MORAR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Empreendimentos e Localizações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Fechamos parceria com as melhores construtoras do Rio de Janeiro, em localizações valorizadas.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CONSTRUTORAS PARCEIRAS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16244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774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14600" y="23774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16244F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23774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3774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16244F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3774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Cyrela / RJZ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3774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16244F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3774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EMCAMP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16244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23774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CALPER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12680" y="23774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16244F"/>
          </a:solidFill>
          <a:ln/>
        </p:spPr>
      </p:sp>
      <p:sp>
        <p:nvSpPr>
          <p:cNvPr id="17" name="Text 15"/>
          <p:cNvSpPr/>
          <p:nvPr/>
        </p:nvSpPr>
        <p:spPr>
          <a:xfrm>
            <a:off x="10104120" y="23774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REFLORA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LOCALIZAÇÕES EM DESTAQUE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6244F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4096512"/>
            <a:ext cx="457200" cy="457200"/>
          </a:xfrm>
          <a:prstGeom prst="ellipse">
            <a:avLst/>
          </a:prstGeom>
          <a:solidFill>
            <a:srgbClr val="1E2C5C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542" y="4199382"/>
            <a:ext cx="251460" cy="2514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04672" y="4663440"/>
            <a:ext cx="22768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da Tijuca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4672" y="504748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completa e alta valorização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429000" y="39319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6244F"/>
          </a:solidFill>
          <a:ln/>
        </p:spPr>
      </p:sp>
      <p:sp>
        <p:nvSpPr>
          <p:cNvPr id="25" name="Shape 22"/>
          <p:cNvSpPr/>
          <p:nvPr/>
        </p:nvSpPr>
        <p:spPr>
          <a:xfrm>
            <a:off x="3593592" y="4096512"/>
            <a:ext cx="457200" cy="457200"/>
          </a:xfrm>
          <a:prstGeom prst="ellipse">
            <a:avLst/>
          </a:prstGeom>
          <a:solidFill>
            <a:srgbClr val="1E2C5C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462" y="4199382"/>
            <a:ext cx="251460" cy="2514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593592" y="4663440"/>
            <a:ext cx="22768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Recreio dos Bandeirantes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3593592" y="504748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vida perto da praia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217920" y="39319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6244F"/>
          </a:solidFill>
          <a:ln/>
        </p:spPr>
      </p:sp>
      <p:sp>
        <p:nvSpPr>
          <p:cNvPr id="30" name="Shape 26"/>
          <p:cNvSpPr/>
          <p:nvPr/>
        </p:nvSpPr>
        <p:spPr>
          <a:xfrm>
            <a:off x="6382512" y="4096512"/>
            <a:ext cx="457200" cy="457200"/>
          </a:xfrm>
          <a:prstGeom prst="ellipse">
            <a:avLst/>
          </a:prstGeom>
          <a:solidFill>
            <a:srgbClr val="1E2C5C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382" y="4199382"/>
            <a:ext cx="251460" cy="25146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382512" y="4663440"/>
            <a:ext cx="22768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Olímpica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6382512" y="504748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Empreendimentos modernos e bem localizados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9006840" y="39319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6244F"/>
          </a:solidFill>
          <a:ln/>
        </p:spPr>
      </p:sp>
      <p:sp>
        <p:nvSpPr>
          <p:cNvPr id="35" name="Shape 30"/>
          <p:cNvSpPr/>
          <p:nvPr/>
        </p:nvSpPr>
        <p:spPr>
          <a:xfrm>
            <a:off x="9171432" y="4096512"/>
            <a:ext cx="457200" cy="457200"/>
          </a:xfrm>
          <a:prstGeom prst="ellipse">
            <a:avLst/>
          </a:prstGeom>
          <a:solidFill>
            <a:srgbClr val="1E2C5C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4302" y="4199382"/>
            <a:ext cx="251460" cy="25146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171432" y="4663440"/>
            <a:ext cx="22768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 Maravilha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9171432" y="504748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revitalizada do Rio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IMÓVEIS · FEIRÃO ONLINE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VALOR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Vantagens Exclusivas do Feirão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1F8"/>
          </a:solidFill>
          <a:ln/>
          <a:effectLst>
            <a:outerShdw sx="100000" sy="100000" kx="0" ky="0" algn="bl" rotWithShape="0" blurRad="127000" dist="38100" dir="5400000">
              <a:srgbClr val="0F1B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68780" y="1984248"/>
            <a:ext cx="548640" cy="54864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24" y="2107692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7919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especiais de financiamento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0" y="1783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1F8"/>
          </a:solidFill>
          <a:ln/>
          <a:effectLst>
            <a:outerShdw sx="100000" sy="100000" kx="0" ky="0" algn="bl" rotWithShape="0" blurRad="127000" dist="38100" dir="5400000">
              <a:srgbClr val="0F1B3D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03420" y="1984248"/>
            <a:ext cx="548640" cy="54864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107692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267919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plantão, sem fila, sem deslocamento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09360" y="1783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1F8"/>
          </a:solidFill>
          <a:ln/>
          <a:effectLst>
            <a:outerShdw sx="100000" sy="100000" kx="0" ky="0" algn="bl" rotWithShape="0" blurRad="127000" dist="38100" dir="5400000">
              <a:srgbClr val="0F1B3D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38060" y="1984248"/>
            <a:ext cx="548640" cy="54864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4" y="2107692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267919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vários empreendimentos em um só lugar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144000" y="1783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1F8"/>
          </a:solidFill>
          <a:ln/>
          <a:effectLst>
            <a:outerShdw sx="100000" sy="100000" kx="0" ky="0" algn="bl" rotWithShape="0" blurRad="127000" dist="38100" dir="5400000">
              <a:srgbClr val="0F1B3D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172700" y="1984248"/>
            <a:ext cx="548640" cy="54864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2107692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81160" y="267919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do início ao fim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3639312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1F8"/>
          </a:solidFill>
          <a:ln/>
          <a:effectLst>
            <a:outerShdw sx="100000" sy="100000" kx="0" ky="0" algn="bl" rotWithShape="0" blurRad="127000" dist="38100" dir="5400000">
              <a:srgbClr val="0F1B3D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668780" y="3840480"/>
            <a:ext cx="548640" cy="54864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2224" y="3963924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77240" y="4535424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Assessoria gratuita na documentação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474720" y="3639312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1F8"/>
          </a:solidFill>
          <a:ln/>
          <a:effectLst>
            <a:outerShdw sx="100000" sy="100000" kx="0" ky="0" algn="bl" rotWithShape="0" blurRad="127000" dist="38100" dir="5400000">
              <a:srgbClr val="0F1B3D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503420" y="3840480"/>
            <a:ext cx="548640" cy="54864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864" y="3963924"/>
            <a:ext cx="301752" cy="30175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611880" y="4535424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transparente e segura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309360" y="3639312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1F8"/>
          </a:solidFill>
          <a:ln/>
          <a:effectLst>
            <a:outerShdw sx="100000" sy="100000" kx="0" ky="0" algn="bl" rotWithShape="0" blurRad="127000" dist="38100" dir="5400000">
              <a:srgbClr val="0F1B3D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338060" y="3840480"/>
            <a:ext cx="548640" cy="54864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1504" y="3963924"/>
            <a:ext cx="301752" cy="30175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446520" y="4535424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exclusivas do período do Feirão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9144000" y="3639312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1F8"/>
          </a:solidFill>
          <a:ln/>
          <a:effectLst>
            <a:outerShdw sx="100000" sy="100000" kx="0" ky="0" algn="bl" rotWithShape="0" blurRad="127000" dist="38100" dir="5400000">
              <a:srgbClr val="0F1B3D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10172700" y="3840480"/>
            <a:ext cx="548640" cy="54864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6144" y="3963924"/>
            <a:ext cx="301752" cy="30175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281160" y="4535424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humano, sem pressão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IMÓVEIS · FEIRÃO ONLINE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FINANCEIRA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Facilidade no Financiamento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Simulamos com você, na hora, qual a melhor forma de financiar o seu imóvel.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6244F"/>
          </a:solidFill>
          <a:ln/>
        </p:spPr>
      </p:sp>
      <p:sp>
        <p:nvSpPr>
          <p:cNvPr id="6" name="Shape 4"/>
          <p:cNvSpPr/>
          <p:nvPr/>
        </p:nvSpPr>
        <p:spPr>
          <a:xfrm>
            <a:off x="1668780" y="2240280"/>
            <a:ext cx="548640" cy="548640"/>
          </a:xfrm>
          <a:prstGeom prst="ellipse">
            <a:avLst/>
          </a:prstGeom>
          <a:solidFill>
            <a:srgbClr val="1E2C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24" y="236372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90%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3101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financiado do valor do imóvel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20116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6244F"/>
          </a:solidFill>
          <a:ln/>
        </p:spPr>
      </p:sp>
      <p:sp>
        <p:nvSpPr>
          <p:cNvPr id="11" name="Shape 8"/>
          <p:cNvSpPr/>
          <p:nvPr/>
        </p:nvSpPr>
        <p:spPr>
          <a:xfrm>
            <a:off x="4503420" y="2240280"/>
            <a:ext cx="548640" cy="548640"/>
          </a:xfrm>
          <a:prstGeom prst="ellipse">
            <a:avLst/>
          </a:prstGeom>
          <a:solidFill>
            <a:srgbClr val="1E2C5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3637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35 anos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11880" y="33101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prazo para pagar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20116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6244F"/>
          </a:solidFill>
          <a:ln/>
        </p:spPr>
      </p:sp>
      <p:sp>
        <p:nvSpPr>
          <p:cNvPr id="16" name="Shape 12"/>
          <p:cNvSpPr/>
          <p:nvPr/>
        </p:nvSpPr>
        <p:spPr>
          <a:xfrm>
            <a:off x="7338060" y="2240280"/>
            <a:ext cx="548640" cy="548640"/>
          </a:xfrm>
          <a:prstGeom prst="ellipse">
            <a:avLst/>
          </a:prstGeom>
          <a:solidFill>
            <a:srgbClr val="1E2C5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4" y="236372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Simulação na hora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46520" y="33101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um especialista, sem compromisso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44000" y="20116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6244F"/>
          </a:solidFill>
          <a:ln/>
        </p:spPr>
      </p:sp>
      <p:sp>
        <p:nvSpPr>
          <p:cNvPr id="21" name="Shape 16"/>
          <p:cNvSpPr/>
          <p:nvPr/>
        </p:nvSpPr>
        <p:spPr>
          <a:xfrm>
            <a:off x="10172700" y="2240280"/>
            <a:ext cx="548640" cy="548640"/>
          </a:xfrm>
          <a:prstGeom prst="ellipse">
            <a:avLst/>
          </a:prstGeom>
          <a:solidFill>
            <a:srgbClr val="1E2C5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236372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8116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surpresas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81160" y="33101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condições explicadas com clareza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40080" y="4069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Condições sujeitas à análise de crédito e podem variar conforme o empreendimento, a construtora e a instituição financeira.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IMÓVEIS · FEIRÃO ONLINE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em Cada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EEF1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92481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8308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protegidos, em conformidade com a LGPD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17920" y="1828800"/>
            <a:ext cx="457200" cy="457200"/>
          </a:xfrm>
          <a:prstGeom prst="ellipse">
            <a:avLst/>
          </a:prstGeom>
          <a:solidFill>
            <a:srgbClr val="EEF1F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932" y="1924812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12280" y="178308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com assessoria especializada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EEF1F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2793492"/>
            <a:ext cx="265176" cy="2651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6517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Consultores dedicados durante toda a negociação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217920" y="2697480"/>
            <a:ext cx="457200" cy="457200"/>
          </a:xfrm>
          <a:prstGeom prst="ellipse">
            <a:avLst/>
          </a:prstGeom>
          <a:solidFill>
            <a:srgbClr val="EEF1F8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932" y="2793492"/>
            <a:ext cx="265176" cy="2651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12280" y="26517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pagamento sem contrato formalizado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EEF1F8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3662172"/>
            <a:ext cx="265176" cy="26517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35204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total nas condições oferecidas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6217920" y="3566160"/>
            <a:ext cx="457200" cy="457200"/>
          </a:xfrm>
          <a:prstGeom prst="ellipse">
            <a:avLst/>
          </a:prstGeom>
          <a:solidFill>
            <a:srgbClr val="EEF1F8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3932" y="3662172"/>
            <a:ext cx="265176" cy="26517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12280" y="35204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disponível durante todo o Feirão</a:t>
            </a:r>
            <a:endParaRPr lang="en-US" sz="1350" dirty="0"/>
          </a:p>
        </p:txBody>
      </p:sp>
      <p:sp>
        <p:nvSpPr>
          <p:cNvPr id="22" name="Shape 14"/>
          <p:cNvSpPr/>
          <p:nvPr/>
        </p:nvSpPr>
        <p:spPr>
          <a:xfrm>
            <a:off x="640080" y="51206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F1B3D"/>
          </a:solidFill>
          <a:ln/>
        </p:spPr>
      </p:sp>
      <p:sp>
        <p:nvSpPr>
          <p:cNvPr id="23" name="Text 15"/>
          <p:cNvSpPr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Sua tranquilidade é parte do produto. Cuidamos de cada detalhe para que sua decisão seja segura.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IMÓVEIS · FEIRÃO ONLINE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IMPORTANTES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do Feirão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3566160"/>
            <a:ext cx="10515600" cy="0"/>
          </a:xfrm>
          <a:prstGeom prst="line">
            <a:avLst/>
          </a:prstGeom>
          <a:noFill/>
          <a:ln w="38100">
            <a:solidFill>
              <a:srgbClr val="1E2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343814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1B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246120"/>
            <a:ext cx="0" cy="320040"/>
          </a:xfrm>
          <a:prstGeom prst="line">
            <a:avLst/>
          </a:prstGeom>
          <a:noFill/>
          <a:ln w="19050">
            <a:solidFill>
              <a:srgbClr val="1E2C5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-137160" y="214884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16244F"/>
          </a:solidFill>
          <a:ln/>
        </p:spPr>
      </p:sp>
      <p:sp>
        <p:nvSpPr>
          <p:cNvPr id="8" name="Text 6"/>
          <p:cNvSpPr/>
          <p:nvPr/>
        </p:nvSpPr>
        <p:spPr>
          <a:xfrm>
            <a:off x="-91440" y="2258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DE JULHO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-91440" y="25877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do pré-cadastro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23844" y="343814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1B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1860" y="3694176"/>
            <a:ext cx="0" cy="192024"/>
          </a:xfrm>
          <a:prstGeom prst="line">
            <a:avLst/>
          </a:prstGeom>
          <a:noFill/>
          <a:ln w="19050">
            <a:solidFill>
              <a:srgbClr val="1E2C5C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491740" y="388620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16244F"/>
          </a:solidFill>
          <a:ln/>
        </p:spPr>
      </p:sp>
      <p:sp>
        <p:nvSpPr>
          <p:cNvPr id="13" name="Text 11"/>
          <p:cNvSpPr/>
          <p:nvPr/>
        </p:nvSpPr>
        <p:spPr>
          <a:xfrm>
            <a:off x="2537460" y="39959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7460" y="432511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VIP e conteúdos exclusivos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52744" y="3438144"/>
            <a:ext cx="256032" cy="25603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0F1B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3246120"/>
            <a:ext cx="0" cy="320040"/>
          </a:xfrm>
          <a:prstGeom prst="line">
            <a:avLst/>
          </a:prstGeom>
          <a:noFill/>
          <a:ln w="19050">
            <a:solidFill>
              <a:srgbClr val="1E2C5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120640" y="214884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16244F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2258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DE JULHO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25877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do Feirão Online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81644" y="3438144"/>
            <a:ext cx="256032" cy="25603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0F1B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09660" y="3694176"/>
            <a:ext cx="0" cy="192024"/>
          </a:xfrm>
          <a:prstGeom prst="line">
            <a:avLst/>
          </a:prstGeom>
          <a:noFill/>
          <a:ln w="19050">
            <a:solidFill>
              <a:srgbClr val="1E2C5C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749540" y="388620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16244F"/>
          </a:solidFill>
          <a:ln/>
        </p:spPr>
      </p:sp>
      <p:sp>
        <p:nvSpPr>
          <p:cNvPr id="23" name="Text 21"/>
          <p:cNvSpPr/>
          <p:nvPr/>
        </p:nvSpPr>
        <p:spPr>
          <a:xfrm>
            <a:off x="7795260" y="39959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DE AGOSTO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95260" y="432511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do Feirão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1210544" y="343814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1B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338560" y="3246120"/>
            <a:ext cx="0" cy="320040"/>
          </a:xfrm>
          <a:prstGeom prst="line">
            <a:avLst/>
          </a:prstGeom>
          <a:noFill/>
          <a:ln w="19050">
            <a:solidFill>
              <a:srgbClr val="1E2C5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0378440" y="214884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16244F"/>
          </a:solidFill>
          <a:ln/>
        </p:spPr>
      </p:sp>
      <p:sp>
        <p:nvSpPr>
          <p:cNvPr id="28" name="Text 26"/>
          <p:cNvSpPr/>
          <p:nvPr/>
        </p:nvSpPr>
        <p:spPr>
          <a:xfrm>
            <a:off x="10424160" y="2258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PÓS-EVENTO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424160" y="25877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contínuo até a entrega das chaves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IMÓVEIS · FEIRÃO ONLINE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9A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E8C766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E8C76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CONVITE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seu imóvel dos sonhos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 estar a um clique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distância.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precisa sair de casa. Não precisa faltar ao trabalho. Só precisa de um clique para garantir prioridade no Feirão Online WAL Imóveis — e um consultor pronto para te acompanhar em cada etapa.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166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seu pré-cadastro agora. Te esperamos no Feirão!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IMÓVEIS · FEIRÃO ONLINE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1624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144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FEIRÃO ONLINE WAL IMÓVEIS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de Julho a 01 de Agosto de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180076" y="2148840"/>
            <a:ext cx="182880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5146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FALE COM A GENTE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283464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Waldyr Gomes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0" y="331927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39796" y="361188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16244F"/>
          </a:solidFill>
          <a:ln/>
        </p:spPr>
      </p:sp>
      <p:sp>
        <p:nvSpPr>
          <p:cNvPr id="10" name="Shape 8"/>
          <p:cNvSpPr/>
          <p:nvPr/>
        </p:nvSpPr>
        <p:spPr>
          <a:xfrm>
            <a:off x="3122676" y="379476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833" y="3907917"/>
            <a:ext cx="276606" cy="27660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762756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762756" y="3950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(21) 97244-3592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323076" y="361188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16244F"/>
          </a:solidFill>
          <a:ln/>
        </p:spPr>
      </p:sp>
      <p:sp>
        <p:nvSpPr>
          <p:cNvPr id="15" name="Shape 12"/>
          <p:cNvSpPr/>
          <p:nvPr/>
        </p:nvSpPr>
        <p:spPr>
          <a:xfrm>
            <a:off x="6505956" y="379476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113" y="3907917"/>
            <a:ext cx="276606" cy="27660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46036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146036" y="3950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@walimoveis_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0" y="62179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Imóveis e Consultoria  ·  CRECI 12261-J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 Executivo — Feirão Online WAL Imóveis 2026 (Cliente)</dc:title>
  <dc:subject>PptxGenJS Presentation</dc:subject>
  <dc:creator>WAL Imóveis e Consultoria</dc:creator>
  <cp:lastModifiedBy>WAL Imóveis e Consultoria</cp:lastModifiedBy>
  <cp:revision>1</cp:revision>
  <dcterms:created xsi:type="dcterms:W3CDTF">2026-07-05T03:03:37Z</dcterms:created>
  <dcterms:modified xsi:type="dcterms:W3CDTF">2026-07-05T03:03:37Z</dcterms:modified>
</cp:coreProperties>
</file>