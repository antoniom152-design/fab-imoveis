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2C5C"/>
          </a:solidFill>
          <a:ln/>
        </p:spPr>
      </p:sp>
      <p:sp>
        <p:nvSpPr>
          <p:cNvPr id="3" name="Shape 1"/>
          <p:cNvSpPr/>
          <p:nvPr/>
        </p:nvSpPr>
        <p:spPr>
          <a:xfrm>
            <a:off x="10241280" y="4206240"/>
            <a:ext cx="3840480" cy="3840480"/>
          </a:xfrm>
          <a:prstGeom prst="ellipse">
            <a:avLst/>
          </a:prstGeom>
          <a:solidFill>
            <a:srgbClr val="16244F"/>
          </a:solidFill>
          <a:ln/>
        </p:spPr>
      </p:sp>
      <p:sp>
        <p:nvSpPr>
          <p:cNvPr id="4" name="Shape 2"/>
          <p:cNvSpPr/>
          <p:nvPr/>
        </p:nvSpPr>
        <p:spPr>
          <a:xfrm>
            <a:off x="-1463040" y="5120640"/>
            <a:ext cx="4206240" cy="4206240"/>
          </a:xfrm>
          <a:prstGeom prst="ellipse">
            <a:avLst/>
          </a:prstGeom>
          <a:solidFill>
            <a:srgbClr val="16244F"/>
          </a:solidFill>
          <a:ln/>
        </p:spPr>
      </p:sp>
      <p:sp>
        <p:nvSpPr>
          <p:cNvPr id="5" name="Text 3"/>
          <p:cNvSpPr/>
          <p:nvPr/>
        </p:nvSpPr>
        <p:spPr>
          <a:xfrm>
            <a:off x="822960" y="640080"/>
            <a:ext cx="3657600" cy="548640"/>
          </a:xfrm>
          <a:prstGeom prst="rect">
            <a:avLst/>
          </a:prstGeom>
          <a:noFill/>
          <a:ln/>
        </p:spPr>
        <p:txBody>
          <a:bodyPr wrap="square" rtlCol="0" anchor="ctr"/>
          <a:lstStyle/>
          <a:p>
            <a:pPr indent="0" marL="0">
              <a:buNone/>
            </a:pPr>
            <a:r>
              <a:rPr lang="en-US" sz="2200" b="1" spc="300" kern="0" dirty="0">
                <a:solidFill>
                  <a:srgbClr val="C9A227"/>
                </a:solidFill>
                <a:latin typeface="Cambria" pitchFamily="34" charset="0"/>
                <a:ea typeface="Cambria" pitchFamily="34" charset="-122"/>
                <a:cs typeface="Cambria" pitchFamily="34" charset="-120"/>
              </a:rPr>
              <a:t>WAL</a:t>
            </a:r>
            <a:endParaRPr lang="en-US" sz="2200" dirty="0"/>
          </a:p>
        </p:txBody>
      </p:sp>
      <p:sp>
        <p:nvSpPr>
          <p:cNvPr id="6" name="Text 4"/>
          <p:cNvSpPr/>
          <p:nvPr/>
        </p:nvSpPr>
        <p:spPr>
          <a:xfrm>
            <a:off x="822960" y="1024128"/>
            <a:ext cx="5486400" cy="320040"/>
          </a:xfrm>
          <a:prstGeom prst="rect">
            <a:avLst/>
          </a:prstGeom>
          <a:noFill/>
          <a:ln/>
        </p:spPr>
        <p:txBody>
          <a:bodyPr wrap="square" rtlCol="0" anchor="ctr"/>
          <a:lstStyle/>
          <a:p>
            <a:pPr indent="0" marL="0">
              <a:buNone/>
            </a:pPr>
            <a:r>
              <a:rPr lang="en-US" sz="1100" spc="200" kern="0" dirty="0">
                <a:solidFill>
                  <a:srgbClr val="9AA3C0"/>
                </a:solidFill>
                <a:latin typeface="Calibri" pitchFamily="34" charset="0"/>
                <a:ea typeface="Calibri" pitchFamily="34" charset="-122"/>
                <a:cs typeface="Calibri" pitchFamily="34" charset="-120"/>
              </a:rPr>
              <a:t>IMÓVEIS E CONSULTORIA</a:t>
            </a:r>
            <a:endParaRPr lang="en-US" sz="1100" dirty="0"/>
          </a:p>
        </p:txBody>
      </p:sp>
      <p:sp>
        <p:nvSpPr>
          <p:cNvPr id="7" name="Text 5"/>
          <p:cNvSpPr/>
          <p:nvPr/>
        </p:nvSpPr>
        <p:spPr>
          <a:xfrm>
            <a:off x="822960" y="2468880"/>
            <a:ext cx="8229600" cy="457200"/>
          </a:xfrm>
          <a:prstGeom prst="rect">
            <a:avLst/>
          </a:prstGeom>
          <a:noFill/>
          <a:ln/>
        </p:spPr>
        <p:txBody>
          <a:bodyPr wrap="square" rtlCol="0" anchor="ctr"/>
          <a:lstStyle/>
          <a:p>
            <a:pPr indent="0" marL="0">
              <a:buNone/>
            </a:pPr>
            <a:r>
              <a:rPr lang="en-US" sz="1500" b="1" spc="300" kern="0" dirty="0">
                <a:solidFill>
                  <a:srgbClr val="C9A227"/>
                </a:solidFill>
                <a:latin typeface="Calibri" pitchFamily="34" charset="0"/>
                <a:ea typeface="Calibri" pitchFamily="34" charset="-122"/>
                <a:cs typeface="Calibri" pitchFamily="34" charset="-120"/>
              </a:rPr>
              <a:t>BOOK EXECUTIVO COMERCIAL</a:t>
            </a:r>
            <a:endParaRPr lang="en-US" sz="1500" dirty="0"/>
          </a:p>
        </p:txBody>
      </p:sp>
      <p:sp>
        <p:nvSpPr>
          <p:cNvPr id="8" name="Text 6"/>
          <p:cNvSpPr/>
          <p:nvPr/>
        </p:nvSpPr>
        <p:spPr>
          <a:xfrm>
            <a:off x="777240" y="2880360"/>
            <a:ext cx="10058400"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Feirão Online WAL Imóveis</a:t>
            </a:r>
            <a:endParaRPr lang="en-US" sz="4600" dirty="0"/>
          </a:p>
        </p:txBody>
      </p:sp>
      <p:sp>
        <p:nvSpPr>
          <p:cNvPr id="9" name="Text 7"/>
          <p:cNvSpPr/>
          <p:nvPr/>
        </p:nvSpPr>
        <p:spPr>
          <a:xfrm>
            <a:off x="822960" y="3977640"/>
            <a:ext cx="8686800" cy="822960"/>
          </a:xfrm>
          <a:prstGeom prst="rect">
            <a:avLst/>
          </a:prstGeom>
          <a:noFill/>
          <a:ln/>
        </p:spPr>
        <p:txBody>
          <a:bodyPr wrap="square" rtlCol="0" anchor="ctr"/>
          <a:lstStyle/>
          <a:p>
            <a:pPr indent="0" marL="0">
              <a:lnSpc>
                <a:spcPts val="2200"/>
              </a:lnSpc>
              <a:buNone/>
            </a:pPr>
            <a:r>
              <a:rPr lang="en-US" sz="1600" i="1" dirty="0">
                <a:solidFill>
                  <a:srgbClr val="EEF1F8"/>
                </a:solidFill>
                <a:latin typeface="Calibri" pitchFamily="34" charset="0"/>
                <a:ea typeface="Calibri" pitchFamily="34" charset="-122"/>
                <a:cs typeface="Calibri" pitchFamily="34" charset="-120"/>
              </a:rPr>
              <a:t>Conectando grandes construtoras ao público que mais compra</a:t>
            </a:r>
            <a:endParaRPr lang="en-US" sz="1600" dirty="0"/>
          </a:p>
          <a:p>
            <a:pPr indent="0" marL="0">
              <a:lnSpc>
                <a:spcPts val="2200"/>
              </a:lnSpc>
              <a:buNone/>
            </a:pPr>
            <a:r>
              <a:rPr lang="en-US" sz="1600" i="1" dirty="0">
                <a:solidFill>
                  <a:srgbClr val="EEF1F8"/>
                </a:solidFill>
                <a:latin typeface="Calibri" pitchFamily="34" charset="0"/>
                <a:ea typeface="Calibri" pitchFamily="34" charset="-122"/>
                <a:cs typeface="Calibri" pitchFamily="34" charset="-120"/>
              </a:rPr>
              <a:t>com segurança e estabilidade.</a:t>
            </a:r>
            <a:endParaRPr lang="en-US" sz="1600" dirty="0"/>
          </a:p>
        </p:txBody>
      </p:sp>
      <p:sp>
        <p:nvSpPr>
          <p:cNvPr id="10" name="Shape 8"/>
          <p:cNvSpPr/>
          <p:nvPr/>
        </p:nvSpPr>
        <p:spPr>
          <a:xfrm>
            <a:off x="822960" y="5074920"/>
            <a:ext cx="0" cy="594360"/>
          </a:xfrm>
          <a:prstGeom prst="line">
            <a:avLst/>
          </a:prstGeom>
          <a:noFill/>
          <a:ln w="25400">
            <a:solidFill>
              <a:srgbClr val="C9A227"/>
            </a:solidFill>
            <a:prstDash val="solid"/>
          </a:ln>
        </p:spPr>
      </p:sp>
      <p:sp>
        <p:nvSpPr>
          <p:cNvPr id="11" name="Text 9"/>
          <p:cNvSpPr/>
          <p:nvPr/>
        </p:nvSpPr>
        <p:spPr>
          <a:xfrm>
            <a:off x="1051560" y="4937760"/>
            <a:ext cx="7315200" cy="822960"/>
          </a:xfrm>
          <a:prstGeom prst="rect">
            <a:avLst/>
          </a:prstGeom>
          <a:noFill/>
          <a:ln/>
        </p:spPr>
        <p:txBody>
          <a:bodyPr wrap="square"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29 DE JULHO A 01 DE AGOSTO DE 2026</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Apresentação Comercial para Construtoras Parceiras</a:t>
            </a:r>
            <a:endParaRPr lang="en-US" sz="1300" dirty="0"/>
          </a:p>
        </p:txBody>
      </p:sp>
      <p:sp>
        <p:nvSpPr>
          <p:cNvPr id="12" name="Text 10"/>
          <p:cNvSpPr/>
          <p:nvPr/>
        </p:nvSpPr>
        <p:spPr>
          <a:xfrm>
            <a:off x="10085832" y="6355080"/>
            <a:ext cx="164592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CRECI 12261-J</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APRESENTAÇÃO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Quem Somos</a:t>
            </a:r>
            <a:endParaRPr lang="en-US" sz="3000" dirty="0"/>
          </a:p>
        </p:txBody>
      </p:sp>
      <p:sp>
        <p:nvSpPr>
          <p:cNvPr id="4" name="Shape 2"/>
          <p:cNvSpPr/>
          <p:nvPr/>
        </p:nvSpPr>
        <p:spPr>
          <a:xfrm>
            <a:off x="640080" y="1783080"/>
            <a:ext cx="6492240" cy="4114800"/>
          </a:xfrm>
          <a:prstGeom prst="roundRect">
            <a:avLst>
              <a:gd name="adj" fmla="val 1778"/>
            </a:avLst>
          </a:prstGeom>
          <a:solidFill>
            <a:srgbClr val="EEF1F8"/>
          </a:solidFill>
          <a:ln/>
          <a:effectLst>
            <a:outerShdw sx="100000" sy="100000" kx="0" ky="0" algn="bl" rotWithShape="0" blurRad="127000" dist="38100" dir="5400000">
              <a:srgbClr val="0F1B3D">
                <a:alpha val="12000"/>
              </a:srgbClr>
            </a:outerShdw>
          </a:effectLst>
        </p:spPr>
      </p:sp>
      <p:sp>
        <p:nvSpPr>
          <p:cNvPr id="5" name="Text 3"/>
          <p:cNvSpPr/>
          <p:nvPr/>
        </p:nvSpPr>
        <p:spPr>
          <a:xfrm>
            <a:off x="960120" y="2057400"/>
            <a:ext cx="5852160" cy="1371600"/>
          </a:xfrm>
          <a:prstGeom prst="rect">
            <a:avLst/>
          </a:prstGeom>
          <a:noFill/>
          <a:ln/>
        </p:spPr>
        <p:txBody>
          <a:bodyPr wrap="square" rtlCol="0" anchor="ctr"/>
          <a:lstStyle/>
          <a:p>
            <a:pPr indent="0" marL="0">
              <a:lnSpc>
                <a:spcPct val="135000"/>
              </a:lnSpc>
              <a:buNone/>
            </a:pPr>
            <a:r>
              <a:rPr lang="en-US" sz="1500" dirty="0">
                <a:solidFill>
                  <a:srgbClr val="1A2140"/>
                </a:solidFill>
                <a:latin typeface="Calibri" pitchFamily="34" charset="0"/>
                <a:ea typeface="Calibri" pitchFamily="34" charset="-122"/>
                <a:cs typeface="Calibri" pitchFamily="34" charset="-120"/>
              </a:rPr>
              <a:t>A WAL IMÓVEIS nasceu com o propósito de conectar pessoas aos melhores empreendimentos imobiliários por meio de um atendimento consultivo, transparente e altamente especializado.</a:t>
            </a:r>
            <a:endParaRPr lang="en-US" sz="1500" dirty="0"/>
          </a:p>
        </p:txBody>
      </p:sp>
      <p:sp>
        <p:nvSpPr>
          <p:cNvPr id="6" name="Text 4"/>
          <p:cNvSpPr/>
          <p:nvPr/>
        </p:nvSpPr>
        <p:spPr>
          <a:xfrm>
            <a:off x="960120" y="3429000"/>
            <a:ext cx="5852160" cy="1280160"/>
          </a:xfrm>
          <a:prstGeom prst="rect">
            <a:avLst/>
          </a:prstGeom>
          <a:noFill/>
          <a:ln/>
        </p:spPr>
        <p:txBody>
          <a:bodyPr wrap="square" rtlCol="0" anchor="ctr"/>
          <a:lstStyle/>
          <a:p>
            <a:pPr indent="0" marL="0">
              <a:lnSpc>
                <a:spcPct val="135000"/>
              </a:lnSpc>
              <a:buNone/>
            </a:pPr>
            <a:r>
              <a:rPr lang="en-US" sz="1500" dirty="0">
                <a:solidFill>
                  <a:srgbClr val="1A2140"/>
                </a:solidFill>
                <a:latin typeface="Calibri" pitchFamily="34" charset="0"/>
                <a:ea typeface="Calibri" pitchFamily="34" charset="-122"/>
                <a:cs typeface="Calibri" pitchFamily="34" charset="-120"/>
              </a:rPr>
              <a:t>Mais do que comercializar imóveis, desenvolvemos soluções inteligentes que aproximam construtoras de clientes com elevado potencial de compra, unindo tecnologia, relacionamento e marketing direcionado.</a:t>
            </a:r>
            <a:endParaRPr lang="en-US" sz="1500" dirty="0"/>
          </a:p>
        </p:txBody>
      </p:sp>
      <p:sp>
        <p:nvSpPr>
          <p:cNvPr id="7" name="Text 5"/>
          <p:cNvSpPr/>
          <p:nvPr/>
        </p:nvSpPr>
        <p:spPr>
          <a:xfrm>
            <a:off x="960120" y="4892040"/>
            <a:ext cx="5852160" cy="914400"/>
          </a:xfrm>
          <a:prstGeom prst="rect">
            <a:avLst/>
          </a:prstGeom>
          <a:noFill/>
          <a:ln/>
        </p:spPr>
        <p:txBody>
          <a:bodyPr wrap="square" rtlCol="0" anchor="ctr"/>
          <a:lstStyle/>
          <a:p>
            <a:pPr indent="0" marL="0">
              <a:lnSpc>
                <a:spcPct val="130000"/>
              </a:lnSpc>
              <a:buNone/>
            </a:pPr>
            <a:r>
              <a:rPr lang="en-US" sz="1500" b="1" i="1" dirty="0">
                <a:solidFill>
                  <a:srgbClr val="0F1B3D"/>
                </a:solidFill>
                <a:latin typeface="Calibri" pitchFamily="34" charset="0"/>
                <a:ea typeface="Calibri" pitchFamily="34" charset="-122"/>
                <a:cs typeface="Calibri" pitchFamily="34" charset="-120"/>
              </a:rPr>
              <a:t>Nossa missão: simplificar a jornada de aquisição do imóvel, com segurança, agilidade e confiança em cada etapa da negociação.</a:t>
            </a:r>
            <a:endParaRPr lang="en-US" sz="1500" dirty="0"/>
          </a:p>
        </p:txBody>
      </p:sp>
      <p:sp>
        <p:nvSpPr>
          <p:cNvPr id="8" name="Shape 6"/>
          <p:cNvSpPr/>
          <p:nvPr/>
        </p:nvSpPr>
        <p:spPr>
          <a:xfrm>
            <a:off x="7452360" y="1783080"/>
            <a:ext cx="594360" cy="594360"/>
          </a:xfrm>
          <a:prstGeom prst="ellipse">
            <a:avLst/>
          </a:prstGeom>
          <a:solidFill>
            <a:srgbClr val="0F1B3D"/>
          </a:solidFill>
          <a:ln/>
        </p:spPr>
      </p:sp>
      <p:pic>
        <p:nvPicPr>
          <p:cNvPr id="9" name="Image 0" descr="preencoded.png">    </p:cNvPr>
          <p:cNvPicPr>
            <a:picLocks noChangeAspect="1"/>
          </p:cNvPicPr>
          <p:nvPr/>
        </p:nvPicPr>
        <p:blipFill>
          <a:blip r:embed="rId1"/>
          <a:stretch>
            <a:fillRect/>
          </a:stretch>
        </p:blipFill>
        <p:spPr>
          <a:xfrm>
            <a:off x="7595006" y="1925726"/>
            <a:ext cx="309067" cy="309067"/>
          </a:xfrm>
          <a:prstGeom prst="rect">
            <a:avLst/>
          </a:prstGeom>
        </p:spPr>
      </p:pic>
      <p:sp>
        <p:nvSpPr>
          <p:cNvPr id="10" name="Text 7"/>
          <p:cNvSpPr/>
          <p:nvPr/>
        </p:nvSpPr>
        <p:spPr>
          <a:xfrm>
            <a:off x="8229600" y="1783080"/>
            <a:ext cx="3291840" cy="320040"/>
          </a:xfrm>
          <a:prstGeom prst="rect">
            <a:avLst/>
          </a:prstGeom>
          <a:noFill/>
          <a:ln/>
        </p:spPr>
        <p:txBody>
          <a:bodyPr wrap="square"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Especialista</a:t>
            </a:r>
            <a:endParaRPr lang="en-US" sz="1400" dirty="0"/>
          </a:p>
        </p:txBody>
      </p:sp>
      <p:sp>
        <p:nvSpPr>
          <p:cNvPr id="11" name="Text 8"/>
          <p:cNvSpPr/>
          <p:nvPr/>
        </p:nvSpPr>
        <p:spPr>
          <a:xfrm>
            <a:off x="8229600" y="2112264"/>
            <a:ext cx="3291840" cy="64008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Servidores públicos, militares e pensionistas</a:t>
            </a:r>
            <a:endParaRPr lang="en-US" sz="1150" dirty="0"/>
          </a:p>
        </p:txBody>
      </p:sp>
      <p:sp>
        <p:nvSpPr>
          <p:cNvPr id="12" name="Shape 9"/>
          <p:cNvSpPr/>
          <p:nvPr/>
        </p:nvSpPr>
        <p:spPr>
          <a:xfrm>
            <a:off x="7452360" y="3108960"/>
            <a:ext cx="594360" cy="594360"/>
          </a:xfrm>
          <a:prstGeom prst="ellipse">
            <a:avLst/>
          </a:prstGeom>
          <a:solidFill>
            <a:srgbClr val="0F1B3D"/>
          </a:solidFill>
          <a:ln/>
        </p:spPr>
      </p:sp>
      <p:pic>
        <p:nvPicPr>
          <p:cNvPr id="13" name="Image 1" descr="preencoded.png">    </p:cNvPr>
          <p:cNvPicPr>
            <a:picLocks noChangeAspect="1"/>
          </p:cNvPicPr>
          <p:nvPr/>
        </p:nvPicPr>
        <p:blipFill>
          <a:blip r:embed="rId2"/>
          <a:stretch>
            <a:fillRect/>
          </a:stretch>
        </p:blipFill>
        <p:spPr>
          <a:xfrm>
            <a:off x="7595006" y="3251606"/>
            <a:ext cx="309067" cy="309067"/>
          </a:xfrm>
          <a:prstGeom prst="rect">
            <a:avLst/>
          </a:prstGeom>
        </p:spPr>
      </p:pic>
      <p:sp>
        <p:nvSpPr>
          <p:cNvPr id="14" name="Text 10"/>
          <p:cNvSpPr/>
          <p:nvPr/>
        </p:nvSpPr>
        <p:spPr>
          <a:xfrm>
            <a:off x="8229600" y="3108960"/>
            <a:ext cx="3291840" cy="320040"/>
          </a:xfrm>
          <a:prstGeom prst="rect">
            <a:avLst/>
          </a:prstGeom>
          <a:noFill/>
          <a:ln/>
        </p:spPr>
        <p:txBody>
          <a:bodyPr wrap="square"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Foco regional</a:t>
            </a:r>
            <a:endParaRPr lang="en-US" sz="1400" dirty="0"/>
          </a:p>
        </p:txBody>
      </p:sp>
      <p:sp>
        <p:nvSpPr>
          <p:cNvPr id="15" name="Text 11"/>
          <p:cNvSpPr/>
          <p:nvPr/>
        </p:nvSpPr>
        <p:spPr>
          <a:xfrm>
            <a:off x="8229600" y="3438144"/>
            <a:ext cx="3291840" cy="64008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Rio de Janeiro e São Paulo</a:t>
            </a:r>
            <a:endParaRPr lang="en-US" sz="1150" dirty="0"/>
          </a:p>
        </p:txBody>
      </p:sp>
      <p:sp>
        <p:nvSpPr>
          <p:cNvPr id="16" name="Shape 12"/>
          <p:cNvSpPr/>
          <p:nvPr/>
        </p:nvSpPr>
        <p:spPr>
          <a:xfrm>
            <a:off x="7452360" y="4434840"/>
            <a:ext cx="594360" cy="594360"/>
          </a:xfrm>
          <a:prstGeom prst="ellipse">
            <a:avLst/>
          </a:prstGeom>
          <a:solidFill>
            <a:srgbClr val="0F1B3D"/>
          </a:solidFill>
          <a:ln/>
        </p:spPr>
      </p:sp>
      <p:pic>
        <p:nvPicPr>
          <p:cNvPr id="17" name="Image 2" descr="preencoded.png">    </p:cNvPr>
          <p:cNvPicPr>
            <a:picLocks noChangeAspect="1"/>
          </p:cNvPicPr>
          <p:nvPr/>
        </p:nvPicPr>
        <p:blipFill>
          <a:blip r:embed="rId3"/>
          <a:stretch>
            <a:fillRect/>
          </a:stretch>
        </p:blipFill>
        <p:spPr>
          <a:xfrm>
            <a:off x="7595006" y="4577486"/>
            <a:ext cx="309067" cy="309067"/>
          </a:xfrm>
          <a:prstGeom prst="rect">
            <a:avLst/>
          </a:prstGeom>
        </p:spPr>
      </p:pic>
      <p:sp>
        <p:nvSpPr>
          <p:cNvPr id="18" name="Text 13"/>
          <p:cNvSpPr/>
          <p:nvPr/>
        </p:nvSpPr>
        <p:spPr>
          <a:xfrm>
            <a:off x="8229600" y="4434840"/>
            <a:ext cx="3291840" cy="320040"/>
          </a:xfrm>
          <a:prstGeom prst="rect">
            <a:avLst/>
          </a:prstGeom>
          <a:noFill/>
          <a:ln/>
        </p:spPr>
        <p:txBody>
          <a:bodyPr wrap="square"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Rede de Parcerias</a:t>
            </a:r>
            <a:endParaRPr lang="en-US" sz="1400" dirty="0"/>
          </a:p>
        </p:txBody>
      </p:sp>
      <p:sp>
        <p:nvSpPr>
          <p:cNvPr id="19" name="Text 14"/>
          <p:cNvSpPr/>
          <p:nvPr/>
        </p:nvSpPr>
        <p:spPr>
          <a:xfrm>
            <a:off x="8229600" y="4764024"/>
            <a:ext cx="3291840" cy="640080"/>
          </a:xfrm>
          <a:prstGeom prst="rect">
            <a:avLst/>
          </a:prstGeom>
          <a:noFill/>
          <a:ln/>
        </p:spPr>
        <p:txBody>
          <a:bodyPr wrap="square" rtlCol="0" anchor="ctr"/>
          <a:lstStyle/>
          <a:p>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10 construtoras selecionadas — confira na próxima página</a:t>
            </a:r>
            <a:endParaRPr lang="en-US" sz="1150" dirty="0"/>
          </a:p>
        </p:txBody>
      </p:sp>
      <p:sp>
        <p:nvSpPr>
          <p:cNvPr id="20" name="Text 1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02</a:t>
            </a:r>
            <a:endParaRPr lang="en-US" sz="1000" dirty="0"/>
          </a:p>
        </p:txBody>
      </p:sp>
      <p:sp>
        <p:nvSpPr>
          <p:cNvPr id="21" name="Text 16"/>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9692640" y="-2377440"/>
            <a:ext cx="5486400" cy="5486400"/>
          </a:xfrm>
          <a:prstGeom prst="ellipse">
            <a:avLst/>
          </a:prstGeom>
          <a:solidFill>
            <a:srgbClr val="1E2C5C"/>
          </a:solidFill>
          <a:ln/>
        </p:spPr>
      </p:sp>
      <p:sp>
        <p:nvSpPr>
          <p:cNvPr id="3" name="Shape 1"/>
          <p:cNvSpPr/>
          <p:nvPr/>
        </p:nvSpPr>
        <p:spPr>
          <a:xfrm>
            <a:off x="-2011680" y="4937760"/>
            <a:ext cx="4572000" cy="4572000"/>
          </a:xfrm>
          <a:prstGeom prst="ellipse">
            <a:avLst/>
          </a:prstGeom>
          <a:solidFill>
            <a:srgbClr val="16244F"/>
          </a:solidFill>
          <a:ln/>
        </p:spPr>
      </p:sp>
      <p:sp>
        <p:nvSpPr>
          <p:cNvPr id="4" name="Text 2"/>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PARCERIAS ESTRATÉGICAS</a:t>
            </a:r>
            <a:endParaRPr lang="en-US" sz="1200" dirty="0"/>
          </a:p>
        </p:txBody>
      </p:sp>
      <p:sp>
        <p:nvSpPr>
          <p:cNvPr id="5" name="Text 3"/>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Construtoras Parceiras</a:t>
            </a:r>
            <a:endParaRPr lang="en-US" sz="3000" dirty="0"/>
          </a:p>
        </p:txBody>
      </p:sp>
      <p:sp>
        <p:nvSpPr>
          <p:cNvPr id="6" name="Text 4"/>
          <p:cNvSpPr/>
          <p:nvPr/>
        </p:nvSpPr>
        <p:spPr>
          <a:xfrm>
            <a:off x="640080" y="1417320"/>
            <a:ext cx="10698480" cy="411480"/>
          </a:xfrm>
          <a:prstGeom prst="rect">
            <a:avLst/>
          </a:prstGeom>
          <a:noFill/>
          <a:ln/>
        </p:spPr>
        <p:txBody>
          <a:bodyPr wrap="square" rtlCol="0" anchor="ctr"/>
          <a:lstStyle/>
          <a:p>
            <a:pPr indent="0" marL="0">
              <a:buNone/>
            </a:pPr>
            <a:r>
              <a:rPr lang="en-US" sz="1450" i="1" dirty="0">
                <a:solidFill>
                  <a:srgbClr val="9AA3C0"/>
                </a:solidFill>
                <a:latin typeface="Calibri" pitchFamily="34" charset="0"/>
                <a:ea typeface="Calibri" pitchFamily="34" charset="-122"/>
                <a:cs typeface="Calibri" pitchFamily="34" charset="-120"/>
              </a:rPr>
              <a:t>As melhores construtoras do Rio de Janeiro, lado a lado com a WAL IMÓVEIS neste projeto.</a:t>
            </a:r>
            <a:endParaRPr lang="en-US" sz="1450" dirty="0"/>
          </a:p>
        </p:txBody>
      </p:sp>
      <p:sp>
        <p:nvSpPr>
          <p:cNvPr id="7" name="Shape 5"/>
          <p:cNvSpPr/>
          <p:nvPr/>
        </p:nvSpPr>
        <p:spPr>
          <a:xfrm>
            <a:off x="827532" y="2148840"/>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8" name="Shape 6"/>
          <p:cNvSpPr/>
          <p:nvPr/>
        </p:nvSpPr>
        <p:spPr>
          <a:xfrm>
            <a:off x="1613916" y="2313432"/>
            <a:ext cx="402336" cy="36576"/>
          </a:xfrm>
          <a:prstGeom prst="rect">
            <a:avLst/>
          </a:prstGeom>
          <a:solidFill>
            <a:srgbClr val="C9A227"/>
          </a:solidFill>
          <a:ln/>
        </p:spPr>
      </p:sp>
      <p:sp>
        <p:nvSpPr>
          <p:cNvPr id="9" name="Shape 7"/>
          <p:cNvSpPr/>
          <p:nvPr/>
        </p:nvSpPr>
        <p:spPr>
          <a:xfrm>
            <a:off x="1559052" y="2459736"/>
            <a:ext cx="512064" cy="512064"/>
          </a:xfrm>
          <a:prstGeom prst="ellipse">
            <a:avLst/>
          </a:prstGeom>
          <a:solidFill>
            <a:srgbClr val="1E2C5C"/>
          </a:solidFill>
          <a:ln/>
        </p:spPr>
      </p:sp>
      <p:pic>
        <p:nvPicPr>
          <p:cNvPr id="10" name="Image 0" descr="preencoded.png">    </p:cNvPr>
          <p:cNvPicPr>
            <a:picLocks noChangeAspect="1"/>
          </p:cNvPicPr>
          <p:nvPr/>
        </p:nvPicPr>
        <p:blipFill>
          <a:blip r:embed="rId1"/>
          <a:stretch>
            <a:fillRect/>
          </a:stretch>
        </p:blipFill>
        <p:spPr>
          <a:xfrm>
            <a:off x="1687068" y="2587752"/>
            <a:ext cx="256032" cy="256032"/>
          </a:xfrm>
          <a:prstGeom prst="rect">
            <a:avLst/>
          </a:prstGeom>
        </p:spPr>
      </p:pic>
      <p:sp>
        <p:nvSpPr>
          <p:cNvPr id="11" name="Text 8"/>
          <p:cNvSpPr/>
          <p:nvPr/>
        </p:nvSpPr>
        <p:spPr>
          <a:xfrm>
            <a:off x="918972" y="3026664"/>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Domma</a:t>
            </a:r>
            <a:endParaRPr lang="en-US" sz="1500" dirty="0"/>
          </a:p>
        </p:txBody>
      </p:sp>
      <p:sp>
        <p:nvSpPr>
          <p:cNvPr id="12" name="Shape 9"/>
          <p:cNvSpPr/>
          <p:nvPr/>
        </p:nvSpPr>
        <p:spPr>
          <a:xfrm>
            <a:off x="2967228" y="2148840"/>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13" name="Shape 10"/>
          <p:cNvSpPr/>
          <p:nvPr/>
        </p:nvSpPr>
        <p:spPr>
          <a:xfrm>
            <a:off x="3753612" y="2313432"/>
            <a:ext cx="402336" cy="36576"/>
          </a:xfrm>
          <a:prstGeom prst="rect">
            <a:avLst/>
          </a:prstGeom>
          <a:solidFill>
            <a:srgbClr val="C9A227"/>
          </a:solidFill>
          <a:ln/>
        </p:spPr>
      </p:sp>
      <p:sp>
        <p:nvSpPr>
          <p:cNvPr id="14" name="Shape 11"/>
          <p:cNvSpPr/>
          <p:nvPr/>
        </p:nvSpPr>
        <p:spPr>
          <a:xfrm>
            <a:off x="3698748" y="2459736"/>
            <a:ext cx="512064" cy="512064"/>
          </a:xfrm>
          <a:prstGeom prst="ellipse">
            <a:avLst/>
          </a:prstGeom>
          <a:solidFill>
            <a:srgbClr val="1E2C5C"/>
          </a:solidFill>
          <a:ln/>
        </p:spPr>
      </p:sp>
      <p:pic>
        <p:nvPicPr>
          <p:cNvPr id="15" name="Image 1" descr="preencoded.png">    </p:cNvPr>
          <p:cNvPicPr>
            <a:picLocks noChangeAspect="1"/>
          </p:cNvPicPr>
          <p:nvPr/>
        </p:nvPicPr>
        <p:blipFill>
          <a:blip r:embed="rId2"/>
          <a:stretch>
            <a:fillRect/>
          </a:stretch>
        </p:blipFill>
        <p:spPr>
          <a:xfrm>
            <a:off x="3826764" y="2587752"/>
            <a:ext cx="256032" cy="256032"/>
          </a:xfrm>
          <a:prstGeom prst="rect">
            <a:avLst/>
          </a:prstGeom>
        </p:spPr>
      </p:pic>
      <p:sp>
        <p:nvSpPr>
          <p:cNvPr id="16" name="Text 12"/>
          <p:cNvSpPr/>
          <p:nvPr/>
        </p:nvSpPr>
        <p:spPr>
          <a:xfrm>
            <a:off x="3058668" y="3026664"/>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Cury</a:t>
            </a:r>
            <a:endParaRPr lang="en-US" sz="1500" dirty="0"/>
          </a:p>
        </p:txBody>
      </p:sp>
      <p:sp>
        <p:nvSpPr>
          <p:cNvPr id="17" name="Shape 13"/>
          <p:cNvSpPr/>
          <p:nvPr/>
        </p:nvSpPr>
        <p:spPr>
          <a:xfrm>
            <a:off x="5106924" y="2148840"/>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18" name="Shape 14"/>
          <p:cNvSpPr/>
          <p:nvPr/>
        </p:nvSpPr>
        <p:spPr>
          <a:xfrm>
            <a:off x="5893308" y="2313432"/>
            <a:ext cx="402336" cy="36576"/>
          </a:xfrm>
          <a:prstGeom prst="rect">
            <a:avLst/>
          </a:prstGeom>
          <a:solidFill>
            <a:srgbClr val="C9A227"/>
          </a:solidFill>
          <a:ln/>
        </p:spPr>
      </p:sp>
      <p:sp>
        <p:nvSpPr>
          <p:cNvPr id="19" name="Shape 15"/>
          <p:cNvSpPr/>
          <p:nvPr/>
        </p:nvSpPr>
        <p:spPr>
          <a:xfrm>
            <a:off x="5838444" y="2459736"/>
            <a:ext cx="512064" cy="512064"/>
          </a:xfrm>
          <a:prstGeom prst="ellipse">
            <a:avLst/>
          </a:prstGeom>
          <a:solidFill>
            <a:srgbClr val="1E2C5C"/>
          </a:solidFill>
          <a:ln/>
        </p:spPr>
      </p:sp>
      <p:pic>
        <p:nvPicPr>
          <p:cNvPr id="20" name="Image 2" descr="preencoded.png">    </p:cNvPr>
          <p:cNvPicPr>
            <a:picLocks noChangeAspect="1"/>
          </p:cNvPicPr>
          <p:nvPr/>
        </p:nvPicPr>
        <p:blipFill>
          <a:blip r:embed="rId3"/>
          <a:stretch>
            <a:fillRect/>
          </a:stretch>
        </p:blipFill>
        <p:spPr>
          <a:xfrm>
            <a:off x="5966460" y="2587752"/>
            <a:ext cx="256032" cy="256032"/>
          </a:xfrm>
          <a:prstGeom prst="rect">
            <a:avLst/>
          </a:prstGeom>
        </p:spPr>
      </p:pic>
      <p:sp>
        <p:nvSpPr>
          <p:cNvPr id="21" name="Text 16"/>
          <p:cNvSpPr/>
          <p:nvPr/>
        </p:nvSpPr>
        <p:spPr>
          <a:xfrm>
            <a:off x="5198364" y="3026664"/>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Luving</a:t>
            </a:r>
            <a:endParaRPr lang="en-US" sz="1500" dirty="0"/>
          </a:p>
        </p:txBody>
      </p:sp>
      <p:sp>
        <p:nvSpPr>
          <p:cNvPr id="22" name="Shape 17"/>
          <p:cNvSpPr/>
          <p:nvPr/>
        </p:nvSpPr>
        <p:spPr>
          <a:xfrm>
            <a:off x="7246620" y="2148840"/>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23" name="Shape 18"/>
          <p:cNvSpPr/>
          <p:nvPr/>
        </p:nvSpPr>
        <p:spPr>
          <a:xfrm>
            <a:off x="8033004" y="2313432"/>
            <a:ext cx="402336" cy="36576"/>
          </a:xfrm>
          <a:prstGeom prst="rect">
            <a:avLst/>
          </a:prstGeom>
          <a:solidFill>
            <a:srgbClr val="C9A227"/>
          </a:solidFill>
          <a:ln/>
        </p:spPr>
      </p:sp>
      <p:sp>
        <p:nvSpPr>
          <p:cNvPr id="24" name="Shape 19"/>
          <p:cNvSpPr/>
          <p:nvPr/>
        </p:nvSpPr>
        <p:spPr>
          <a:xfrm>
            <a:off x="7978140" y="2459736"/>
            <a:ext cx="512064" cy="512064"/>
          </a:xfrm>
          <a:prstGeom prst="ellipse">
            <a:avLst/>
          </a:prstGeom>
          <a:solidFill>
            <a:srgbClr val="1E2C5C"/>
          </a:solidFill>
          <a:ln/>
        </p:spPr>
      </p:sp>
      <p:pic>
        <p:nvPicPr>
          <p:cNvPr id="25" name="Image 3" descr="preencoded.png">    </p:cNvPr>
          <p:cNvPicPr>
            <a:picLocks noChangeAspect="1"/>
          </p:cNvPicPr>
          <p:nvPr/>
        </p:nvPicPr>
        <p:blipFill>
          <a:blip r:embed="rId4"/>
          <a:stretch>
            <a:fillRect/>
          </a:stretch>
        </p:blipFill>
        <p:spPr>
          <a:xfrm>
            <a:off x="8106156" y="2587752"/>
            <a:ext cx="256032" cy="256032"/>
          </a:xfrm>
          <a:prstGeom prst="rect">
            <a:avLst/>
          </a:prstGeom>
        </p:spPr>
      </p:pic>
      <p:sp>
        <p:nvSpPr>
          <p:cNvPr id="26" name="Text 20"/>
          <p:cNvSpPr/>
          <p:nvPr/>
        </p:nvSpPr>
        <p:spPr>
          <a:xfrm>
            <a:off x="7338060" y="3026664"/>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Emccamp</a:t>
            </a:r>
            <a:endParaRPr lang="en-US" sz="1500" dirty="0"/>
          </a:p>
        </p:txBody>
      </p:sp>
      <p:sp>
        <p:nvSpPr>
          <p:cNvPr id="27" name="Shape 21"/>
          <p:cNvSpPr/>
          <p:nvPr/>
        </p:nvSpPr>
        <p:spPr>
          <a:xfrm>
            <a:off x="9386316" y="2148840"/>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28" name="Shape 22"/>
          <p:cNvSpPr/>
          <p:nvPr/>
        </p:nvSpPr>
        <p:spPr>
          <a:xfrm>
            <a:off x="10172700" y="2313432"/>
            <a:ext cx="402336" cy="36576"/>
          </a:xfrm>
          <a:prstGeom prst="rect">
            <a:avLst/>
          </a:prstGeom>
          <a:solidFill>
            <a:srgbClr val="C9A227"/>
          </a:solidFill>
          <a:ln/>
        </p:spPr>
      </p:sp>
      <p:sp>
        <p:nvSpPr>
          <p:cNvPr id="29" name="Shape 23"/>
          <p:cNvSpPr/>
          <p:nvPr/>
        </p:nvSpPr>
        <p:spPr>
          <a:xfrm>
            <a:off x="10117836" y="2459736"/>
            <a:ext cx="512064" cy="512064"/>
          </a:xfrm>
          <a:prstGeom prst="ellipse">
            <a:avLst/>
          </a:prstGeom>
          <a:solidFill>
            <a:srgbClr val="1E2C5C"/>
          </a:solidFill>
          <a:ln/>
        </p:spPr>
      </p:sp>
      <p:pic>
        <p:nvPicPr>
          <p:cNvPr id="30" name="Image 4" descr="preencoded.png">    </p:cNvPr>
          <p:cNvPicPr>
            <a:picLocks noChangeAspect="1"/>
          </p:cNvPicPr>
          <p:nvPr/>
        </p:nvPicPr>
        <p:blipFill>
          <a:blip r:embed="rId5"/>
          <a:stretch>
            <a:fillRect/>
          </a:stretch>
        </p:blipFill>
        <p:spPr>
          <a:xfrm>
            <a:off x="10245852" y="2587752"/>
            <a:ext cx="256032" cy="256032"/>
          </a:xfrm>
          <a:prstGeom prst="rect">
            <a:avLst/>
          </a:prstGeom>
        </p:spPr>
      </p:pic>
      <p:sp>
        <p:nvSpPr>
          <p:cNvPr id="31" name="Text 24"/>
          <p:cNvSpPr/>
          <p:nvPr/>
        </p:nvSpPr>
        <p:spPr>
          <a:xfrm>
            <a:off x="9477756" y="3026664"/>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Riva</a:t>
            </a:r>
            <a:endParaRPr lang="en-US" sz="1500" dirty="0"/>
          </a:p>
        </p:txBody>
      </p:sp>
      <p:sp>
        <p:nvSpPr>
          <p:cNvPr id="32" name="Shape 25"/>
          <p:cNvSpPr/>
          <p:nvPr/>
        </p:nvSpPr>
        <p:spPr>
          <a:xfrm>
            <a:off x="827532" y="3675888"/>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33" name="Shape 26"/>
          <p:cNvSpPr/>
          <p:nvPr/>
        </p:nvSpPr>
        <p:spPr>
          <a:xfrm>
            <a:off x="1613916" y="3840480"/>
            <a:ext cx="402336" cy="36576"/>
          </a:xfrm>
          <a:prstGeom prst="rect">
            <a:avLst/>
          </a:prstGeom>
          <a:solidFill>
            <a:srgbClr val="C9A227"/>
          </a:solidFill>
          <a:ln/>
        </p:spPr>
      </p:sp>
      <p:sp>
        <p:nvSpPr>
          <p:cNvPr id="34" name="Shape 27"/>
          <p:cNvSpPr/>
          <p:nvPr/>
        </p:nvSpPr>
        <p:spPr>
          <a:xfrm>
            <a:off x="1559052" y="3986784"/>
            <a:ext cx="512064" cy="512064"/>
          </a:xfrm>
          <a:prstGeom prst="ellipse">
            <a:avLst/>
          </a:prstGeom>
          <a:solidFill>
            <a:srgbClr val="1E2C5C"/>
          </a:solidFill>
          <a:ln/>
        </p:spPr>
      </p:sp>
      <p:pic>
        <p:nvPicPr>
          <p:cNvPr id="35" name="Image 5" descr="preencoded.png">    </p:cNvPr>
          <p:cNvPicPr>
            <a:picLocks noChangeAspect="1"/>
          </p:cNvPicPr>
          <p:nvPr/>
        </p:nvPicPr>
        <p:blipFill>
          <a:blip r:embed="rId6"/>
          <a:stretch>
            <a:fillRect/>
          </a:stretch>
        </p:blipFill>
        <p:spPr>
          <a:xfrm>
            <a:off x="1687068" y="4114800"/>
            <a:ext cx="256032" cy="256032"/>
          </a:xfrm>
          <a:prstGeom prst="rect">
            <a:avLst/>
          </a:prstGeom>
        </p:spPr>
      </p:pic>
      <p:sp>
        <p:nvSpPr>
          <p:cNvPr id="36" name="Text 28"/>
          <p:cNvSpPr/>
          <p:nvPr/>
        </p:nvSpPr>
        <p:spPr>
          <a:xfrm>
            <a:off x="918972" y="4553712"/>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BRZ</a:t>
            </a:r>
            <a:endParaRPr lang="en-US" sz="1500" dirty="0"/>
          </a:p>
        </p:txBody>
      </p:sp>
      <p:sp>
        <p:nvSpPr>
          <p:cNvPr id="37" name="Shape 29"/>
          <p:cNvSpPr/>
          <p:nvPr/>
        </p:nvSpPr>
        <p:spPr>
          <a:xfrm>
            <a:off x="2967228" y="3675888"/>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38" name="Shape 30"/>
          <p:cNvSpPr/>
          <p:nvPr/>
        </p:nvSpPr>
        <p:spPr>
          <a:xfrm>
            <a:off x="3753612" y="3840480"/>
            <a:ext cx="402336" cy="36576"/>
          </a:xfrm>
          <a:prstGeom prst="rect">
            <a:avLst/>
          </a:prstGeom>
          <a:solidFill>
            <a:srgbClr val="C9A227"/>
          </a:solidFill>
          <a:ln/>
        </p:spPr>
      </p:sp>
      <p:sp>
        <p:nvSpPr>
          <p:cNvPr id="39" name="Shape 31"/>
          <p:cNvSpPr/>
          <p:nvPr/>
        </p:nvSpPr>
        <p:spPr>
          <a:xfrm>
            <a:off x="3698748" y="3986784"/>
            <a:ext cx="512064" cy="512064"/>
          </a:xfrm>
          <a:prstGeom prst="ellipse">
            <a:avLst/>
          </a:prstGeom>
          <a:solidFill>
            <a:srgbClr val="1E2C5C"/>
          </a:solidFill>
          <a:ln/>
        </p:spPr>
      </p:sp>
      <p:pic>
        <p:nvPicPr>
          <p:cNvPr id="40" name="Image 6" descr="preencoded.png">    </p:cNvPr>
          <p:cNvPicPr>
            <a:picLocks noChangeAspect="1"/>
          </p:cNvPicPr>
          <p:nvPr/>
        </p:nvPicPr>
        <p:blipFill>
          <a:blip r:embed="rId7"/>
          <a:stretch>
            <a:fillRect/>
          </a:stretch>
        </p:blipFill>
        <p:spPr>
          <a:xfrm>
            <a:off x="3826764" y="4114800"/>
            <a:ext cx="256032" cy="256032"/>
          </a:xfrm>
          <a:prstGeom prst="rect">
            <a:avLst/>
          </a:prstGeom>
        </p:spPr>
      </p:pic>
      <p:sp>
        <p:nvSpPr>
          <p:cNvPr id="41" name="Text 32"/>
          <p:cNvSpPr/>
          <p:nvPr/>
        </p:nvSpPr>
        <p:spPr>
          <a:xfrm>
            <a:off x="3058668" y="4553712"/>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Cyrela</a:t>
            </a:r>
            <a:endParaRPr lang="en-US" sz="1500" dirty="0"/>
          </a:p>
        </p:txBody>
      </p:sp>
      <p:sp>
        <p:nvSpPr>
          <p:cNvPr id="42" name="Shape 33"/>
          <p:cNvSpPr/>
          <p:nvPr/>
        </p:nvSpPr>
        <p:spPr>
          <a:xfrm>
            <a:off x="5106924" y="3675888"/>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43" name="Shape 34"/>
          <p:cNvSpPr/>
          <p:nvPr/>
        </p:nvSpPr>
        <p:spPr>
          <a:xfrm>
            <a:off x="5893308" y="3840480"/>
            <a:ext cx="402336" cy="36576"/>
          </a:xfrm>
          <a:prstGeom prst="rect">
            <a:avLst/>
          </a:prstGeom>
          <a:solidFill>
            <a:srgbClr val="C9A227"/>
          </a:solidFill>
          <a:ln/>
        </p:spPr>
      </p:sp>
      <p:sp>
        <p:nvSpPr>
          <p:cNvPr id="44" name="Shape 35"/>
          <p:cNvSpPr/>
          <p:nvPr/>
        </p:nvSpPr>
        <p:spPr>
          <a:xfrm>
            <a:off x="5838444" y="3986784"/>
            <a:ext cx="512064" cy="512064"/>
          </a:xfrm>
          <a:prstGeom prst="ellipse">
            <a:avLst/>
          </a:prstGeom>
          <a:solidFill>
            <a:srgbClr val="1E2C5C"/>
          </a:solidFill>
          <a:ln/>
        </p:spPr>
      </p:sp>
      <p:pic>
        <p:nvPicPr>
          <p:cNvPr id="45" name="Image 7" descr="preencoded.png">    </p:cNvPr>
          <p:cNvPicPr>
            <a:picLocks noChangeAspect="1"/>
          </p:cNvPicPr>
          <p:nvPr/>
        </p:nvPicPr>
        <p:blipFill>
          <a:blip r:embed="rId8"/>
          <a:stretch>
            <a:fillRect/>
          </a:stretch>
        </p:blipFill>
        <p:spPr>
          <a:xfrm>
            <a:off x="5966460" y="4114800"/>
            <a:ext cx="256032" cy="256032"/>
          </a:xfrm>
          <a:prstGeom prst="rect">
            <a:avLst/>
          </a:prstGeom>
        </p:spPr>
      </p:pic>
      <p:sp>
        <p:nvSpPr>
          <p:cNvPr id="46" name="Text 36"/>
          <p:cNvSpPr/>
          <p:nvPr/>
        </p:nvSpPr>
        <p:spPr>
          <a:xfrm>
            <a:off x="5198364" y="4553712"/>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Tegra</a:t>
            </a:r>
            <a:endParaRPr lang="en-US" sz="1500" dirty="0"/>
          </a:p>
        </p:txBody>
      </p:sp>
      <p:sp>
        <p:nvSpPr>
          <p:cNvPr id="47" name="Shape 37"/>
          <p:cNvSpPr/>
          <p:nvPr/>
        </p:nvSpPr>
        <p:spPr>
          <a:xfrm>
            <a:off x="7246620" y="3675888"/>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48" name="Shape 38"/>
          <p:cNvSpPr/>
          <p:nvPr/>
        </p:nvSpPr>
        <p:spPr>
          <a:xfrm>
            <a:off x="8033004" y="3840480"/>
            <a:ext cx="402336" cy="36576"/>
          </a:xfrm>
          <a:prstGeom prst="rect">
            <a:avLst/>
          </a:prstGeom>
          <a:solidFill>
            <a:srgbClr val="C9A227"/>
          </a:solidFill>
          <a:ln/>
        </p:spPr>
      </p:sp>
      <p:sp>
        <p:nvSpPr>
          <p:cNvPr id="49" name="Shape 39"/>
          <p:cNvSpPr/>
          <p:nvPr/>
        </p:nvSpPr>
        <p:spPr>
          <a:xfrm>
            <a:off x="7978140" y="3986784"/>
            <a:ext cx="512064" cy="512064"/>
          </a:xfrm>
          <a:prstGeom prst="ellipse">
            <a:avLst/>
          </a:prstGeom>
          <a:solidFill>
            <a:srgbClr val="1E2C5C"/>
          </a:solidFill>
          <a:ln/>
        </p:spPr>
      </p:sp>
      <p:pic>
        <p:nvPicPr>
          <p:cNvPr id="50" name="Image 8" descr="preencoded.png">    </p:cNvPr>
          <p:cNvPicPr>
            <a:picLocks noChangeAspect="1"/>
          </p:cNvPicPr>
          <p:nvPr/>
        </p:nvPicPr>
        <p:blipFill>
          <a:blip r:embed="rId9"/>
          <a:stretch>
            <a:fillRect/>
          </a:stretch>
        </p:blipFill>
        <p:spPr>
          <a:xfrm>
            <a:off x="8106156" y="4114800"/>
            <a:ext cx="256032" cy="256032"/>
          </a:xfrm>
          <a:prstGeom prst="rect">
            <a:avLst/>
          </a:prstGeom>
        </p:spPr>
      </p:pic>
      <p:sp>
        <p:nvSpPr>
          <p:cNvPr id="51" name="Text 40"/>
          <p:cNvSpPr/>
          <p:nvPr/>
        </p:nvSpPr>
        <p:spPr>
          <a:xfrm>
            <a:off x="7338060" y="4553712"/>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Calper</a:t>
            </a:r>
            <a:endParaRPr lang="en-US" sz="1500" dirty="0"/>
          </a:p>
        </p:txBody>
      </p:sp>
      <p:sp>
        <p:nvSpPr>
          <p:cNvPr id="52" name="Shape 41"/>
          <p:cNvSpPr/>
          <p:nvPr/>
        </p:nvSpPr>
        <p:spPr>
          <a:xfrm>
            <a:off x="9386316" y="3675888"/>
            <a:ext cx="1975104" cy="1325880"/>
          </a:xfrm>
          <a:prstGeom prst="roundRect">
            <a:avLst>
              <a:gd name="adj" fmla="val 6207"/>
            </a:avLst>
          </a:prstGeom>
          <a:solidFill>
            <a:srgbClr val="16244F"/>
          </a:solidFill>
          <a:ln/>
          <a:effectLst>
            <a:outerShdw sx="100000" sy="100000" kx="0" ky="0" algn="bl" rotWithShape="0" blurRad="127000" dist="38100" dir="5400000">
              <a:srgbClr val="0F1B3D">
                <a:alpha val="12000"/>
              </a:srgbClr>
            </a:outerShdw>
          </a:effectLst>
        </p:spPr>
      </p:sp>
      <p:sp>
        <p:nvSpPr>
          <p:cNvPr id="53" name="Shape 42"/>
          <p:cNvSpPr/>
          <p:nvPr/>
        </p:nvSpPr>
        <p:spPr>
          <a:xfrm>
            <a:off x="10172700" y="3840480"/>
            <a:ext cx="402336" cy="36576"/>
          </a:xfrm>
          <a:prstGeom prst="rect">
            <a:avLst/>
          </a:prstGeom>
          <a:solidFill>
            <a:srgbClr val="C9A227"/>
          </a:solidFill>
          <a:ln/>
        </p:spPr>
      </p:sp>
      <p:sp>
        <p:nvSpPr>
          <p:cNvPr id="54" name="Shape 43"/>
          <p:cNvSpPr/>
          <p:nvPr/>
        </p:nvSpPr>
        <p:spPr>
          <a:xfrm>
            <a:off x="10117836" y="3986784"/>
            <a:ext cx="512064" cy="512064"/>
          </a:xfrm>
          <a:prstGeom prst="ellipse">
            <a:avLst/>
          </a:prstGeom>
          <a:solidFill>
            <a:srgbClr val="1E2C5C"/>
          </a:solidFill>
          <a:ln/>
        </p:spPr>
      </p:sp>
      <p:pic>
        <p:nvPicPr>
          <p:cNvPr id="55" name="Image 9" descr="preencoded.png">    </p:cNvPr>
          <p:cNvPicPr>
            <a:picLocks noChangeAspect="1"/>
          </p:cNvPicPr>
          <p:nvPr/>
        </p:nvPicPr>
        <p:blipFill>
          <a:blip r:embed="rId10"/>
          <a:stretch>
            <a:fillRect/>
          </a:stretch>
        </p:blipFill>
        <p:spPr>
          <a:xfrm>
            <a:off x="10245852" y="4114800"/>
            <a:ext cx="256032" cy="256032"/>
          </a:xfrm>
          <a:prstGeom prst="rect">
            <a:avLst/>
          </a:prstGeom>
        </p:spPr>
      </p:pic>
      <p:sp>
        <p:nvSpPr>
          <p:cNvPr id="56" name="Text 44"/>
          <p:cNvSpPr/>
          <p:nvPr/>
        </p:nvSpPr>
        <p:spPr>
          <a:xfrm>
            <a:off x="9477756" y="4553712"/>
            <a:ext cx="1792224"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Even</a:t>
            </a:r>
            <a:endParaRPr lang="en-US" sz="1500" dirty="0"/>
          </a:p>
        </p:txBody>
      </p:sp>
      <p:sp>
        <p:nvSpPr>
          <p:cNvPr id="57" name="Shape 45"/>
          <p:cNvSpPr/>
          <p:nvPr/>
        </p:nvSpPr>
        <p:spPr>
          <a:xfrm>
            <a:off x="640080" y="5340096"/>
            <a:ext cx="10881360" cy="594360"/>
          </a:xfrm>
          <a:prstGeom prst="roundRect">
            <a:avLst>
              <a:gd name="adj" fmla="val 12308"/>
            </a:avLst>
          </a:prstGeom>
          <a:solidFill>
            <a:srgbClr val="C9A227"/>
          </a:solidFill>
          <a:ln/>
        </p:spPr>
      </p:sp>
      <p:sp>
        <p:nvSpPr>
          <p:cNvPr id="58" name="Text 46"/>
          <p:cNvSpPr/>
          <p:nvPr/>
        </p:nvSpPr>
        <p:spPr>
          <a:xfrm>
            <a:off x="822960" y="5340096"/>
            <a:ext cx="10515600" cy="594360"/>
          </a:xfrm>
          <a:prstGeom prst="rect">
            <a:avLst/>
          </a:prstGeom>
          <a:noFill/>
          <a:ln/>
        </p:spPr>
        <p:txBody>
          <a:bodyPr wrap="square" rtlCol="0" anchor="ctr"/>
          <a:lstStyle/>
          <a:p>
            <a:pPr indent="0" marL="0">
              <a:buNone/>
            </a:pPr>
            <a:r>
              <a:rPr lang="en-US" sz="1400" b="1" i="1" dirty="0">
                <a:solidFill>
                  <a:srgbClr val="0F1B3D"/>
                </a:solidFill>
                <a:latin typeface="Cambria" pitchFamily="34" charset="0"/>
                <a:ea typeface="Cambria" pitchFamily="34" charset="-122"/>
                <a:cs typeface="Cambria" pitchFamily="34" charset="-120"/>
              </a:rPr>
              <a:t>10 construtoras. Um só objetivo: conectar você às melhores oportunidades do Rio de Janeiro.</a:t>
            </a:r>
            <a:endParaRPr lang="en-US" sz="1400" dirty="0"/>
          </a:p>
        </p:txBody>
      </p:sp>
      <p:sp>
        <p:nvSpPr>
          <p:cNvPr id="59" name="Text 47"/>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03</a:t>
            </a:r>
            <a:endParaRPr lang="en-US" sz="1000" dirty="0"/>
          </a:p>
        </p:txBody>
      </p:sp>
      <p:sp>
        <p:nvSpPr>
          <p:cNvPr id="60" name="Text 48"/>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O PROJETO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Feirão Online WAL Imóveis</a:t>
            </a:r>
            <a:endParaRPr lang="en-US" sz="3000" dirty="0"/>
          </a:p>
        </p:txBody>
      </p:sp>
      <p:sp>
        <p:nvSpPr>
          <p:cNvPr id="4" name="Text 2"/>
          <p:cNvSpPr/>
          <p:nvPr/>
        </p:nvSpPr>
        <p:spPr>
          <a:xfrm>
            <a:off x="640080" y="1691640"/>
            <a:ext cx="10881360" cy="1005840"/>
          </a:xfrm>
          <a:prstGeom prst="rect">
            <a:avLst/>
          </a:prstGeom>
          <a:noFill/>
          <a:ln/>
        </p:spPr>
        <p:txBody>
          <a:bodyPr wrap="square" rtlCol="0" anchor="ctr"/>
          <a:lstStyle/>
          <a:p>
            <a:pPr indent="0" marL="0">
              <a:lnSpc>
                <a:spcPct val="135000"/>
              </a:lnSpc>
              <a:buNone/>
            </a:pPr>
            <a:r>
              <a:rPr lang="en-US" sz="1500" dirty="0">
                <a:solidFill>
                  <a:srgbClr val="EEF1F8"/>
                </a:solidFill>
                <a:latin typeface="Calibri" pitchFamily="34" charset="0"/>
                <a:ea typeface="Calibri" pitchFamily="34" charset="-122"/>
                <a:cs typeface="Calibri" pitchFamily="34" charset="-120"/>
              </a:rPr>
              <a:t>Uma plataforma comercial criada para aproximar grandes construtoras de um público altamente qualificado. Durante quatro dias, reuniremos empreendimentos selecionados em um ambiente digital preparado para oferecer uma experiência completa de compra.</a:t>
            </a:r>
            <a:endParaRPr lang="en-US" sz="1500" dirty="0"/>
          </a:p>
        </p:txBody>
      </p:sp>
      <p:sp>
        <p:nvSpPr>
          <p:cNvPr id="5" name="Shape 3"/>
          <p:cNvSpPr/>
          <p:nvPr/>
        </p:nvSpPr>
        <p:spPr>
          <a:xfrm>
            <a:off x="640080" y="2971800"/>
            <a:ext cx="2606040" cy="1417320"/>
          </a:xfrm>
          <a:prstGeom prst="roundRect">
            <a:avLst>
              <a:gd name="adj" fmla="val 4516"/>
            </a:avLst>
          </a:prstGeom>
          <a:solidFill>
            <a:srgbClr val="16244F"/>
          </a:solidFill>
          <a:ln/>
        </p:spPr>
      </p:sp>
      <p:sp>
        <p:nvSpPr>
          <p:cNvPr id="6" name="Shape 4"/>
          <p:cNvSpPr/>
          <p:nvPr/>
        </p:nvSpPr>
        <p:spPr>
          <a:xfrm>
            <a:off x="841248" y="3191256"/>
            <a:ext cx="566928" cy="566928"/>
          </a:xfrm>
          <a:prstGeom prst="ellipse">
            <a:avLst/>
          </a:prstGeom>
          <a:solidFill>
            <a:srgbClr val="1E2C5C"/>
          </a:solidFill>
          <a:ln/>
        </p:spPr>
      </p:sp>
      <p:pic>
        <p:nvPicPr>
          <p:cNvPr id="7" name="Image 0" descr="preencoded.png">    </p:cNvPr>
          <p:cNvPicPr>
            <a:picLocks noChangeAspect="1"/>
          </p:cNvPicPr>
          <p:nvPr/>
        </p:nvPicPr>
        <p:blipFill>
          <a:blip r:embed="rId1"/>
          <a:stretch>
            <a:fillRect/>
          </a:stretch>
        </p:blipFill>
        <p:spPr>
          <a:xfrm>
            <a:off x="968807" y="3318815"/>
            <a:ext cx="311810" cy="311810"/>
          </a:xfrm>
          <a:prstGeom prst="rect">
            <a:avLst/>
          </a:prstGeom>
        </p:spPr>
      </p:pic>
      <p:sp>
        <p:nvSpPr>
          <p:cNvPr id="8" name="Text 5"/>
          <p:cNvSpPr/>
          <p:nvPr/>
        </p:nvSpPr>
        <p:spPr>
          <a:xfrm>
            <a:off x="804672" y="384048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Plataforma Online</a:t>
            </a:r>
            <a:endParaRPr lang="en-US" sz="1250" dirty="0"/>
          </a:p>
        </p:txBody>
      </p:sp>
      <p:sp>
        <p:nvSpPr>
          <p:cNvPr id="9" name="Shape 6"/>
          <p:cNvSpPr/>
          <p:nvPr/>
        </p:nvSpPr>
        <p:spPr>
          <a:xfrm>
            <a:off x="3474720" y="2971800"/>
            <a:ext cx="2606040" cy="1417320"/>
          </a:xfrm>
          <a:prstGeom prst="roundRect">
            <a:avLst>
              <a:gd name="adj" fmla="val 4516"/>
            </a:avLst>
          </a:prstGeom>
          <a:solidFill>
            <a:srgbClr val="16244F"/>
          </a:solidFill>
          <a:ln/>
        </p:spPr>
      </p:sp>
      <p:sp>
        <p:nvSpPr>
          <p:cNvPr id="10" name="Shape 7"/>
          <p:cNvSpPr/>
          <p:nvPr/>
        </p:nvSpPr>
        <p:spPr>
          <a:xfrm>
            <a:off x="3675888" y="3191256"/>
            <a:ext cx="566928" cy="566928"/>
          </a:xfrm>
          <a:prstGeom prst="ellipse">
            <a:avLst/>
          </a:prstGeom>
          <a:solidFill>
            <a:srgbClr val="1E2C5C"/>
          </a:solidFill>
          <a:ln/>
        </p:spPr>
      </p:sp>
      <p:pic>
        <p:nvPicPr>
          <p:cNvPr id="11" name="Image 1" descr="preencoded.png">    </p:cNvPr>
          <p:cNvPicPr>
            <a:picLocks noChangeAspect="1"/>
          </p:cNvPicPr>
          <p:nvPr/>
        </p:nvPicPr>
        <p:blipFill>
          <a:blip r:embed="rId2"/>
          <a:stretch>
            <a:fillRect/>
          </a:stretch>
        </p:blipFill>
        <p:spPr>
          <a:xfrm>
            <a:off x="3803447" y="3318815"/>
            <a:ext cx="311810" cy="311810"/>
          </a:xfrm>
          <a:prstGeom prst="rect">
            <a:avLst/>
          </a:prstGeom>
        </p:spPr>
      </p:pic>
      <p:sp>
        <p:nvSpPr>
          <p:cNvPr id="12" name="Text 8"/>
          <p:cNvSpPr/>
          <p:nvPr/>
        </p:nvSpPr>
        <p:spPr>
          <a:xfrm>
            <a:off x="3639312" y="384048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Atendimento Consultivo</a:t>
            </a:r>
            <a:endParaRPr lang="en-US" sz="1250" dirty="0"/>
          </a:p>
        </p:txBody>
      </p:sp>
      <p:sp>
        <p:nvSpPr>
          <p:cNvPr id="13" name="Shape 9"/>
          <p:cNvSpPr/>
          <p:nvPr/>
        </p:nvSpPr>
        <p:spPr>
          <a:xfrm>
            <a:off x="6309360" y="2971800"/>
            <a:ext cx="2606040" cy="1417320"/>
          </a:xfrm>
          <a:prstGeom prst="roundRect">
            <a:avLst>
              <a:gd name="adj" fmla="val 4516"/>
            </a:avLst>
          </a:prstGeom>
          <a:solidFill>
            <a:srgbClr val="16244F"/>
          </a:solidFill>
          <a:ln/>
        </p:spPr>
      </p:sp>
      <p:sp>
        <p:nvSpPr>
          <p:cNvPr id="14" name="Shape 10"/>
          <p:cNvSpPr/>
          <p:nvPr/>
        </p:nvSpPr>
        <p:spPr>
          <a:xfrm>
            <a:off x="6510528" y="3191256"/>
            <a:ext cx="566928" cy="566928"/>
          </a:xfrm>
          <a:prstGeom prst="ellipse">
            <a:avLst/>
          </a:prstGeom>
          <a:solidFill>
            <a:srgbClr val="1E2C5C"/>
          </a:solidFill>
          <a:ln/>
        </p:spPr>
      </p:sp>
      <p:pic>
        <p:nvPicPr>
          <p:cNvPr id="15" name="Image 2" descr="preencoded.png">    </p:cNvPr>
          <p:cNvPicPr>
            <a:picLocks noChangeAspect="1"/>
          </p:cNvPicPr>
          <p:nvPr/>
        </p:nvPicPr>
        <p:blipFill>
          <a:blip r:embed="rId3"/>
          <a:stretch>
            <a:fillRect/>
          </a:stretch>
        </p:blipFill>
        <p:spPr>
          <a:xfrm>
            <a:off x="6638087" y="3318815"/>
            <a:ext cx="311810" cy="311810"/>
          </a:xfrm>
          <a:prstGeom prst="rect">
            <a:avLst/>
          </a:prstGeom>
        </p:spPr>
      </p:pic>
      <p:sp>
        <p:nvSpPr>
          <p:cNvPr id="16" name="Text 11"/>
          <p:cNvSpPr/>
          <p:nvPr/>
        </p:nvSpPr>
        <p:spPr>
          <a:xfrm>
            <a:off x="6473952" y="384048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Equipe Comercial Especializada</a:t>
            </a:r>
            <a:endParaRPr lang="en-US" sz="1250" dirty="0"/>
          </a:p>
        </p:txBody>
      </p:sp>
      <p:sp>
        <p:nvSpPr>
          <p:cNvPr id="17" name="Shape 12"/>
          <p:cNvSpPr/>
          <p:nvPr/>
        </p:nvSpPr>
        <p:spPr>
          <a:xfrm>
            <a:off x="9144000" y="2971800"/>
            <a:ext cx="2606040" cy="1417320"/>
          </a:xfrm>
          <a:prstGeom prst="roundRect">
            <a:avLst>
              <a:gd name="adj" fmla="val 4516"/>
            </a:avLst>
          </a:prstGeom>
          <a:solidFill>
            <a:srgbClr val="16244F"/>
          </a:solidFill>
          <a:ln/>
        </p:spPr>
      </p:sp>
      <p:sp>
        <p:nvSpPr>
          <p:cNvPr id="18" name="Shape 13"/>
          <p:cNvSpPr/>
          <p:nvPr/>
        </p:nvSpPr>
        <p:spPr>
          <a:xfrm>
            <a:off x="9345168" y="3191256"/>
            <a:ext cx="566928" cy="566928"/>
          </a:xfrm>
          <a:prstGeom prst="ellipse">
            <a:avLst/>
          </a:prstGeom>
          <a:solidFill>
            <a:srgbClr val="1E2C5C"/>
          </a:solidFill>
          <a:ln/>
        </p:spPr>
      </p:sp>
      <p:pic>
        <p:nvPicPr>
          <p:cNvPr id="19" name="Image 3" descr="preencoded.png">    </p:cNvPr>
          <p:cNvPicPr>
            <a:picLocks noChangeAspect="1"/>
          </p:cNvPicPr>
          <p:nvPr/>
        </p:nvPicPr>
        <p:blipFill>
          <a:blip r:embed="rId4"/>
          <a:stretch>
            <a:fillRect/>
          </a:stretch>
        </p:blipFill>
        <p:spPr>
          <a:xfrm>
            <a:off x="9472727" y="3318815"/>
            <a:ext cx="311810" cy="311810"/>
          </a:xfrm>
          <a:prstGeom prst="rect">
            <a:avLst/>
          </a:prstGeom>
        </p:spPr>
      </p:pic>
      <p:sp>
        <p:nvSpPr>
          <p:cNvPr id="20" name="Text 14"/>
          <p:cNvSpPr/>
          <p:nvPr/>
        </p:nvSpPr>
        <p:spPr>
          <a:xfrm>
            <a:off x="9308592" y="384048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Marketing Digital</a:t>
            </a:r>
            <a:endParaRPr lang="en-US" sz="1250" dirty="0"/>
          </a:p>
        </p:txBody>
      </p:sp>
      <p:sp>
        <p:nvSpPr>
          <p:cNvPr id="21" name="Shape 15"/>
          <p:cNvSpPr/>
          <p:nvPr/>
        </p:nvSpPr>
        <p:spPr>
          <a:xfrm>
            <a:off x="640080" y="4663440"/>
            <a:ext cx="2606040" cy="1417320"/>
          </a:xfrm>
          <a:prstGeom prst="roundRect">
            <a:avLst>
              <a:gd name="adj" fmla="val 4516"/>
            </a:avLst>
          </a:prstGeom>
          <a:solidFill>
            <a:srgbClr val="16244F"/>
          </a:solidFill>
          <a:ln/>
        </p:spPr>
      </p:sp>
      <p:sp>
        <p:nvSpPr>
          <p:cNvPr id="22" name="Shape 16"/>
          <p:cNvSpPr/>
          <p:nvPr/>
        </p:nvSpPr>
        <p:spPr>
          <a:xfrm>
            <a:off x="841248" y="4882896"/>
            <a:ext cx="566928" cy="566928"/>
          </a:xfrm>
          <a:prstGeom prst="ellipse">
            <a:avLst/>
          </a:prstGeom>
          <a:solidFill>
            <a:srgbClr val="1E2C5C"/>
          </a:solidFill>
          <a:ln/>
        </p:spPr>
      </p:sp>
      <p:pic>
        <p:nvPicPr>
          <p:cNvPr id="23" name="Image 4" descr="preencoded.png">    </p:cNvPr>
          <p:cNvPicPr>
            <a:picLocks noChangeAspect="1"/>
          </p:cNvPicPr>
          <p:nvPr/>
        </p:nvPicPr>
        <p:blipFill>
          <a:blip r:embed="rId5"/>
          <a:stretch>
            <a:fillRect/>
          </a:stretch>
        </p:blipFill>
        <p:spPr>
          <a:xfrm>
            <a:off x="968807" y="5010455"/>
            <a:ext cx="311810" cy="311810"/>
          </a:xfrm>
          <a:prstGeom prst="rect">
            <a:avLst/>
          </a:prstGeom>
        </p:spPr>
      </p:pic>
      <p:sp>
        <p:nvSpPr>
          <p:cNvPr id="24" name="Text 17"/>
          <p:cNvSpPr/>
          <p:nvPr/>
        </p:nvSpPr>
        <p:spPr>
          <a:xfrm>
            <a:off x="804672" y="553212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Tecnologia da Informação</a:t>
            </a:r>
            <a:endParaRPr lang="en-US" sz="1250" dirty="0"/>
          </a:p>
        </p:txBody>
      </p:sp>
      <p:sp>
        <p:nvSpPr>
          <p:cNvPr id="25" name="Shape 18"/>
          <p:cNvSpPr/>
          <p:nvPr/>
        </p:nvSpPr>
        <p:spPr>
          <a:xfrm>
            <a:off x="3474720" y="4663440"/>
            <a:ext cx="2606040" cy="1417320"/>
          </a:xfrm>
          <a:prstGeom prst="roundRect">
            <a:avLst>
              <a:gd name="adj" fmla="val 4516"/>
            </a:avLst>
          </a:prstGeom>
          <a:solidFill>
            <a:srgbClr val="16244F"/>
          </a:solidFill>
          <a:ln/>
        </p:spPr>
      </p:sp>
      <p:sp>
        <p:nvSpPr>
          <p:cNvPr id="26" name="Shape 19"/>
          <p:cNvSpPr/>
          <p:nvPr/>
        </p:nvSpPr>
        <p:spPr>
          <a:xfrm>
            <a:off x="3675888" y="4882896"/>
            <a:ext cx="566928" cy="566928"/>
          </a:xfrm>
          <a:prstGeom prst="ellipse">
            <a:avLst/>
          </a:prstGeom>
          <a:solidFill>
            <a:srgbClr val="1E2C5C"/>
          </a:solidFill>
          <a:ln/>
        </p:spPr>
      </p:sp>
      <p:pic>
        <p:nvPicPr>
          <p:cNvPr id="27" name="Image 5" descr="preencoded.png">    </p:cNvPr>
          <p:cNvPicPr>
            <a:picLocks noChangeAspect="1"/>
          </p:cNvPicPr>
          <p:nvPr/>
        </p:nvPicPr>
        <p:blipFill>
          <a:blip r:embed="rId6"/>
          <a:stretch>
            <a:fillRect/>
          </a:stretch>
        </p:blipFill>
        <p:spPr>
          <a:xfrm>
            <a:off x="3803447" y="5010455"/>
            <a:ext cx="311810" cy="311810"/>
          </a:xfrm>
          <a:prstGeom prst="rect">
            <a:avLst/>
          </a:prstGeom>
        </p:spPr>
      </p:pic>
      <p:sp>
        <p:nvSpPr>
          <p:cNvPr id="28" name="Text 20"/>
          <p:cNvSpPr/>
          <p:nvPr/>
        </p:nvSpPr>
        <p:spPr>
          <a:xfrm>
            <a:off x="3639312" y="553212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Suporte Comercial</a:t>
            </a:r>
            <a:endParaRPr lang="en-US" sz="1250" dirty="0"/>
          </a:p>
        </p:txBody>
      </p:sp>
      <p:sp>
        <p:nvSpPr>
          <p:cNvPr id="29" name="Shape 21"/>
          <p:cNvSpPr/>
          <p:nvPr/>
        </p:nvSpPr>
        <p:spPr>
          <a:xfrm>
            <a:off x="6309360" y="4663440"/>
            <a:ext cx="2606040" cy="1417320"/>
          </a:xfrm>
          <a:prstGeom prst="roundRect">
            <a:avLst>
              <a:gd name="adj" fmla="val 4516"/>
            </a:avLst>
          </a:prstGeom>
          <a:solidFill>
            <a:srgbClr val="16244F"/>
          </a:solidFill>
          <a:ln/>
        </p:spPr>
      </p:sp>
      <p:sp>
        <p:nvSpPr>
          <p:cNvPr id="30" name="Shape 22"/>
          <p:cNvSpPr/>
          <p:nvPr/>
        </p:nvSpPr>
        <p:spPr>
          <a:xfrm>
            <a:off x="6510528" y="4882896"/>
            <a:ext cx="566928" cy="566928"/>
          </a:xfrm>
          <a:prstGeom prst="ellipse">
            <a:avLst/>
          </a:prstGeom>
          <a:solidFill>
            <a:srgbClr val="1E2C5C"/>
          </a:solidFill>
          <a:ln/>
        </p:spPr>
      </p:sp>
      <p:pic>
        <p:nvPicPr>
          <p:cNvPr id="31" name="Image 6" descr="preencoded.png">    </p:cNvPr>
          <p:cNvPicPr>
            <a:picLocks noChangeAspect="1"/>
          </p:cNvPicPr>
          <p:nvPr/>
        </p:nvPicPr>
        <p:blipFill>
          <a:blip r:embed="rId7"/>
          <a:stretch>
            <a:fillRect/>
          </a:stretch>
        </p:blipFill>
        <p:spPr>
          <a:xfrm>
            <a:off x="6638087" y="5010455"/>
            <a:ext cx="311810" cy="311810"/>
          </a:xfrm>
          <a:prstGeom prst="rect">
            <a:avLst/>
          </a:prstGeom>
        </p:spPr>
      </p:pic>
      <p:sp>
        <p:nvSpPr>
          <p:cNvPr id="32" name="Text 23"/>
          <p:cNvSpPr/>
          <p:nvPr/>
        </p:nvSpPr>
        <p:spPr>
          <a:xfrm>
            <a:off x="6473952" y="5532120"/>
            <a:ext cx="2276856" cy="5029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Acompanhamento das Negociações</a:t>
            </a:r>
            <a:endParaRPr lang="en-US" sz="1250" dirty="0"/>
          </a:p>
        </p:txBody>
      </p:sp>
      <p:sp>
        <p:nvSpPr>
          <p:cNvPr id="33" name="Text 24"/>
          <p:cNvSpPr/>
          <p:nvPr/>
        </p:nvSpPr>
        <p:spPr>
          <a:xfrm>
            <a:off x="8915400" y="2971800"/>
            <a:ext cx="2651760" cy="3108960"/>
          </a:xfrm>
          <a:prstGeom prst="rect">
            <a:avLst/>
          </a:prstGeom>
          <a:noFill/>
          <a:ln/>
        </p:spPr>
        <p:txBody>
          <a:bodyPr wrap="square" rtlCol="0" anchor="ctr"/>
          <a:lstStyle/>
          <a:p>
            <a:pPr indent="0" marL="0">
              <a:lnSpc>
                <a:spcPct val="130000"/>
              </a:lnSpc>
              <a:buNone/>
            </a:pPr>
            <a:r>
              <a:rPr lang="en-US" sz="1700" b="1" i="1" dirty="0">
                <a:solidFill>
                  <a:srgbClr val="E8C766"/>
                </a:solidFill>
                <a:latin typeface="Cambria" pitchFamily="34" charset="0"/>
                <a:ea typeface="Cambria" pitchFamily="34" charset="-122"/>
                <a:cs typeface="Cambria" pitchFamily="34" charset="-120"/>
              </a:rPr>
              <a:t>Objetivo: transformar interesse em vendas.</a:t>
            </a:r>
            <a:endParaRPr lang="en-US" sz="1700" dirty="0"/>
          </a:p>
        </p:txBody>
      </p:sp>
      <p:sp>
        <p:nvSpPr>
          <p:cNvPr id="34" name="Text 2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04</a:t>
            </a:r>
            <a:endParaRPr lang="en-US" sz="1000" dirty="0"/>
          </a:p>
        </p:txBody>
      </p:sp>
      <p:sp>
        <p:nvSpPr>
          <p:cNvPr id="35" name="Text 26"/>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PÚBLICO-ALVO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Por Que Escolhemos Esse Público?</a:t>
            </a:r>
            <a:endParaRPr lang="en-US" sz="3000" dirty="0"/>
          </a:p>
        </p:txBody>
      </p:sp>
      <p:sp>
        <p:nvSpPr>
          <p:cNvPr id="4" name="Shape 2"/>
          <p:cNvSpPr/>
          <p:nvPr/>
        </p:nvSpPr>
        <p:spPr>
          <a:xfrm>
            <a:off x="640080" y="1783080"/>
            <a:ext cx="5394960" cy="4160520"/>
          </a:xfrm>
          <a:prstGeom prst="roundRect">
            <a:avLst>
              <a:gd name="adj" fmla="val 1758"/>
            </a:avLst>
          </a:prstGeom>
          <a:solidFill>
            <a:srgbClr val="0F1B3D"/>
          </a:solidFill>
          <a:ln/>
          <a:effectLst>
            <a:outerShdw sx="100000" sy="100000" kx="0" ky="0" algn="bl" rotWithShape="0" blurRad="127000" dist="38100" dir="5400000">
              <a:srgbClr val="0F1B3D">
                <a:alpha val="12000"/>
              </a:srgbClr>
            </a:outerShdw>
          </a:effectLst>
        </p:spPr>
      </p:sp>
      <p:sp>
        <p:nvSpPr>
          <p:cNvPr id="5" name="Text 3"/>
          <p:cNvSpPr/>
          <p:nvPr/>
        </p:nvSpPr>
        <p:spPr>
          <a:xfrm>
            <a:off x="960120" y="2011680"/>
            <a:ext cx="475488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SEGMENTOS ATENDIDOS</a:t>
            </a:r>
            <a:endParaRPr lang="en-US" sz="1200" dirty="0"/>
          </a:p>
        </p:txBody>
      </p:sp>
      <p:sp>
        <p:nvSpPr>
          <p:cNvPr id="6" name="Shape 4"/>
          <p:cNvSpPr/>
          <p:nvPr/>
        </p:nvSpPr>
        <p:spPr>
          <a:xfrm>
            <a:off x="960120" y="2468880"/>
            <a:ext cx="2514600" cy="475488"/>
          </a:xfrm>
          <a:prstGeom prst="roundRect">
            <a:avLst>
              <a:gd name="adj" fmla="val 11538"/>
            </a:avLst>
          </a:prstGeom>
          <a:solidFill>
            <a:srgbClr val="16244F"/>
          </a:solidFill>
          <a:ln/>
        </p:spPr>
      </p:sp>
      <p:sp>
        <p:nvSpPr>
          <p:cNvPr id="7" name="Shape 5"/>
          <p:cNvSpPr/>
          <p:nvPr/>
        </p:nvSpPr>
        <p:spPr>
          <a:xfrm>
            <a:off x="1069848" y="2551176"/>
            <a:ext cx="310896" cy="310896"/>
          </a:xfrm>
          <a:prstGeom prst="ellipse">
            <a:avLst/>
          </a:prstGeom>
          <a:solidFill>
            <a:srgbClr val="C9A227"/>
          </a:solidFill>
          <a:ln/>
        </p:spPr>
      </p:sp>
      <p:pic>
        <p:nvPicPr>
          <p:cNvPr id="8" name="Image 0" descr="preencoded.png">    </p:cNvPr>
          <p:cNvPicPr>
            <a:picLocks noChangeAspect="1"/>
          </p:cNvPicPr>
          <p:nvPr/>
        </p:nvPicPr>
        <p:blipFill>
          <a:blip r:embed="rId1"/>
          <a:stretch>
            <a:fillRect/>
          </a:stretch>
        </p:blipFill>
        <p:spPr>
          <a:xfrm>
            <a:off x="1128918" y="2610246"/>
            <a:ext cx="192756" cy="192756"/>
          </a:xfrm>
          <a:prstGeom prst="rect">
            <a:avLst/>
          </a:prstGeom>
        </p:spPr>
      </p:pic>
      <p:sp>
        <p:nvSpPr>
          <p:cNvPr id="9" name="Text 6"/>
          <p:cNvSpPr/>
          <p:nvPr/>
        </p:nvSpPr>
        <p:spPr>
          <a:xfrm>
            <a:off x="1463040" y="2468880"/>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FAB</a:t>
            </a:r>
            <a:endParaRPr lang="en-US" sz="1250" dirty="0"/>
          </a:p>
        </p:txBody>
      </p:sp>
      <p:sp>
        <p:nvSpPr>
          <p:cNvPr id="10" name="Shape 7"/>
          <p:cNvSpPr/>
          <p:nvPr/>
        </p:nvSpPr>
        <p:spPr>
          <a:xfrm>
            <a:off x="3611880" y="2468880"/>
            <a:ext cx="2514600" cy="475488"/>
          </a:xfrm>
          <a:prstGeom prst="roundRect">
            <a:avLst>
              <a:gd name="adj" fmla="val 11538"/>
            </a:avLst>
          </a:prstGeom>
          <a:solidFill>
            <a:srgbClr val="16244F"/>
          </a:solidFill>
          <a:ln/>
        </p:spPr>
      </p:sp>
      <p:sp>
        <p:nvSpPr>
          <p:cNvPr id="11" name="Shape 8"/>
          <p:cNvSpPr/>
          <p:nvPr/>
        </p:nvSpPr>
        <p:spPr>
          <a:xfrm>
            <a:off x="3721608" y="2551176"/>
            <a:ext cx="310896" cy="310896"/>
          </a:xfrm>
          <a:prstGeom prst="ellipse">
            <a:avLst/>
          </a:prstGeom>
          <a:solidFill>
            <a:srgbClr val="C9A227"/>
          </a:solidFill>
          <a:ln/>
        </p:spPr>
      </p:sp>
      <p:pic>
        <p:nvPicPr>
          <p:cNvPr id="12" name="Image 1" descr="preencoded.png">    </p:cNvPr>
          <p:cNvPicPr>
            <a:picLocks noChangeAspect="1"/>
          </p:cNvPicPr>
          <p:nvPr/>
        </p:nvPicPr>
        <p:blipFill>
          <a:blip r:embed="rId2"/>
          <a:stretch>
            <a:fillRect/>
          </a:stretch>
        </p:blipFill>
        <p:spPr>
          <a:xfrm>
            <a:off x="3780678" y="2610246"/>
            <a:ext cx="192756" cy="192756"/>
          </a:xfrm>
          <a:prstGeom prst="rect">
            <a:avLst/>
          </a:prstGeom>
        </p:spPr>
      </p:pic>
      <p:sp>
        <p:nvSpPr>
          <p:cNvPr id="13" name="Text 9"/>
          <p:cNvSpPr/>
          <p:nvPr/>
        </p:nvSpPr>
        <p:spPr>
          <a:xfrm>
            <a:off x="4114800" y="2468880"/>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Marinha</a:t>
            </a:r>
            <a:endParaRPr lang="en-US" sz="1250" dirty="0"/>
          </a:p>
        </p:txBody>
      </p:sp>
      <p:sp>
        <p:nvSpPr>
          <p:cNvPr id="14" name="Shape 10"/>
          <p:cNvSpPr/>
          <p:nvPr/>
        </p:nvSpPr>
        <p:spPr>
          <a:xfrm>
            <a:off x="960120" y="3035808"/>
            <a:ext cx="2514600" cy="475488"/>
          </a:xfrm>
          <a:prstGeom prst="roundRect">
            <a:avLst>
              <a:gd name="adj" fmla="val 11538"/>
            </a:avLst>
          </a:prstGeom>
          <a:solidFill>
            <a:srgbClr val="16244F"/>
          </a:solidFill>
          <a:ln/>
        </p:spPr>
      </p:sp>
      <p:sp>
        <p:nvSpPr>
          <p:cNvPr id="15" name="Shape 11"/>
          <p:cNvSpPr/>
          <p:nvPr/>
        </p:nvSpPr>
        <p:spPr>
          <a:xfrm>
            <a:off x="1069848" y="3118104"/>
            <a:ext cx="310896" cy="310896"/>
          </a:xfrm>
          <a:prstGeom prst="ellipse">
            <a:avLst/>
          </a:prstGeom>
          <a:solidFill>
            <a:srgbClr val="C9A227"/>
          </a:solidFill>
          <a:ln/>
        </p:spPr>
      </p:sp>
      <p:pic>
        <p:nvPicPr>
          <p:cNvPr id="16" name="Image 2" descr="preencoded.png">    </p:cNvPr>
          <p:cNvPicPr>
            <a:picLocks noChangeAspect="1"/>
          </p:cNvPicPr>
          <p:nvPr/>
        </p:nvPicPr>
        <p:blipFill>
          <a:blip r:embed="rId3"/>
          <a:stretch>
            <a:fillRect/>
          </a:stretch>
        </p:blipFill>
        <p:spPr>
          <a:xfrm>
            <a:off x="1128918" y="3177174"/>
            <a:ext cx="192756" cy="192756"/>
          </a:xfrm>
          <a:prstGeom prst="rect">
            <a:avLst/>
          </a:prstGeom>
        </p:spPr>
      </p:pic>
      <p:sp>
        <p:nvSpPr>
          <p:cNvPr id="17" name="Text 12"/>
          <p:cNvSpPr/>
          <p:nvPr/>
        </p:nvSpPr>
        <p:spPr>
          <a:xfrm>
            <a:off x="1463040" y="3035808"/>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Exército</a:t>
            </a:r>
            <a:endParaRPr lang="en-US" sz="1250" dirty="0"/>
          </a:p>
        </p:txBody>
      </p:sp>
      <p:sp>
        <p:nvSpPr>
          <p:cNvPr id="18" name="Shape 13"/>
          <p:cNvSpPr/>
          <p:nvPr/>
        </p:nvSpPr>
        <p:spPr>
          <a:xfrm>
            <a:off x="3611880" y="3035808"/>
            <a:ext cx="2514600" cy="475488"/>
          </a:xfrm>
          <a:prstGeom prst="roundRect">
            <a:avLst>
              <a:gd name="adj" fmla="val 11538"/>
            </a:avLst>
          </a:prstGeom>
          <a:solidFill>
            <a:srgbClr val="16244F"/>
          </a:solidFill>
          <a:ln/>
        </p:spPr>
      </p:sp>
      <p:sp>
        <p:nvSpPr>
          <p:cNvPr id="19" name="Shape 14"/>
          <p:cNvSpPr/>
          <p:nvPr/>
        </p:nvSpPr>
        <p:spPr>
          <a:xfrm>
            <a:off x="3721608" y="3118104"/>
            <a:ext cx="310896" cy="310896"/>
          </a:xfrm>
          <a:prstGeom prst="ellipse">
            <a:avLst/>
          </a:prstGeom>
          <a:solidFill>
            <a:srgbClr val="C9A227"/>
          </a:solidFill>
          <a:ln/>
        </p:spPr>
      </p:sp>
      <p:pic>
        <p:nvPicPr>
          <p:cNvPr id="20" name="Image 3" descr="preencoded.png">    </p:cNvPr>
          <p:cNvPicPr>
            <a:picLocks noChangeAspect="1"/>
          </p:cNvPicPr>
          <p:nvPr/>
        </p:nvPicPr>
        <p:blipFill>
          <a:blip r:embed="rId4"/>
          <a:stretch>
            <a:fillRect/>
          </a:stretch>
        </p:blipFill>
        <p:spPr>
          <a:xfrm>
            <a:off x="3780678" y="3177174"/>
            <a:ext cx="192756" cy="192756"/>
          </a:xfrm>
          <a:prstGeom prst="rect">
            <a:avLst/>
          </a:prstGeom>
        </p:spPr>
      </p:pic>
      <p:sp>
        <p:nvSpPr>
          <p:cNvPr id="21" name="Text 15"/>
          <p:cNvSpPr/>
          <p:nvPr/>
        </p:nvSpPr>
        <p:spPr>
          <a:xfrm>
            <a:off x="4114800" y="3035808"/>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Polícia Militar</a:t>
            </a:r>
            <a:endParaRPr lang="en-US" sz="1250" dirty="0"/>
          </a:p>
        </p:txBody>
      </p:sp>
      <p:sp>
        <p:nvSpPr>
          <p:cNvPr id="22" name="Shape 16"/>
          <p:cNvSpPr/>
          <p:nvPr/>
        </p:nvSpPr>
        <p:spPr>
          <a:xfrm>
            <a:off x="960120" y="3602736"/>
            <a:ext cx="2514600" cy="475488"/>
          </a:xfrm>
          <a:prstGeom prst="roundRect">
            <a:avLst>
              <a:gd name="adj" fmla="val 11538"/>
            </a:avLst>
          </a:prstGeom>
          <a:solidFill>
            <a:srgbClr val="16244F"/>
          </a:solidFill>
          <a:ln/>
        </p:spPr>
      </p:sp>
      <p:sp>
        <p:nvSpPr>
          <p:cNvPr id="23" name="Shape 17"/>
          <p:cNvSpPr/>
          <p:nvPr/>
        </p:nvSpPr>
        <p:spPr>
          <a:xfrm>
            <a:off x="1069848" y="3685032"/>
            <a:ext cx="310896" cy="310896"/>
          </a:xfrm>
          <a:prstGeom prst="ellipse">
            <a:avLst/>
          </a:prstGeom>
          <a:solidFill>
            <a:srgbClr val="C9A227"/>
          </a:solidFill>
          <a:ln/>
        </p:spPr>
      </p:sp>
      <p:pic>
        <p:nvPicPr>
          <p:cNvPr id="24" name="Image 4" descr="preencoded.png">    </p:cNvPr>
          <p:cNvPicPr>
            <a:picLocks noChangeAspect="1"/>
          </p:cNvPicPr>
          <p:nvPr/>
        </p:nvPicPr>
        <p:blipFill>
          <a:blip r:embed="rId5"/>
          <a:stretch>
            <a:fillRect/>
          </a:stretch>
        </p:blipFill>
        <p:spPr>
          <a:xfrm>
            <a:off x="1128918" y="3744102"/>
            <a:ext cx="192756" cy="192756"/>
          </a:xfrm>
          <a:prstGeom prst="rect">
            <a:avLst/>
          </a:prstGeom>
        </p:spPr>
      </p:pic>
      <p:sp>
        <p:nvSpPr>
          <p:cNvPr id="25" name="Text 18"/>
          <p:cNvSpPr/>
          <p:nvPr/>
        </p:nvSpPr>
        <p:spPr>
          <a:xfrm>
            <a:off x="1463040" y="3602736"/>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Polícia Civil</a:t>
            </a:r>
            <a:endParaRPr lang="en-US" sz="1250" dirty="0"/>
          </a:p>
        </p:txBody>
      </p:sp>
      <p:sp>
        <p:nvSpPr>
          <p:cNvPr id="26" name="Shape 19"/>
          <p:cNvSpPr/>
          <p:nvPr/>
        </p:nvSpPr>
        <p:spPr>
          <a:xfrm>
            <a:off x="3611880" y="3602736"/>
            <a:ext cx="2514600" cy="475488"/>
          </a:xfrm>
          <a:prstGeom prst="roundRect">
            <a:avLst>
              <a:gd name="adj" fmla="val 11538"/>
            </a:avLst>
          </a:prstGeom>
          <a:solidFill>
            <a:srgbClr val="16244F"/>
          </a:solidFill>
          <a:ln/>
        </p:spPr>
      </p:sp>
      <p:sp>
        <p:nvSpPr>
          <p:cNvPr id="27" name="Shape 20"/>
          <p:cNvSpPr/>
          <p:nvPr/>
        </p:nvSpPr>
        <p:spPr>
          <a:xfrm>
            <a:off x="3721608" y="3685032"/>
            <a:ext cx="310896" cy="310896"/>
          </a:xfrm>
          <a:prstGeom prst="ellipse">
            <a:avLst/>
          </a:prstGeom>
          <a:solidFill>
            <a:srgbClr val="C9A227"/>
          </a:solidFill>
          <a:ln/>
        </p:spPr>
      </p:sp>
      <p:pic>
        <p:nvPicPr>
          <p:cNvPr id="28" name="Image 5" descr="preencoded.png">    </p:cNvPr>
          <p:cNvPicPr>
            <a:picLocks noChangeAspect="1"/>
          </p:cNvPicPr>
          <p:nvPr/>
        </p:nvPicPr>
        <p:blipFill>
          <a:blip r:embed="rId6"/>
          <a:stretch>
            <a:fillRect/>
          </a:stretch>
        </p:blipFill>
        <p:spPr>
          <a:xfrm>
            <a:off x="3780678" y="3744102"/>
            <a:ext cx="192756" cy="192756"/>
          </a:xfrm>
          <a:prstGeom prst="rect">
            <a:avLst/>
          </a:prstGeom>
        </p:spPr>
      </p:pic>
      <p:sp>
        <p:nvSpPr>
          <p:cNvPr id="29" name="Text 21"/>
          <p:cNvSpPr/>
          <p:nvPr/>
        </p:nvSpPr>
        <p:spPr>
          <a:xfrm>
            <a:off x="4114800" y="3602736"/>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Corpo de Bombeiros</a:t>
            </a:r>
            <a:endParaRPr lang="en-US" sz="1250" dirty="0"/>
          </a:p>
        </p:txBody>
      </p:sp>
      <p:sp>
        <p:nvSpPr>
          <p:cNvPr id="30" name="Shape 22"/>
          <p:cNvSpPr/>
          <p:nvPr/>
        </p:nvSpPr>
        <p:spPr>
          <a:xfrm>
            <a:off x="960120" y="4169664"/>
            <a:ext cx="2514600" cy="475488"/>
          </a:xfrm>
          <a:prstGeom prst="roundRect">
            <a:avLst>
              <a:gd name="adj" fmla="val 11538"/>
            </a:avLst>
          </a:prstGeom>
          <a:solidFill>
            <a:srgbClr val="16244F"/>
          </a:solidFill>
          <a:ln/>
        </p:spPr>
      </p:sp>
      <p:sp>
        <p:nvSpPr>
          <p:cNvPr id="31" name="Shape 23"/>
          <p:cNvSpPr/>
          <p:nvPr/>
        </p:nvSpPr>
        <p:spPr>
          <a:xfrm>
            <a:off x="1069848" y="4251960"/>
            <a:ext cx="310896" cy="310896"/>
          </a:xfrm>
          <a:prstGeom prst="ellipse">
            <a:avLst/>
          </a:prstGeom>
          <a:solidFill>
            <a:srgbClr val="C9A227"/>
          </a:solidFill>
          <a:ln/>
        </p:spPr>
      </p:sp>
      <p:pic>
        <p:nvPicPr>
          <p:cNvPr id="32" name="Image 6" descr="preencoded.png">    </p:cNvPr>
          <p:cNvPicPr>
            <a:picLocks noChangeAspect="1"/>
          </p:cNvPicPr>
          <p:nvPr/>
        </p:nvPicPr>
        <p:blipFill>
          <a:blip r:embed="rId7"/>
          <a:stretch>
            <a:fillRect/>
          </a:stretch>
        </p:blipFill>
        <p:spPr>
          <a:xfrm>
            <a:off x="1128918" y="4311030"/>
            <a:ext cx="192756" cy="192756"/>
          </a:xfrm>
          <a:prstGeom prst="rect">
            <a:avLst/>
          </a:prstGeom>
        </p:spPr>
      </p:pic>
      <p:sp>
        <p:nvSpPr>
          <p:cNvPr id="33" name="Text 24"/>
          <p:cNvSpPr/>
          <p:nvPr/>
        </p:nvSpPr>
        <p:spPr>
          <a:xfrm>
            <a:off x="1463040" y="4169664"/>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Servidores Federais</a:t>
            </a:r>
            <a:endParaRPr lang="en-US" sz="1250" dirty="0"/>
          </a:p>
        </p:txBody>
      </p:sp>
      <p:sp>
        <p:nvSpPr>
          <p:cNvPr id="34" name="Shape 25"/>
          <p:cNvSpPr/>
          <p:nvPr/>
        </p:nvSpPr>
        <p:spPr>
          <a:xfrm>
            <a:off x="3611880" y="4169664"/>
            <a:ext cx="2514600" cy="475488"/>
          </a:xfrm>
          <a:prstGeom prst="roundRect">
            <a:avLst>
              <a:gd name="adj" fmla="val 11538"/>
            </a:avLst>
          </a:prstGeom>
          <a:solidFill>
            <a:srgbClr val="16244F"/>
          </a:solidFill>
          <a:ln/>
        </p:spPr>
      </p:sp>
      <p:sp>
        <p:nvSpPr>
          <p:cNvPr id="35" name="Shape 26"/>
          <p:cNvSpPr/>
          <p:nvPr/>
        </p:nvSpPr>
        <p:spPr>
          <a:xfrm>
            <a:off x="3721608" y="4251960"/>
            <a:ext cx="310896" cy="310896"/>
          </a:xfrm>
          <a:prstGeom prst="ellipse">
            <a:avLst/>
          </a:prstGeom>
          <a:solidFill>
            <a:srgbClr val="C9A227"/>
          </a:solidFill>
          <a:ln/>
        </p:spPr>
      </p:sp>
      <p:pic>
        <p:nvPicPr>
          <p:cNvPr id="36" name="Image 7" descr="preencoded.png">    </p:cNvPr>
          <p:cNvPicPr>
            <a:picLocks noChangeAspect="1"/>
          </p:cNvPicPr>
          <p:nvPr/>
        </p:nvPicPr>
        <p:blipFill>
          <a:blip r:embed="rId8"/>
          <a:stretch>
            <a:fillRect/>
          </a:stretch>
        </p:blipFill>
        <p:spPr>
          <a:xfrm>
            <a:off x="3780678" y="4311030"/>
            <a:ext cx="192756" cy="192756"/>
          </a:xfrm>
          <a:prstGeom prst="rect">
            <a:avLst/>
          </a:prstGeom>
        </p:spPr>
      </p:pic>
      <p:sp>
        <p:nvSpPr>
          <p:cNvPr id="37" name="Text 27"/>
          <p:cNvSpPr/>
          <p:nvPr/>
        </p:nvSpPr>
        <p:spPr>
          <a:xfrm>
            <a:off x="4114800" y="4169664"/>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Servidores Estaduais</a:t>
            </a:r>
            <a:endParaRPr lang="en-US" sz="1250" dirty="0"/>
          </a:p>
        </p:txBody>
      </p:sp>
      <p:sp>
        <p:nvSpPr>
          <p:cNvPr id="38" name="Shape 28"/>
          <p:cNvSpPr/>
          <p:nvPr/>
        </p:nvSpPr>
        <p:spPr>
          <a:xfrm>
            <a:off x="960120" y="4736592"/>
            <a:ext cx="2514600" cy="475488"/>
          </a:xfrm>
          <a:prstGeom prst="roundRect">
            <a:avLst>
              <a:gd name="adj" fmla="val 11538"/>
            </a:avLst>
          </a:prstGeom>
          <a:solidFill>
            <a:srgbClr val="16244F"/>
          </a:solidFill>
          <a:ln/>
        </p:spPr>
      </p:sp>
      <p:sp>
        <p:nvSpPr>
          <p:cNvPr id="39" name="Shape 29"/>
          <p:cNvSpPr/>
          <p:nvPr/>
        </p:nvSpPr>
        <p:spPr>
          <a:xfrm>
            <a:off x="1069848" y="4818888"/>
            <a:ext cx="310896" cy="310896"/>
          </a:xfrm>
          <a:prstGeom prst="ellipse">
            <a:avLst/>
          </a:prstGeom>
          <a:solidFill>
            <a:srgbClr val="C9A227"/>
          </a:solidFill>
          <a:ln/>
        </p:spPr>
      </p:sp>
      <p:pic>
        <p:nvPicPr>
          <p:cNvPr id="40" name="Image 8" descr="preencoded.png">    </p:cNvPr>
          <p:cNvPicPr>
            <a:picLocks noChangeAspect="1"/>
          </p:cNvPicPr>
          <p:nvPr/>
        </p:nvPicPr>
        <p:blipFill>
          <a:blip r:embed="rId9"/>
          <a:stretch>
            <a:fillRect/>
          </a:stretch>
        </p:blipFill>
        <p:spPr>
          <a:xfrm>
            <a:off x="1128918" y="4877958"/>
            <a:ext cx="192756" cy="192756"/>
          </a:xfrm>
          <a:prstGeom prst="rect">
            <a:avLst/>
          </a:prstGeom>
        </p:spPr>
      </p:pic>
      <p:sp>
        <p:nvSpPr>
          <p:cNvPr id="41" name="Text 30"/>
          <p:cNvSpPr/>
          <p:nvPr/>
        </p:nvSpPr>
        <p:spPr>
          <a:xfrm>
            <a:off x="1463040" y="4736592"/>
            <a:ext cx="1965960" cy="47548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Servidores Municipais</a:t>
            </a:r>
            <a:endParaRPr lang="en-US" sz="1250" dirty="0"/>
          </a:p>
        </p:txBody>
      </p:sp>
      <p:sp>
        <p:nvSpPr>
          <p:cNvPr id="42" name="Text 31"/>
          <p:cNvSpPr/>
          <p:nvPr/>
        </p:nvSpPr>
        <p:spPr>
          <a:xfrm>
            <a:off x="6355080" y="178308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CARACTERÍSTICAS</a:t>
            </a:r>
            <a:endParaRPr lang="en-US" sz="1200" dirty="0"/>
          </a:p>
        </p:txBody>
      </p:sp>
      <p:sp>
        <p:nvSpPr>
          <p:cNvPr id="43" name="Shape 32"/>
          <p:cNvSpPr/>
          <p:nvPr/>
        </p:nvSpPr>
        <p:spPr>
          <a:xfrm>
            <a:off x="6355080" y="2194560"/>
            <a:ext cx="329184" cy="329184"/>
          </a:xfrm>
          <a:prstGeom prst="ellipse">
            <a:avLst/>
          </a:prstGeom>
          <a:solidFill>
            <a:srgbClr val="EEF1F8"/>
          </a:solidFill>
          <a:ln/>
        </p:spPr>
      </p:sp>
      <p:pic>
        <p:nvPicPr>
          <p:cNvPr id="44" name="Image 9" descr="preencoded.png">    </p:cNvPr>
          <p:cNvPicPr>
            <a:picLocks noChangeAspect="1"/>
          </p:cNvPicPr>
          <p:nvPr/>
        </p:nvPicPr>
        <p:blipFill>
          <a:blip r:embed="rId10"/>
          <a:stretch>
            <a:fillRect/>
          </a:stretch>
        </p:blipFill>
        <p:spPr>
          <a:xfrm>
            <a:off x="6420917" y="2260397"/>
            <a:ext cx="197510" cy="197510"/>
          </a:xfrm>
          <a:prstGeom prst="rect">
            <a:avLst/>
          </a:prstGeom>
        </p:spPr>
      </p:pic>
      <p:sp>
        <p:nvSpPr>
          <p:cNvPr id="45" name="Text 33"/>
          <p:cNvSpPr/>
          <p:nvPr/>
        </p:nvSpPr>
        <p:spPr>
          <a:xfrm>
            <a:off x="6812280" y="216712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Estabilidade profissional</a:t>
            </a:r>
            <a:endParaRPr lang="en-US" sz="1350" dirty="0"/>
          </a:p>
        </p:txBody>
      </p:sp>
      <p:sp>
        <p:nvSpPr>
          <p:cNvPr id="46" name="Shape 34"/>
          <p:cNvSpPr/>
          <p:nvPr/>
        </p:nvSpPr>
        <p:spPr>
          <a:xfrm>
            <a:off x="6355080" y="2697480"/>
            <a:ext cx="329184" cy="329184"/>
          </a:xfrm>
          <a:prstGeom prst="ellipse">
            <a:avLst/>
          </a:prstGeom>
          <a:solidFill>
            <a:srgbClr val="EEF1F8"/>
          </a:solidFill>
          <a:ln/>
        </p:spPr>
      </p:sp>
      <p:pic>
        <p:nvPicPr>
          <p:cNvPr id="47" name="Image 10" descr="preencoded.png">    </p:cNvPr>
          <p:cNvPicPr>
            <a:picLocks noChangeAspect="1"/>
          </p:cNvPicPr>
          <p:nvPr/>
        </p:nvPicPr>
        <p:blipFill>
          <a:blip r:embed="rId11"/>
          <a:stretch>
            <a:fillRect/>
          </a:stretch>
        </p:blipFill>
        <p:spPr>
          <a:xfrm>
            <a:off x="6420917" y="2763317"/>
            <a:ext cx="197510" cy="197510"/>
          </a:xfrm>
          <a:prstGeom prst="rect">
            <a:avLst/>
          </a:prstGeom>
        </p:spPr>
      </p:pic>
      <p:sp>
        <p:nvSpPr>
          <p:cNvPr id="48" name="Text 35"/>
          <p:cNvSpPr/>
          <p:nvPr/>
        </p:nvSpPr>
        <p:spPr>
          <a:xfrm>
            <a:off x="6812280" y="267004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Renda previsível</a:t>
            </a:r>
            <a:endParaRPr lang="en-US" sz="1350" dirty="0"/>
          </a:p>
        </p:txBody>
      </p:sp>
      <p:sp>
        <p:nvSpPr>
          <p:cNvPr id="49" name="Shape 36"/>
          <p:cNvSpPr/>
          <p:nvPr/>
        </p:nvSpPr>
        <p:spPr>
          <a:xfrm>
            <a:off x="6355080" y="3200400"/>
            <a:ext cx="329184" cy="329184"/>
          </a:xfrm>
          <a:prstGeom prst="ellipse">
            <a:avLst/>
          </a:prstGeom>
          <a:solidFill>
            <a:srgbClr val="EEF1F8"/>
          </a:solidFill>
          <a:ln/>
        </p:spPr>
      </p:sp>
      <p:pic>
        <p:nvPicPr>
          <p:cNvPr id="50" name="Image 11" descr="preencoded.png">    </p:cNvPr>
          <p:cNvPicPr>
            <a:picLocks noChangeAspect="1"/>
          </p:cNvPicPr>
          <p:nvPr/>
        </p:nvPicPr>
        <p:blipFill>
          <a:blip r:embed="rId12"/>
          <a:stretch>
            <a:fillRect/>
          </a:stretch>
        </p:blipFill>
        <p:spPr>
          <a:xfrm>
            <a:off x="6420917" y="3266237"/>
            <a:ext cx="197510" cy="197510"/>
          </a:xfrm>
          <a:prstGeom prst="rect">
            <a:avLst/>
          </a:prstGeom>
        </p:spPr>
      </p:pic>
      <p:sp>
        <p:nvSpPr>
          <p:cNvPr id="51" name="Text 37"/>
          <p:cNvSpPr/>
          <p:nvPr/>
        </p:nvSpPr>
        <p:spPr>
          <a:xfrm>
            <a:off x="6812280" y="317296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Facilidade de crédito</a:t>
            </a:r>
            <a:endParaRPr lang="en-US" sz="1350" dirty="0"/>
          </a:p>
        </p:txBody>
      </p:sp>
      <p:sp>
        <p:nvSpPr>
          <p:cNvPr id="52" name="Shape 38"/>
          <p:cNvSpPr/>
          <p:nvPr/>
        </p:nvSpPr>
        <p:spPr>
          <a:xfrm>
            <a:off x="6355080" y="3703320"/>
            <a:ext cx="329184" cy="329184"/>
          </a:xfrm>
          <a:prstGeom prst="ellipse">
            <a:avLst/>
          </a:prstGeom>
          <a:solidFill>
            <a:srgbClr val="EEF1F8"/>
          </a:solidFill>
          <a:ln/>
        </p:spPr>
      </p:sp>
      <p:pic>
        <p:nvPicPr>
          <p:cNvPr id="53" name="Image 12" descr="preencoded.png">    </p:cNvPr>
          <p:cNvPicPr>
            <a:picLocks noChangeAspect="1"/>
          </p:cNvPicPr>
          <p:nvPr/>
        </p:nvPicPr>
        <p:blipFill>
          <a:blip r:embed="rId13"/>
          <a:stretch>
            <a:fillRect/>
          </a:stretch>
        </p:blipFill>
        <p:spPr>
          <a:xfrm>
            <a:off x="6420917" y="3769157"/>
            <a:ext cx="197510" cy="197510"/>
          </a:xfrm>
          <a:prstGeom prst="rect">
            <a:avLst/>
          </a:prstGeom>
        </p:spPr>
      </p:pic>
      <p:sp>
        <p:nvSpPr>
          <p:cNvPr id="54" name="Text 39"/>
          <p:cNvSpPr/>
          <p:nvPr/>
        </p:nvSpPr>
        <p:spPr>
          <a:xfrm>
            <a:off x="6812280" y="367588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Alto índice de financiamento imobiliário</a:t>
            </a:r>
            <a:endParaRPr lang="en-US" sz="1350" dirty="0"/>
          </a:p>
        </p:txBody>
      </p:sp>
      <p:sp>
        <p:nvSpPr>
          <p:cNvPr id="55" name="Shape 40"/>
          <p:cNvSpPr/>
          <p:nvPr/>
        </p:nvSpPr>
        <p:spPr>
          <a:xfrm>
            <a:off x="6355080" y="4206240"/>
            <a:ext cx="329184" cy="329184"/>
          </a:xfrm>
          <a:prstGeom prst="ellipse">
            <a:avLst/>
          </a:prstGeom>
          <a:solidFill>
            <a:srgbClr val="EEF1F8"/>
          </a:solidFill>
          <a:ln/>
        </p:spPr>
      </p:sp>
      <p:pic>
        <p:nvPicPr>
          <p:cNvPr id="56" name="Image 13" descr="preencoded.png">    </p:cNvPr>
          <p:cNvPicPr>
            <a:picLocks noChangeAspect="1"/>
          </p:cNvPicPr>
          <p:nvPr/>
        </p:nvPicPr>
        <p:blipFill>
          <a:blip r:embed="rId14"/>
          <a:stretch>
            <a:fillRect/>
          </a:stretch>
        </p:blipFill>
        <p:spPr>
          <a:xfrm>
            <a:off x="6420917" y="4272077"/>
            <a:ext cx="197510" cy="197510"/>
          </a:xfrm>
          <a:prstGeom prst="rect">
            <a:avLst/>
          </a:prstGeom>
        </p:spPr>
      </p:pic>
      <p:sp>
        <p:nvSpPr>
          <p:cNvPr id="57" name="Text 41"/>
          <p:cNvSpPr/>
          <p:nvPr/>
        </p:nvSpPr>
        <p:spPr>
          <a:xfrm>
            <a:off x="6812280" y="417880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Forte capacidade de compra</a:t>
            </a:r>
            <a:endParaRPr lang="en-US" sz="1350" dirty="0"/>
          </a:p>
        </p:txBody>
      </p:sp>
      <p:sp>
        <p:nvSpPr>
          <p:cNvPr id="58" name="Shape 42"/>
          <p:cNvSpPr/>
          <p:nvPr/>
        </p:nvSpPr>
        <p:spPr>
          <a:xfrm>
            <a:off x="6355080" y="4709160"/>
            <a:ext cx="329184" cy="329184"/>
          </a:xfrm>
          <a:prstGeom prst="ellipse">
            <a:avLst/>
          </a:prstGeom>
          <a:solidFill>
            <a:srgbClr val="EEF1F8"/>
          </a:solidFill>
          <a:ln/>
        </p:spPr>
      </p:sp>
      <p:pic>
        <p:nvPicPr>
          <p:cNvPr id="59" name="Image 14" descr="preencoded.png">    </p:cNvPr>
          <p:cNvPicPr>
            <a:picLocks noChangeAspect="1"/>
          </p:cNvPicPr>
          <p:nvPr/>
        </p:nvPicPr>
        <p:blipFill>
          <a:blip r:embed="rId15"/>
          <a:stretch>
            <a:fillRect/>
          </a:stretch>
        </p:blipFill>
        <p:spPr>
          <a:xfrm>
            <a:off x="6420917" y="4774997"/>
            <a:ext cx="197510" cy="197510"/>
          </a:xfrm>
          <a:prstGeom prst="rect">
            <a:avLst/>
          </a:prstGeom>
        </p:spPr>
      </p:pic>
      <p:sp>
        <p:nvSpPr>
          <p:cNvPr id="60" name="Text 43"/>
          <p:cNvSpPr/>
          <p:nvPr/>
        </p:nvSpPr>
        <p:spPr>
          <a:xfrm>
            <a:off x="6812280" y="4681728"/>
            <a:ext cx="4663440" cy="384048"/>
          </a:xfrm>
          <a:prstGeom prst="rect">
            <a:avLst/>
          </a:prstGeom>
          <a:noFill/>
          <a:ln/>
        </p:spPr>
        <p:txBody>
          <a:bodyPr wrap="square" rtlCol="0" anchor="ctr"/>
          <a:lstStyle/>
          <a:p>
            <a:pPr indent="0" marL="0">
              <a:buNone/>
            </a:pPr>
            <a:r>
              <a:rPr lang="en-US" sz="1350" dirty="0">
                <a:solidFill>
                  <a:srgbClr val="1A2140"/>
                </a:solidFill>
                <a:latin typeface="Calibri" pitchFamily="34" charset="0"/>
                <a:ea typeface="Calibri" pitchFamily="34" charset="-122"/>
                <a:cs typeface="Calibri" pitchFamily="34" charset="-120"/>
              </a:rPr>
              <a:t>Grande interesse por imóveis novos</a:t>
            </a:r>
            <a:endParaRPr lang="en-US" sz="1350" dirty="0"/>
          </a:p>
        </p:txBody>
      </p:sp>
      <p:sp>
        <p:nvSpPr>
          <p:cNvPr id="61" name="Shape 44"/>
          <p:cNvSpPr/>
          <p:nvPr/>
        </p:nvSpPr>
        <p:spPr>
          <a:xfrm>
            <a:off x="6355080" y="5257800"/>
            <a:ext cx="5212080" cy="685800"/>
          </a:xfrm>
          <a:prstGeom prst="roundRect">
            <a:avLst>
              <a:gd name="adj" fmla="val 9333"/>
            </a:avLst>
          </a:prstGeom>
          <a:solidFill>
            <a:srgbClr val="EEF1F8"/>
          </a:solidFill>
          <a:ln/>
        </p:spPr>
      </p:sp>
      <p:sp>
        <p:nvSpPr>
          <p:cNvPr id="62" name="Text 45"/>
          <p:cNvSpPr/>
          <p:nvPr/>
        </p:nvSpPr>
        <p:spPr>
          <a:xfrm>
            <a:off x="6583680" y="5257800"/>
            <a:ext cx="4754880" cy="685800"/>
          </a:xfrm>
          <a:prstGeom prst="rect">
            <a:avLst/>
          </a:prstGeom>
          <a:noFill/>
          <a:ln/>
        </p:spPr>
        <p:txBody>
          <a:bodyPr wrap="square" rtlCol="0" anchor="ctr"/>
          <a:lstStyle/>
          <a:p>
            <a:pPr indent="0" marL="0">
              <a:buNone/>
            </a:pPr>
            <a:r>
              <a:rPr lang="en-US" sz="1250" b="1" i="1" dirty="0">
                <a:solidFill>
                  <a:srgbClr val="0F1B3D"/>
                </a:solidFill>
                <a:latin typeface="Calibri" pitchFamily="34" charset="0"/>
                <a:ea typeface="Calibri" pitchFamily="34" charset="-122"/>
                <a:cs typeface="Calibri" pitchFamily="34" charset="-120"/>
              </a:rPr>
              <a:t>Onde existe estabilidade financeira, existem excelentes oportunidades de negócios.</a:t>
            </a:r>
            <a:endParaRPr lang="en-US" sz="1250" dirty="0"/>
          </a:p>
        </p:txBody>
      </p:sp>
      <p:sp>
        <p:nvSpPr>
          <p:cNvPr id="63" name="Text 4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05</a:t>
            </a:r>
            <a:endParaRPr lang="en-US" sz="1000" dirty="0"/>
          </a:p>
        </p:txBody>
      </p:sp>
      <p:sp>
        <p:nvSpPr>
          <p:cNvPr id="64" name="Text 47"/>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MARKETING</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Estratégia de Divulgação</a:t>
            </a:r>
            <a:endParaRPr lang="en-US" sz="3000" dirty="0"/>
          </a:p>
        </p:txBody>
      </p:sp>
      <p:sp>
        <p:nvSpPr>
          <p:cNvPr id="4" name="Text 2"/>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5B6480"/>
                </a:solidFill>
                <a:latin typeface="Calibri" pitchFamily="34" charset="0"/>
                <a:ea typeface="Calibri" pitchFamily="34" charset="-122"/>
                <a:cs typeface="Calibri" pitchFamily="34" charset="-120"/>
              </a:rPr>
              <a:t>Uma campanha integrada, ativa por 30 dias, para gerar alcance e conversão.</a:t>
            </a:r>
            <a:endParaRPr lang="en-US" sz="1400" dirty="0"/>
          </a:p>
        </p:txBody>
      </p:sp>
      <p:sp>
        <p:nvSpPr>
          <p:cNvPr id="5" name="Shape 3"/>
          <p:cNvSpPr/>
          <p:nvPr/>
        </p:nvSpPr>
        <p:spPr>
          <a:xfrm>
            <a:off x="640080" y="2011680"/>
            <a:ext cx="1298448" cy="1234440"/>
          </a:xfrm>
          <a:prstGeom prst="roundRect">
            <a:avLst>
              <a:gd name="adj" fmla="val 5185"/>
            </a:avLst>
          </a:prstGeom>
          <a:solidFill>
            <a:srgbClr val="EEF1F8"/>
          </a:solidFill>
          <a:ln/>
        </p:spPr>
      </p:sp>
      <p:sp>
        <p:nvSpPr>
          <p:cNvPr id="6" name="Shape 4"/>
          <p:cNvSpPr/>
          <p:nvPr/>
        </p:nvSpPr>
        <p:spPr>
          <a:xfrm>
            <a:off x="1037844" y="2148840"/>
            <a:ext cx="502920" cy="50292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138428" y="2249424"/>
            <a:ext cx="301752" cy="301752"/>
          </a:xfrm>
          <a:prstGeom prst="rect">
            <a:avLst/>
          </a:prstGeom>
        </p:spPr>
      </p:pic>
      <p:sp>
        <p:nvSpPr>
          <p:cNvPr id="8" name="Text 5"/>
          <p:cNvSpPr/>
          <p:nvPr/>
        </p:nvSpPr>
        <p:spPr>
          <a:xfrm>
            <a:off x="685800"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Instagram</a:t>
            </a:r>
            <a:endParaRPr lang="en-US" sz="950" dirty="0"/>
          </a:p>
        </p:txBody>
      </p:sp>
      <p:sp>
        <p:nvSpPr>
          <p:cNvPr id="9" name="Shape 6"/>
          <p:cNvSpPr/>
          <p:nvPr/>
        </p:nvSpPr>
        <p:spPr>
          <a:xfrm>
            <a:off x="2075688" y="2011680"/>
            <a:ext cx="1298448" cy="1234440"/>
          </a:xfrm>
          <a:prstGeom prst="roundRect">
            <a:avLst>
              <a:gd name="adj" fmla="val 5185"/>
            </a:avLst>
          </a:prstGeom>
          <a:solidFill>
            <a:srgbClr val="EEF1F8"/>
          </a:solidFill>
          <a:ln/>
        </p:spPr>
      </p:sp>
      <p:sp>
        <p:nvSpPr>
          <p:cNvPr id="10" name="Shape 7"/>
          <p:cNvSpPr/>
          <p:nvPr/>
        </p:nvSpPr>
        <p:spPr>
          <a:xfrm>
            <a:off x="2473452" y="2148840"/>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2574036" y="2249424"/>
            <a:ext cx="301752" cy="301752"/>
          </a:xfrm>
          <a:prstGeom prst="rect">
            <a:avLst/>
          </a:prstGeom>
        </p:spPr>
      </p:pic>
      <p:sp>
        <p:nvSpPr>
          <p:cNvPr id="12" name="Text 8"/>
          <p:cNvSpPr/>
          <p:nvPr/>
        </p:nvSpPr>
        <p:spPr>
          <a:xfrm>
            <a:off x="2121408"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WhatsApp</a:t>
            </a:r>
            <a:endParaRPr lang="en-US" sz="950" dirty="0"/>
          </a:p>
        </p:txBody>
      </p:sp>
      <p:sp>
        <p:nvSpPr>
          <p:cNvPr id="13" name="Shape 9"/>
          <p:cNvSpPr/>
          <p:nvPr/>
        </p:nvSpPr>
        <p:spPr>
          <a:xfrm>
            <a:off x="3511296" y="2011680"/>
            <a:ext cx="1298448" cy="1234440"/>
          </a:xfrm>
          <a:prstGeom prst="roundRect">
            <a:avLst>
              <a:gd name="adj" fmla="val 5185"/>
            </a:avLst>
          </a:prstGeom>
          <a:solidFill>
            <a:srgbClr val="EEF1F8"/>
          </a:solidFill>
          <a:ln/>
        </p:spPr>
      </p:sp>
      <p:sp>
        <p:nvSpPr>
          <p:cNvPr id="14" name="Shape 10"/>
          <p:cNvSpPr/>
          <p:nvPr/>
        </p:nvSpPr>
        <p:spPr>
          <a:xfrm>
            <a:off x="3909060" y="2148840"/>
            <a:ext cx="502920" cy="502920"/>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4009644" y="2249424"/>
            <a:ext cx="301752" cy="301752"/>
          </a:xfrm>
          <a:prstGeom prst="rect">
            <a:avLst/>
          </a:prstGeom>
        </p:spPr>
      </p:pic>
      <p:sp>
        <p:nvSpPr>
          <p:cNvPr id="16" name="Text 11"/>
          <p:cNvSpPr/>
          <p:nvPr/>
        </p:nvSpPr>
        <p:spPr>
          <a:xfrm>
            <a:off x="3557016"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Campanhas Digitais</a:t>
            </a:r>
            <a:endParaRPr lang="en-US" sz="950" dirty="0"/>
          </a:p>
        </p:txBody>
      </p:sp>
      <p:sp>
        <p:nvSpPr>
          <p:cNvPr id="17" name="Shape 12"/>
          <p:cNvSpPr/>
          <p:nvPr/>
        </p:nvSpPr>
        <p:spPr>
          <a:xfrm>
            <a:off x="4946904" y="2011680"/>
            <a:ext cx="1298448" cy="1234440"/>
          </a:xfrm>
          <a:prstGeom prst="roundRect">
            <a:avLst>
              <a:gd name="adj" fmla="val 5185"/>
            </a:avLst>
          </a:prstGeom>
          <a:solidFill>
            <a:srgbClr val="EEF1F8"/>
          </a:solidFill>
          <a:ln/>
        </p:spPr>
      </p:sp>
      <p:sp>
        <p:nvSpPr>
          <p:cNvPr id="18" name="Shape 13"/>
          <p:cNvSpPr/>
          <p:nvPr/>
        </p:nvSpPr>
        <p:spPr>
          <a:xfrm>
            <a:off x="5344668" y="2148840"/>
            <a:ext cx="502920" cy="50292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5445252" y="2249424"/>
            <a:ext cx="301752" cy="301752"/>
          </a:xfrm>
          <a:prstGeom prst="rect">
            <a:avLst/>
          </a:prstGeom>
        </p:spPr>
      </p:pic>
      <p:sp>
        <p:nvSpPr>
          <p:cNvPr id="20" name="Text 14"/>
          <p:cNvSpPr/>
          <p:nvPr/>
        </p:nvSpPr>
        <p:spPr>
          <a:xfrm>
            <a:off x="4992624"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Pré-cadastro</a:t>
            </a:r>
            <a:endParaRPr lang="en-US" sz="950" dirty="0"/>
          </a:p>
        </p:txBody>
      </p:sp>
      <p:sp>
        <p:nvSpPr>
          <p:cNvPr id="21" name="Shape 15"/>
          <p:cNvSpPr/>
          <p:nvPr/>
        </p:nvSpPr>
        <p:spPr>
          <a:xfrm>
            <a:off x="6382512" y="2011680"/>
            <a:ext cx="1298448" cy="1234440"/>
          </a:xfrm>
          <a:prstGeom prst="roundRect">
            <a:avLst>
              <a:gd name="adj" fmla="val 5185"/>
            </a:avLst>
          </a:prstGeom>
          <a:solidFill>
            <a:srgbClr val="EEF1F8"/>
          </a:solidFill>
          <a:ln/>
        </p:spPr>
      </p:sp>
      <p:sp>
        <p:nvSpPr>
          <p:cNvPr id="22" name="Shape 16"/>
          <p:cNvSpPr/>
          <p:nvPr/>
        </p:nvSpPr>
        <p:spPr>
          <a:xfrm>
            <a:off x="6780276" y="2148840"/>
            <a:ext cx="502920" cy="502920"/>
          </a:xfrm>
          <a:prstGeom prst="ellipse">
            <a:avLst/>
          </a:prstGeom>
          <a:solidFill>
            <a:srgbClr val="FFFFFF"/>
          </a:solidFill>
          <a:ln/>
        </p:spPr>
      </p:sp>
      <p:pic>
        <p:nvPicPr>
          <p:cNvPr id="23" name="Image 4" descr="preencoded.png">    </p:cNvPr>
          <p:cNvPicPr>
            <a:picLocks noChangeAspect="1"/>
          </p:cNvPicPr>
          <p:nvPr/>
        </p:nvPicPr>
        <p:blipFill>
          <a:blip r:embed="rId5"/>
          <a:stretch>
            <a:fillRect/>
          </a:stretch>
        </p:blipFill>
        <p:spPr>
          <a:xfrm>
            <a:off x="6880860" y="2249424"/>
            <a:ext cx="301752" cy="301752"/>
          </a:xfrm>
          <a:prstGeom prst="rect">
            <a:avLst/>
          </a:prstGeom>
        </p:spPr>
      </p:pic>
      <p:sp>
        <p:nvSpPr>
          <p:cNvPr id="24" name="Text 17"/>
          <p:cNvSpPr/>
          <p:nvPr/>
        </p:nvSpPr>
        <p:spPr>
          <a:xfrm>
            <a:off x="6428232"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Landing Page</a:t>
            </a:r>
            <a:endParaRPr lang="en-US" sz="950" dirty="0"/>
          </a:p>
        </p:txBody>
      </p:sp>
      <p:sp>
        <p:nvSpPr>
          <p:cNvPr id="25" name="Shape 18"/>
          <p:cNvSpPr/>
          <p:nvPr/>
        </p:nvSpPr>
        <p:spPr>
          <a:xfrm>
            <a:off x="7818120" y="2011680"/>
            <a:ext cx="1298448" cy="1234440"/>
          </a:xfrm>
          <a:prstGeom prst="roundRect">
            <a:avLst>
              <a:gd name="adj" fmla="val 5185"/>
            </a:avLst>
          </a:prstGeom>
          <a:solidFill>
            <a:srgbClr val="EEF1F8"/>
          </a:solidFill>
          <a:ln/>
        </p:spPr>
      </p:sp>
      <p:sp>
        <p:nvSpPr>
          <p:cNvPr id="26" name="Shape 19"/>
          <p:cNvSpPr/>
          <p:nvPr/>
        </p:nvSpPr>
        <p:spPr>
          <a:xfrm>
            <a:off x="8215884" y="2148840"/>
            <a:ext cx="502920" cy="502920"/>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8316468" y="2249424"/>
            <a:ext cx="301752" cy="301752"/>
          </a:xfrm>
          <a:prstGeom prst="rect">
            <a:avLst/>
          </a:prstGeom>
        </p:spPr>
      </p:pic>
      <p:sp>
        <p:nvSpPr>
          <p:cNvPr id="28" name="Text 20"/>
          <p:cNvSpPr/>
          <p:nvPr/>
        </p:nvSpPr>
        <p:spPr>
          <a:xfrm>
            <a:off x="7863840"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Conteúdo Segmentado</a:t>
            </a:r>
            <a:endParaRPr lang="en-US" sz="950" dirty="0"/>
          </a:p>
        </p:txBody>
      </p:sp>
      <p:sp>
        <p:nvSpPr>
          <p:cNvPr id="29" name="Shape 21"/>
          <p:cNvSpPr/>
          <p:nvPr/>
        </p:nvSpPr>
        <p:spPr>
          <a:xfrm>
            <a:off x="9253728" y="2011680"/>
            <a:ext cx="1298448" cy="1234440"/>
          </a:xfrm>
          <a:prstGeom prst="roundRect">
            <a:avLst>
              <a:gd name="adj" fmla="val 5185"/>
            </a:avLst>
          </a:prstGeom>
          <a:solidFill>
            <a:srgbClr val="EEF1F8"/>
          </a:solidFill>
          <a:ln/>
        </p:spPr>
      </p:sp>
      <p:sp>
        <p:nvSpPr>
          <p:cNvPr id="30" name="Shape 22"/>
          <p:cNvSpPr/>
          <p:nvPr/>
        </p:nvSpPr>
        <p:spPr>
          <a:xfrm>
            <a:off x="9651492" y="2148840"/>
            <a:ext cx="502920" cy="502920"/>
          </a:xfrm>
          <a:prstGeom prst="ellipse">
            <a:avLst/>
          </a:prstGeom>
          <a:solidFill>
            <a:srgbClr val="FFFFFF"/>
          </a:solidFill>
          <a:ln/>
        </p:spPr>
      </p:sp>
      <p:pic>
        <p:nvPicPr>
          <p:cNvPr id="31" name="Image 6" descr="preencoded.png">    </p:cNvPr>
          <p:cNvPicPr>
            <a:picLocks noChangeAspect="1"/>
          </p:cNvPicPr>
          <p:nvPr/>
        </p:nvPicPr>
        <p:blipFill>
          <a:blip r:embed="rId7"/>
          <a:stretch>
            <a:fillRect/>
          </a:stretch>
        </p:blipFill>
        <p:spPr>
          <a:xfrm>
            <a:off x="9752076" y="2249424"/>
            <a:ext cx="301752" cy="301752"/>
          </a:xfrm>
          <a:prstGeom prst="rect">
            <a:avLst/>
          </a:prstGeom>
        </p:spPr>
      </p:pic>
      <p:sp>
        <p:nvSpPr>
          <p:cNvPr id="32" name="Text 23"/>
          <p:cNvSpPr/>
          <p:nvPr/>
        </p:nvSpPr>
        <p:spPr>
          <a:xfrm>
            <a:off x="9299448"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Remarketing</a:t>
            </a:r>
            <a:endParaRPr lang="en-US" sz="950" dirty="0"/>
          </a:p>
        </p:txBody>
      </p:sp>
      <p:sp>
        <p:nvSpPr>
          <p:cNvPr id="33" name="Shape 24"/>
          <p:cNvSpPr/>
          <p:nvPr/>
        </p:nvSpPr>
        <p:spPr>
          <a:xfrm>
            <a:off x="10689336" y="2011680"/>
            <a:ext cx="1298448" cy="1234440"/>
          </a:xfrm>
          <a:prstGeom prst="roundRect">
            <a:avLst>
              <a:gd name="adj" fmla="val 5185"/>
            </a:avLst>
          </a:prstGeom>
          <a:solidFill>
            <a:srgbClr val="EEF1F8"/>
          </a:solidFill>
          <a:ln/>
        </p:spPr>
      </p:sp>
      <p:sp>
        <p:nvSpPr>
          <p:cNvPr id="34" name="Shape 25"/>
          <p:cNvSpPr/>
          <p:nvPr/>
        </p:nvSpPr>
        <p:spPr>
          <a:xfrm>
            <a:off x="11087100" y="2148840"/>
            <a:ext cx="502920" cy="502920"/>
          </a:xfrm>
          <a:prstGeom prst="ellipse">
            <a:avLst/>
          </a:prstGeom>
          <a:solidFill>
            <a:srgbClr val="FFFFFF"/>
          </a:solidFill>
          <a:ln/>
        </p:spPr>
      </p:sp>
      <p:pic>
        <p:nvPicPr>
          <p:cNvPr id="35" name="Image 7" descr="preencoded.png">    </p:cNvPr>
          <p:cNvPicPr>
            <a:picLocks noChangeAspect="1"/>
          </p:cNvPicPr>
          <p:nvPr/>
        </p:nvPicPr>
        <p:blipFill>
          <a:blip r:embed="rId8"/>
          <a:stretch>
            <a:fillRect/>
          </a:stretch>
        </p:blipFill>
        <p:spPr>
          <a:xfrm>
            <a:off x="11187684" y="2249424"/>
            <a:ext cx="301752" cy="301752"/>
          </a:xfrm>
          <a:prstGeom prst="rect">
            <a:avLst/>
          </a:prstGeom>
        </p:spPr>
      </p:pic>
      <p:sp>
        <p:nvSpPr>
          <p:cNvPr id="36" name="Text 26"/>
          <p:cNvSpPr/>
          <p:nvPr/>
        </p:nvSpPr>
        <p:spPr>
          <a:xfrm>
            <a:off x="10735056" y="2697480"/>
            <a:ext cx="1207008" cy="502920"/>
          </a:xfrm>
          <a:prstGeom prst="rect">
            <a:avLst/>
          </a:prstGeom>
          <a:noFill/>
          <a:ln/>
        </p:spPr>
        <p:txBody>
          <a:bodyPr wrap="square" rtlCol="0" anchor="ctr"/>
          <a:lstStyle/>
          <a:p>
            <a:pPr algn="ctr" indent="0" marL="0">
              <a:lnSpc>
                <a:spcPct val="105000"/>
              </a:lnSpc>
              <a:buNone/>
            </a:pPr>
            <a:r>
              <a:rPr lang="en-US" sz="950" b="1" dirty="0">
                <a:solidFill>
                  <a:srgbClr val="0F1B3D"/>
                </a:solidFill>
                <a:latin typeface="Calibri" pitchFamily="34" charset="0"/>
                <a:ea typeface="Calibri" pitchFamily="34" charset="-122"/>
                <a:cs typeface="Calibri" pitchFamily="34" charset="-120"/>
              </a:rPr>
              <a:t>Atendimento Humanizado</a:t>
            </a:r>
            <a:endParaRPr lang="en-US" sz="950" dirty="0"/>
          </a:p>
        </p:txBody>
      </p:sp>
      <p:sp>
        <p:nvSpPr>
          <p:cNvPr id="37" name="Text 27"/>
          <p:cNvSpPr/>
          <p:nvPr/>
        </p:nvSpPr>
        <p:spPr>
          <a:xfrm>
            <a:off x="640080" y="37033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JORNADA DA CAMPANHA</a:t>
            </a:r>
            <a:endParaRPr lang="en-US" sz="1200" dirty="0"/>
          </a:p>
        </p:txBody>
      </p:sp>
      <p:sp>
        <p:nvSpPr>
          <p:cNvPr id="38" name="Shape 28"/>
          <p:cNvSpPr/>
          <p:nvPr/>
        </p:nvSpPr>
        <p:spPr>
          <a:xfrm>
            <a:off x="640080" y="4160520"/>
            <a:ext cx="1481328" cy="1371600"/>
          </a:xfrm>
          <a:prstGeom prst="roundRect">
            <a:avLst>
              <a:gd name="adj" fmla="val 5333"/>
            </a:avLst>
          </a:prstGeom>
          <a:solidFill>
            <a:srgbClr val="0F1B3D"/>
          </a:solidFill>
          <a:ln/>
        </p:spPr>
      </p:sp>
      <p:sp>
        <p:nvSpPr>
          <p:cNvPr id="39" name="Text 29"/>
          <p:cNvSpPr/>
          <p:nvPr/>
        </p:nvSpPr>
        <p:spPr>
          <a:xfrm>
            <a:off x="731520"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01</a:t>
            </a:r>
            <a:endParaRPr lang="en-US" sz="1300" dirty="0"/>
          </a:p>
        </p:txBody>
      </p:sp>
      <p:sp>
        <p:nvSpPr>
          <p:cNvPr id="40" name="Text 30"/>
          <p:cNvSpPr/>
          <p:nvPr/>
        </p:nvSpPr>
        <p:spPr>
          <a:xfrm>
            <a:off x="731520"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Campanha</a:t>
            </a:r>
            <a:endParaRPr lang="en-US" sz="1150" dirty="0"/>
          </a:p>
        </p:txBody>
      </p:sp>
      <p:sp>
        <p:nvSpPr>
          <p:cNvPr id="41" name="Shape 31"/>
          <p:cNvSpPr/>
          <p:nvPr/>
        </p:nvSpPr>
        <p:spPr>
          <a:xfrm>
            <a:off x="2135124" y="4791456"/>
            <a:ext cx="109728" cy="109728"/>
          </a:xfrm>
          <a:prstGeom prst="ellipse">
            <a:avLst/>
          </a:prstGeom>
          <a:solidFill>
            <a:srgbClr val="9AA3C0"/>
          </a:solidFill>
          <a:ln/>
        </p:spPr>
      </p:sp>
      <p:sp>
        <p:nvSpPr>
          <p:cNvPr id="42" name="Shape 32"/>
          <p:cNvSpPr/>
          <p:nvPr/>
        </p:nvSpPr>
        <p:spPr>
          <a:xfrm>
            <a:off x="2258568" y="4160520"/>
            <a:ext cx="1481328" cy="1371600"/>
          </a:xfrm>
          <a:prstGeom prst="roundRect">
            <a:avLst>
              <a:gd name="adj" fmla="val 5333"/>
            </a:avLst>
          </a:prstGeom>
          <a:solidFill>
            <a:srgbClr val="0F1B3D"/>
          </a:solidFill>
          <a:ln/>
        </p:spPr>
      </p:sp>
      <p:sp>
        <p:nvSpPr>
          <p:cNvPr id="43" name="Text 33"/>
          <p:cNvSpPr/>
          <p:nvPr/>
        </p:nvSpPr>
        <p:spPr>
          <a:xfrm>
            <a:off x="2350008"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02</a:t>
            </a:r>
            <a:endParaRPr lang="en-US" sz="1300" dirty="0"/>
          </a:p>
        </p:txBody>
      </p:sp>
      <p:sp>
        <p:nvSpPr>
          <p:cNvPr id="44" name="Text 34"/>
          <p:cNvSpPr/>
          <p:nvPr/>
        </p:nvSpPr>
        <p:spPr>
          <a:xfrm>
            <a:off x="2350008"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Pré-cadastro</a:t>
            </a:r>
            <a:endParaRPr lang="en-US" sz="1150" dirty="0"/>
          </a:p>
        </p:txBody>
      </p:sp>
      <p:sp>
        <p:nvSpPr>
          <p:cNvPr id="45" name="Shape 35"/>
          <p:cNvSpPr/>
          <p:nvPr/>
        </p:nvSpPr>
        <p:spPr>
          <a:xfrm>
            <a:off x="3753612" y="4791456"/>
            <a:ext cx="109728" cy="109728"/>
          </a:xfrm>
          <a:prstGeom prst="ellipse">
            <a:avLst/>
          </a:prstGeom>
          <a:solidFill>
            <a:srgbClr val="9AA3C0"/>
          </a:solidFill>
          <a:ln/>
        </p:spPr>
      </p:sp>
      <p:sp>
        <p:nvSpPr>
          <p:cNvPr id="46" name="Shape 36"/>
          <p:cNvSpPr/>
          <p:nvPr/>
        </p:nvSpPr>
        <p:spPr>
          <a:xfrm>
            <a:off x="3877056" y="4160520"/>
            <a:ext cx="1481328" cy="1371600"/>
          </a:xfrm>
          <a:prstGeom prst="roundRect">
            <a:avLst>
              <a:gd name="adj" fmla="val 5333"/>
            </a:avLst>
          </a:prstGeom>
          <a:solidFill>
            <a:srgbClr val="0F1B3D"/>
          </a:solidFill>
          <a:ln/>
        </p:spPr>
      </p:sp>
      <p:sp>
        <p:nvSpPr>
          <p:cNvPr id="47" name="Text 37"/>
          <p:cNvSpPr/>
          <p:nvPr/>
        </p:nvSpPr>
        <p:spPr>
          <a:xfrm>
            <a:off x="3968496"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03</a:t>
            </a:r>
            <a:endParaRPr lang="en-US" sz="1300" dirty="0"/>
          </a:p>
        </p:txBody>
      </p:sp>
      <p:sp>
        <p:nvSpPr>
          <p:cNvPr id="48" name="Text 38"/>
          <p:cNvSpPr/>
          <p:nvPr/>
        </p:nvSpPr>
        <p:spPr>
          <a:xfrm>
            <a:off x="3968496"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Qualificação</a:t>
            </a:r>
            <a:endParaRPr lang="en-US" sz="1150" dirty="0"/>
          </a:p>
        </p:txBody>
      </p:sp>
      <p:sp>
        <p:nvSpPr>
          <p:cNvPr id="49" name="Shape 39"/>
          <p:cNvSpPr/>
          <p:nvPr/>
        </p:nvSpPr>
        <p:spPr>
          <a:xfrm>
            <a:off x="5372100" y="4791456"/>
            <a:ext cx="109728" cy="109728"/>
          </a:xfrm>
          <a:prstGeom prst="ellipse">
            <a:avLst/>
          </a:prstGeom>
          <a:solidFill>
            <a:srgbClr val="9AA3C0"/>
          </a:solidFill>
          <a:ln/>
        </p:spPr>
      </p:sp>
      <p:sp>
        <p:nvSpPr>
          <p:cNvPr id="50" name="Shape 40"/>
          <p:cNvSpPr/>
          <p:nvPr/>
        </p:nvSpPr>
        <p:spPr>
          <a:xfrm>
            <a:off x="5495544" y="4160520"/>
            <a:ext cx="1481328" cy="1371600"/>
          </a:xfrm>
          <a:prstGeom prst="roundRect">
            <a:avLst>
              <a:gd name="adj" fmla="val 5333"/>
            </a:avLst>
          </a:prstGeom>
          <a:solidFill>
            <a:srgbClr val="0F1B3D"/>
          </a:solidFill>
          <a:ln/>
        </p:spPr>
      </p:sp>
      <p:sp>
        <p:nvSpPr>
          <p:cNvPr id="51" name="Text 41"/>
          <p:cNvSpPr/>
          <p:nvPr/>
        </p:nvSpPr>
        <p:spPr>
          <a:xfrm>
            <a:off x="5586984"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04</a:t>
            </a:r>
            <a:endParaRPr lang="en-US" sz="1300" dirty="0"/>
          </a:p>
        </p:txBody>
      </p:sp>
      <p:sp>
        <p:nvSpPr>
          <p:cNvPr id="52" name="Text 42"/>
          <p:cNvSpPr/>
          <p:nvPr/>
        </p:nvSpPr>
        <p:spPr>
          <a:xfrm>
            <a:off x="5586984"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Atendimento</a:t>
            </a:r>
            <a:endParaRPr lang="en-US" sz="1150" dirty="0"/>
          </a:p>
        </p:txBody>
      </p:sp>
      <p:sp>
        <p:nvSpPr>
          <p:cNvPr id="53" name="Shape 43"/>
          <p:cNvSpPr/>
          <p:nvPr/>
        </p:nvSpPr>
        <p:spPr>
          <a:xfrm>
            <a:off x="6990588" y="4791456"/>
            <a:ext cx="109728" cy="109728"/>
          </a:xfrm>
          <a:prstGeom prst="ellipse">
            <a:avLst/>
          </a:prstGeom>
          <a:solidFill>
            <a:srgbClr val="9AA3C0"/>
          </a:solidFill>
          <a:ln/>
        </p:spPr>
      </p:sp>
      <p:sp>
        <p:nvSpPr>
          <p:cNvPr id="54" name="Shape 44"/>
          <p:cNvSpPr/>
          <p:nvPr/>
        </p:nvSpPr>
        <p:spPr>
          <a:xfrm>
            <a:off x="7114032" y="4160520"/>
            <a:ext cx="1481328" cy="1371600"/>
          </a:xfrm>
          <a:prstGeom prst="roundRect">
            <a:avLst>
              <a:gd name="adj" fmla="val 5333"/>
            </a:avLst>
          </a:prstGeom>
          <a:solidFill>
            <a:srgbClr val="0F1B3D"/>
          </a:solidFill>
          <a:ln/>
        </p:spPr>
      </p:sp>
      <p:sp>
        <p:nvSpPr>
          <p:cNvPr id="55" name="Text 45"/>
          <p:cNvSpPr/>
          <p:nvPr/>
        </p:nvSpPr>
        <p:spPr>
          <a:xfrm>
            <a:off x="7205472"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05</a:t>
            </a:r>
            <a:endParaRPr lang="en-US" sz="1300" dirty="0"/>
          </a:p>
        </p:txBody>
      </p:sp>
      <p:sp>
        <p:nvSpPr>
          <p:cNvPr id="56" name="Text 46"/>
          <p:cNvSpPr/>
          <p:nvPr/>
        </p:nvSpPr>
        <p:spPr>
          <a:xfrm>
            <a:off x="7205472"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Apresentação</a:t>
            </a:r>
            <a:endParaRPr lang="en-US" sz="1150" dirty="0"/>
          </a:p>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do Imóvel</a:t>
            </a:r>
            <a:endParaRPr lang="en-US" sz="1150" dirty="0"/>
          </a:p>
        </p:txBody>
      </p:sp>
      <p:sp>
        <p:nvSpPr>
          <p:cNvPr id="57" name="Shape 47"/>
          <p:cNvSpPr/>
          <p:nvPr/>
        </p:nvSpPr>
        <p:spPr>
          <a:xfrm>
            <a:off x="8609076" y="4791456"/>
            <a:ext cx="109728" cy="109728"/>
          </a:xfrm>
          <a:prstGeom prst="ellipse">
            <a:avLst/>
          </a:prstGeom>
          <a:solidFill>
            <a:srgbClr val="9AA3C0"/>
          </a:solidFill>
          <a:ln/>
        </p:spPr>
      </p:sp>
      <p:sp>
        <p:nvSpPr>
          <p:cNvPr id="58" name="Shape 48"/>
          <p:cNvSpPr/>
          <p:nvPr/>
        </p:nvSpPr>
        <p:spPr>
          <a:xfrm>
            <a:off x="8732520" y="4160520"/>
            <a:ext cx="1481328" cy="1371600"/>
          </a:xfrm>
          <a:prstGeom prst="roundRect">
            <a:avLst>
              <a:gd name="adj" fmla="val 5333"/>
            </a:avLst>
          </a:prstGeom>
          <a:solidFill>
            <a:srgbClr val="0F1B3D"/>
          </a:solidFill>
          <a:ln/>
        </p:spPr>
      </p:sp>
      <p:sp>
        <p:nvSpPr>
          <p:cNvPr id="59" name="Text 49"/>
          <p:cNvSpPr/>
          <p:nvPr/>
        </p:nvSpPr>
        <p:spPr>
          <a:xfrm>
            <a:off x="8823960" y="4251960"/>
            <a:ext cx="1298448" cy="320040"/>
          </a:xfrm>
          <a:prstGeom prst="rect">
            <a:avLst/>
          </a:prstGeom>
          <a:noFill/>
          <a:ln/>
        </p:spPr>
        <p:txBody>
          <a:bodyPr wrap="square" rtlCol="0" anchor="ctr"/>
          <a:lstStyle/>
          <a:p>
            <a:pPr indent="0" marL="0">
              <a:buNone/>
            </a:pPr>
            <a:r>
              <a:rPr lang="en-US" sz="1300" b="1" dirty="0">
                <a:solidFill>
                  <a:srgbClr val="E8C766"/>
                </a:solidFill>
                <a:latin typeface="Cambria" pitchFamily="34" charset="0"/>
                <a:ea typeface="Cambria" pitchFamily="34" charset="-122"/>
                <a:cs typeface="Cambria" pitchFamily="34" charset="-120"/>
              </a:rPr>
              <a:t>06</a:t>
            </a:r>
            <a:endParaRPr lang="en-US" sz="1300" dirty="0"/>
          </a:p>
        </p:txBody>
      </p:sp>
      <p:sp>
        <p:nvSpPr>
          <p:cNvPr id="60" name="Text 50"/>
          <p:cNvSpPr/>
          <p:nvPr/>
        </p:nvSpPr>
        <p:spPr>
          <a:xfrm>
            <a:off x="8823960"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Negociação</a:t>
            </a:r>
            <a:endParaRPr lang="en-US" sz="1150" dirty="0"/>
          </a:p>
        </p:txBody>
      </p:sp>
      <p:sp>
        <p:nvSpPr>
          <p:cNvPr id="61" name="Shape 51"/>
          <p:cNvSpPr/>
          <p:nvPr/>
        </p:nvSpPr>
        <p:spPr>
          <a:xfrm>
            <a:off x="10227564" y="4791456"/>
            <a:ext cx="109728" cy="109728"/>
          </a:xfrm>
          <a:prstGeom prst="ellipse">
            <a:avLst/>
          </a:prstGeom>
          <a:solidFill>
            <a:srgbClr val="9AA3C0"/>
          </a:solidFill>
          <a:ln/>
        </p:spPr>
      </p:sp>
      <p:sp>
        <p:nvSpPr>
          <p:cNvPr id="62" name="Shape 52"/>
          <p:cNvSpPr/>
          <p:nvPr/>
        </p:nvSpPr>
        <p:spPr>
          <a:xfrm>
            <a:off x="10351008" y="4160520"/>
            <a:ext cx="1481328" cy="1371600"/>
          </a:xfrm>
          <a:prstGeom prst="roundRect">
            <a:avLst>
              <a:gd name="adj" fmla="val 5333"/>
            </a:avLst>
          </a:prstGeom>
          <a:solidFill>
            <a:srgbClr val="C9A227"/>
          </a:solidFill>
          <a:ln/>
        </p:spPr>
      </p:sp>
      <p:sp>
        <p:nvSpPr>
          <p:cNvPr id="63" name="Text 53"/>
          <p:cNvSpPr/>
          <p:nvPr/>
        </p:nvSpPr>
        <p:spPr>
          <a:xfrm>
            <a:off x="10442448" y="4251960"/>
            <a:ext cx="1298448" cy="320040"/>
          </a:xfrm>
          <a:prstGeom prst="rect">
            <a:avLst/>
          </a:prstGeom>
          <a:noFill/>
          <a:ln/>
        </p:spPr>
        <p:txBody>
          <a:bodyPr wrap="square" rtlCol="0" anchor="ctr"/>
          <a:lstStyle/>
          <a:p>
            <a:pPr indent="0" marL="0">
              <a:buNone/>
            </a:pPr>
            <a:r>
              <a:rPr lang="en-US" sz="1300" b="1" dirty="0">
                <a:solidFill>
                  <a:srgbClr val="0F1B3D"/>
                </a:solidFill>
                <a:latin typeface="Cambria" pitchFamily="34" charset="0"/>
                <a:ea typeface="Cambria" pitchFamily="34" charset="-122"/>
                <a:cs typeface="Cambria" pitchFamily="34" charset="-120"/>
              </a:rPr>
              <a:t>07</a:t>
            </a:r>
            <a:endParaRPr lang="en-US" sz="1300" dirty="0"/>
          </a:p>
        </p:txBody>
      </p:sp>
      <p:sp>
        <p:nvSpPr>
          <p:cNvPr id="64" name="Text 54"/>
          <p:cNvSpPr/>
          <p:nvPr/>
        </p:nvSpPr>
        <p:spPr>
          <a:xfrm>
            <a:off x="10442448" y="4617720"/>
            <a:ext cx="1298448" cy="822960"/>
          </a:xfrm>
          <a:prstGeom prst="rect">
            <a:avLst/>
          </a:prstGeom>
          <a:noFill/>
          <a:ln/>
        </p:spPr>
        <p:txBody>
          <a:bodyPr wrap="square" rtlCol="0" anchor="t"/>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Fechamento</a:t>
            </a:r>
            <a:endParaRPr lang="en-US" sz="1150" dirty="0"/>
          </a:p>
        </p:txBody>
      </p:sp>
      <p:sp>
        <p:nvSpPr>
          <p:cNvPr id="65" name="Text 5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06</a:t>
            </a:r>
            <a:endParaRPr lang="en-US" sz="1000" dirty="0"/>
          </a:p>
        </p:txBody>
      </p:sp>
      <p:sp>
        <p:nvSpPr>
          <p:cNvPr id="66" name="Text 56"/>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FLUXO OPERACIONAL</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Como Funciona o Feirão</a:t>
            </a:r>
            <a:endParaRPr lang="en-US" sz="3000" dirty="0"/>
          </a:p>
        </p:txBody>
      </p:sp>
      <p:sp>
        <p:nvSpPr>
          <p:cNvPr id="4" name="Shape 2"/>
          <p:cNvSpPr/>
          <p:nvPr/>
        </p:nvSpPr>
        <p:spPr>
          <a:xfrm>
            <a:off x="640080" y="1783080"/>
            <a:ext cx="2606040" cy="1600200"/>
          </a:xfrm>
          <a:prstGeom prst="roundRect">
            <a:avLst>
              <a:gd name="adj" fmla="val 4571"/>
            </a:avLst>
          </a:prstGeom>
          <a:solidFill>
            <a:srgbClr val="16244F"/>
          </a:solidFill>
          <a:ln/>
        </p:spPr>
      </p:sp>
      <p:sp>
        <p:nvSpPr>
          <p:cNvPr id="5" name="Text 3"/>
          <p:cNvSpPr/>
          <p:nvPr/>
        </p:nvSpPr>
        <p:spPr>
          <a:xfrm>
            <a:off x="822960" y="192024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1</a:t>
            </a:r>
            <a:endParaRPr lang="en-US" sz="1050" dirty="0"/>
          </a:p>
        </p:txBody>
      </p:sp>
      <p:sp>
        <p:nvSpPr>
          <p:cNvPr id="6" name="Shape 4"/>
          <p:cNvSpPr/>
          <p:nvPr/>
        </p:nvSpPr>
        <p:spPr>
          <a:xfrm>
            <a:off x="822960" y="2240280"/>
            <a:ext cx="502920" cy="502920"/>
          </a:xfrm>
          <a:prstGeom prst="ellipse">
            <a:avLst/>
          </a:prstGeom>
          <a:solidFill>
            <a:srgbClr val="1E2C5C"/>
          </a:solidFill>
          <a:ln/>
        </p:spPr>
      </p:sp>
      <p:pic>
        <p:nvPicPr>
          <p:cNvPr id="7" name="Image 0" descr="preencoded.png">    </p:cNvPr>
          <p:cNvPicPr>
            <a:picLocks noChangeAspect="1"/>
          </p:cNvPicPr>
          <p:nvPr/>
        </p:nvPicPr>
        <p:blipFill>
          <a:blip r:embed="rId1"/>
          <a:stretch>
            <a:fillRect/>
          </a:stretch>
        </p:blipFill>
        <p:spPr>
          <a:xfrm>
            <a:off x="936117" y="2353437"/>
            <a:ext cx="276606" cy="276606"/>
          </a:xfrm>
          <a:prstGeom prst="rect">
            <a:avLst/>
          </a:prstGeom>
        </p:spPr>
      </p:pic>
      <p:sp>
        <p:nvSpPr>
          <p:cNvPr id="8" name="Text 5"/>
          <p:cNvSpPr/>
          <p:nvPr/>
        </p:nvSpPr>
        <p:spPr>
          <a:xfrm>
            <a:off x="1463040" y="222199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Captação de Clientes</a:t>
            </a:r>
            <a:endParaRPr lang="en-US" sz="1250" dirty="0"/>
          </a:p>
        </p:txBody>
      </p:sp>
      <p:sp>
        <p:nvSpPr>
          <p:cNvPr id="9" name="Shape 6"/>
          <p:cNvSpPr/>
          <p:nvPr/>
        </p:nvSpPr>
        <p:spPr>
          <a:xfrm>
            <a:off x="3474720" y="1783080"/>
            <a:ext cx="2606040" cy="1600200"/>
          </a:xfrm>
          <a:prstGeom prst="roundRect">
            <a:avLst>
              <a:gd name="adj" fmla="val 4571"/>
            </a:avLst>
          </a:prstGeom>
          <a:solidFill>
            <a:srgbClr val="16244F"/>
          </a:solidFill>
          <a:ln/>
        </p:spPr>
      </p:sp>
      <p:sp>
        <p:nvSpPr>
          <p:cNvPr id="10" name="Text 7"/>
          <p:cNvSpPr/>
          <p:nvPr/>
        </p:nvSpPr>
        <p:spPr>
          <a:xfrm>
            <a:off x="3657600" y="192024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2</a:t>
            </a:r>
            <a:endParaRPr lang="en-US" sz="1050" dirty="0"/>
          </a:p>
        </p:txBody>
      </p:sp>
      <p:sp>
        <p:nvSpPr>
          <p:cNvPr id="11" name="Shape 8"/>
          <p:cNvSpPr/>
          <p:nvPr/>
        </p:nvSpPr>
        <p:spPr>
          <a:xfrm>
            <a:off x="3657600" y="2240280"/>
            <a:ext cx="502920" cy="502920"/>
          </a:xfrm>
          <a:prstGeom prst="ellipse">
            <a:avLst/>
          </a:prstGeom>
          <a:solidFill>
            <a:srgbClr val="1E2C5C"/>
          </a:solidFill>
          <a:ln/>
        </p:spPr>
      </p:sp>
      <p:pic>
        <p:nvPicPr>
          <p:cNvPr id="12" name="Image 1" descr="preencoded.png">    </p:cNvPr>
          <p:cNvPicPr>
            <a:picLocks noChangeAspect="1"/>
          </p:cNvPicPr>
          <p:nvPr/>
        </p:nvPicPr>
        <p:blipFill>
          <a:blip r:embed="rId2"/>
          <a:stretch>
            <a:fillRect/>
          </a:stretch>
        </p:blipFill>
        <p:spPr>
          <a:xfrm>
            <a:off x="3770757" y="2353437"/>
            <a:ext cx="276606" cy="276606"/>
          </a:xfrm>
          <a:prstGeom prst="rect">
            <a:avLst/>
          </a:prstGeom>
        </p:spPr>
      </p:pic>
      <p:sp>
        <p:nvSpPr>
          <p:cNvPr id="13" name="Text 9"/>
          <p:cNvSpPr/>
          <p:nvPr/>
        </p:nvSpPr>
        <p:spPr>
          <a:xfrm>
            <a:off x="4297680" y="222199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Pré-qualificação</a:t>
            </a:r>
            <a:endParaRPr lang="en-US" sz="1250" dirty="0"/>
          </a:p>
        </p:txBody>
      </p:sp>
      <p:sp>
        <p:nvSpPr>
          <p:cNvPr id="14" name="Shape 10"/>
          <p:cNvSpPr/>
          <p:nvPr/>
        </p:nvSpPr>
        <p:spPr>
          <a:xfrm>
            <a:off x="6309360" y="1783080"/>
            <a:ext cx="2606040" cy="1600200"/>
          </a:xfrm>
          <a:prstGeom prst="roundRect">
            <a:avLst>
              <a:gd name="adj" fmla="val 4571"/>
            </a:avLst>
          </a:prstGeom>
          <a:solidFill>
            <a:srgbClr val="16244F"/>
          </a:solidFill>
          <a:ln/>
        </p:spPr>
      </p:sp>
      <p:sp>
        <p:nvSpPr>
          <p:cNvPr id="15" name="Text 11"/>
          <p:cNvSpPr/>
          <p:nvPr/>
        </p:nvSpPr>
        <p:spPr>
          <a:xfrm>
            <a:off x="6492240" y="192024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3</a:t>
            </a:r>
            <a:endParaRPr lang="en-US" sz="1050" dirty="0"/>
          </a:p>
        </p:txBody>
      </p:sp>
      <p:sp>
        <p:nvSpPr>
          <p:cNvPr id="16" name="Shape 12"/>
          <p:cNvSpPr/>
          <p:nvPr/>
        </p:nvSpPr>
        <p:spPr>
          <a:xfrm>
            <a:off x="6492240" y="2240280"/>
            <a:ext cx="502920" cy="502920"/>
          </a:xfrm>
          <a:prstGeom prst="ellipse">
            <a:avLst/>
          </a:prstGeom>
          <a:solidFill>
            <a:srgbClr val="1E2C5C"/>
          </a:solidFill>
          <a:ln/>
        </p:spPr>
      </p:sp>
      <p:pic>
        <p:nvPicPr>
          <p:cNvPr id="17" name="Image 2" descr="preencoded.png">    </p:cNvPr>
          <p:cNvPicPr>
            <a:picLocks noChangeAspect="1"/>
          </p:cNvPicPr>
          <p:nvPr/>
        </p:nvPicPr>
        <p:blipFill>
          <a:blip r:embed="rId3"/>
          <a:stretch>
            <a:fillRect/>
          </a:stretch>
        </p:blipFill>
        <p:spPr>
          <a:xfrm>
            <a:off x="6605397" y="2353437"/>
            <a:ext cx="276606" cy="276606"/>
          </a:xfrm>
          <a:prstGeom prst="rect">
            <a:avLst/>
          </a:prstGeom>
        </p:spPr>
      </p:pic>
      <p:sp>
        <p:nvSpPr>
          <p:cNvPr id="18" name="Text 13"/>
          <p:cNvSpPr/>
          <p:nvPr/>
        </p:nvSpPr>
        <p:spPr>
          <a:xfrm>
            <a:off x="7132320" y="222199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Atendimento Especializado</a:t>
            </a:r>
            <a:endParaRPr lang="en-US" sz="1250" dirty="0"/>
          </a:p>
        </p:txBody>
      </p:sp>
      <p:sp>
        <p:nvSpPr>
          <p:cNvPr id="19" name="Shape 14"/>
          <p:cNvSpPr/>
          <p:nvPr/>
        </p:nvSpPr>
        <p:spPr>
          <a:xfrm>
            <a:off x="9144000" y="1783080"/>
            <a:ext cx="2606040" cy="1600200"/>
          </a:xfrm>
          <a:prstGeom prst="roundRect">
            <a:avLst>
              <a:gd name="adj" fmla="val 4571"/>
            </a:avLst>
          </a:prstGeom>
          <a:solidFill>
            <a:srgbClr val="16244F"/>
          </a:solidFill>
          <a:ln/>
        </p:spPr>
      </p:sp>
      <p:sp>
        <p:nvSpPr>
          <p:cNvPr id="20" name="Text 15"/>
          <p:cNvSpPr/>
          <p:nvPr/>
        </p:nvSpPr>
        <p:spPr>
          <a:xfrm>
            <a:off x="9326880" y="192024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4</a:t>
            </a:r>
            <a:endParaRPr lang="en-US" sz="1050" dirty="0"/>
          </a:p>
        </p:txBody>
      </p:sp>
      <p:sp>
        <p:nvSpPr>
          <p:cNvPr id="21" name="Shape 16"/>
          <p:cNvSpPr/>
          <p:nvPr/>
        </p:nvSpPr>
        <p:spPr>
          <a:xfrm>
            <a:off x="9326880" y="2240280"/>
            <a:ext cx="502920" cy="502920"/>
          </a:xfrm>
          <a:prstGeom prst="ellipse">
            <a:avLst/>
          </a:prstGeom>
          <a:solidFill>
            <a:srgbClr val="1E2C5C"/>
          </a:solidFill>
          <a:ln/>
        </p:spPr>
      </p:sp>
      <p:pic>
        <p:nvPicPr>
          <p:cNvPr id="22" name="Image 3" descr="preencoded.png">    </p:cNvPr>
          <p:cNvPicPr>
            <a:picLocks noChangeAspect="1"/>
          </p:cNvPicPr>
          <p:nvPr/>
        </p:nvPicPr>
        <p:blipFill>
          <a:blip r:embed="rId4"/>
          <a:stretch>
            <a:fillRect/>
          </a:stretch>
        </p:blipFill>
        <p:spPr>
          <a:xfrm>
            <a:off x="9440037" y="2353437"/>
            <a:ext cx="276606" cy="276606"/>
          </a:xfrm>
          <a:prstGeom prst="rect">
            <a:avLst/>
          </a:prstGeom>
        </p:spPr>
      </p:pic>
      <p:sp>
        <p:nvSpPr>
          <p:cNvPr id="23" name="Text 17"/>
          <p:cNvSpPr/>
          <p:nvPr/>
        </p:nvSpPr>
        <p:spPr>
          <a:xfrm>
            <a:off x="9966960" y="222199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Apresentação dos Empreendimentos</a:t>
            </a:r>
            <a:endParaRPr lang="en-US" sz="1250" dirty="0"/>
          </a:p>
        </p:txBody>
      </p:sp>
      <p:sp>
        <p:nvSpPr>
          <p:cNvPr id="24" name="Shape 18"/>
          <p:cNvSpPr/>
          <p:nvPr/>
        </p:nvSpPr>
        <p:spPr>
          <a:xfrm>
            <a:off x="640080" y="3703320"/>
            <a:ext cx="2606040" cy="1600200"/>
          </a:xfrm>
          <a:prstGeom prst="roundRect">
            <a:avLst>
              <a:gd name="adj" fmla="val 4571"/>
            </a:avLst>
          </a:prstGeom>
          <a:solidFill>
            <a:srgbClr val="16244F"/>
          </a:solidFill>
          <a:ln/>
        </p:spPr>
      </p:sp>
      <p:sp>
        <p:nvSpPr>
          <p:cNvPr id="25" name="Text 19"/>
          <p:cNvSpPr/>
          <p:nvPr/>
        </p:nvSpPr>
        <p:spPr>
          <a:xfrm>
            <a:off x="822960" y="384048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5</a:t>
            </a:r>
            <a:endParaRPr lang="en-US" sz="1050" dirty="0"/>
          </a:p>
        </p:txBody>
      </p:sp>
      <p:sp>
        <p:nvSpPr>
          <p:cNvPr id="26" name="Shape 20"/>
          <p:cNvSpPr/>
          <p:nvPr/>
        </p:nvSpPr>
        <p:spPr>
          <a:xfrm>
            <a:off x="822960" y="4160520"/>
            <a:ext cx="502920" cy="502920"/>
          </a:xfrm>
          <a:prstGeom prst="ellipse">
            <a:avLst/>
          </a:prstGeom>
          <a:solidFill>
            <a:srgbClr val="1E2C5C"/>
          </a:solidFill>
          <a:ln/>
        </p:spPr>
      </p:sp>
      <p:pic>
        <p:nvPicPr>
          <p:cNvPr id="27" name="Image 4" descr="preencoded.png">    </p:cNvPr>
          <p:cNvPicPr>
            <a:picLocks noChangeAspect="1"/>
          </p:cNvPicPr>
          <p:nvPr/>
        </p:nvPicPr>
        <p:blipFill>
          <a:blip r:embed="rId5"/>
          <a:stretch>
            <a:fillRect/>
          </a:stretch>
        </p:blipFill>
        <p:spPr>
          <a:xfrm>
            <a:off x="936117" y="4273677"/>
            <a:ext cx="276606" cy="276606"/>
          </a:xfrm>
          <a:prstGeom prst="rect">
            <a:avLst/>
          </a:prstGeom>
        </p:spPr>
      </p:pic>
      <p:sp>
        <p:nvSpPr>
          <p:cNvPr id="28" name="Text 21"/>
          <p:cNvSpPr/>
          <p:nvPr/>
        </p:nvSpPr>
        <p:spPr>
          <a:xfrm>
            <a:off x="1463040" y="414223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Simulação Financeira</a:t>
            </a:r>
            <a:endParaRPr lang="en-US" sz="1250" dirty="0"/>
          </a:p>
        </p:txBody>
      </p:sp>
      <p:sp>
        <p:nvSpPr>
          <p:cNvPr id="29" name="Shape 22"/>
          <p:cNvSpPr/>
          <p:nvPr/>
        </p:nvSpPr>
        <p:spPr>
          <a:xfrm>
            <a:off x="3474720" y="3703320"/>
            <a:ext cx="2606040" cy="1600200"/>
          </a:xfrm>
          <a:prstGeom prst="roundRect">
            <a:avLst>
              <a:gd name="adj" fmla="val 4571"/>
            </a:avLst>
          </a:prstGeom>
          <a:solidFill>
            <a:srgbClr val="16244F"/>
          </a:solidFill>
          <a:ln/>
        </p:spPr>
      </p:sp>
      <p:sp>
        <p:nvSpPr>
          <p:cNvPr id="30" name="Text 23"/>
          <p:cNvSpPr/>
          <p:nvPr/>
        </p:nvSpPr>
        <p:spPr>
          <a:xfrm>
            <a:off x="3657600" y="3840480"/>
            <a:ext cx="224028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ETAPA 6</a:t>
            </a:r>
            <a:endParaRPr lang="en-US" sz="1050" dirty="0"/>
          </a:p>
        </p:txBody>
      </p:sp>
      <p:sp>
        <p:nvSpPr>
          <p:cNvPr id="31" name="Shape 24"/>
          <p:cNvSpPr/>
          <p:nvPr/>
        </p:nvSpPr>
        <p:spPr>
          <a:xfrm>
            <a:off x="3657600" y="4160520"/>
            <a:ext cx="502920" cy="502920"/>
          </a:xfrm>
          <a:prstGeom prst="ellipse">
            <a:avLst/>
          </a:prstGeom>
          <a:solidFill>
            <a:srgbClr val="1E2C5C"/>
          </a:solidFill>
          <a:ln/>
        </p:spPr>
      </p:sp>
      <p:pic>
        <p:nvPicPr>
          <p:cNvPr id="32" name="Image 5" descr="preencoded.png">    </p:cNvPr>
          <p:cNvPicPr>
            <a:picLocks noChangeAspect="1"/>
          </p:cNvPicPr>
          <p:nvPr/>
        </p:nvPicPr>
        <p:blipFill>
          <a:blip r:embed="rId6"/>
          <a:stretch>
            <a:fillRect/>
          </a:stretch>
        </p:blipFill>
        <p:spPr>
          <a:xfrm>
            <a:off x="3770757" y="4273677"/>
            <a:ext cx="276606" cy="276606"/>
          </a:xfrm>
          <a:prstGeom prst="rect">
            <a:avLst/>
          </a:prstGeom>
        </p:spPr>
      </p:pic>
      <p:sp>
        <p:nvSpPr>
          <p:cNvPr id="33" name="Text 25"/>
          <p:cNvSpPr/>
          <p:nvPr/>
        </p:nvSpPr>
        <p:spPr>
          <a:xfrm>
            <a:off x="4297680" y="4142232"/>
            <a:ext cx="160020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Encaminhamento à Construtora</a:t>
            </a:r>
            <a:endParaRPr lang="en-US" sz="1250" dirty="0"/>
          </a:p>
        </p:txBody>
      </p:sp>
      <p:sp>
        <p:nvSpPr>
          <p:cNvPr id="34" name="Shape 26"/>
          <p:cNvSpPr/>
          <p:nvPr/>
        </p:nvSpPr>
        <p:spPr>
          <a:xfrm>
            <a:off x="6309360" y="3703320"/>
            <a:ext cx="2606040" cy="1600200"/>
          </a:xfrm>
          <a:prstGeom prst="roundRect">
            <a:avLst>
              <a:gd name="adj" fmla="val 4571"/>
            </a:avLst>
          </a:prstGeom>
          <a:solidFill>
            <a:srgbClr val="C9A227"/>
          </a:solidFill>
          <a:ln/>
        </p:spPr>
      </p:sp>
      <p:sp>
        <p:nvSpPr>
          <p:cNvPr id="35" name="Text 27"/>
          <p:cNvSpPr/>
          <p:nvPr/>
        </p:nvSpPr>
        <p:spPr>
          <a:xfrm>
            <a:off x="6492240" y="3840480"/>
            <a:ext cx="2240280" cy="274320"/>
          </a:xfrm>
          <a:prstGeom prst="rect">
            <a:avLst/>
          </a:prstGeom>
          <a:noFill/>
          <a:ln/>
        </p:spPr>
        <p:txBody>
          <a:bodyPr wrap="square" rtlCol="0" anchor="ctr"/>
          <a:lstStyle/>
          <a:p>
            <a:pPr indent="0" marL="0">
              <a:buNone/>
            </a:pPr>
            <a:r>
              <a:rPr lang="en-US" sz="1050" b="1" spc="150" kern="0" dirty="0">
                <a:solidFill>
                  <a:srgbClr val="0F1B3D"/>
                </a:solidFill>
                <a:latin typeface="Calibri" pitchFamily="34" charset="0"/>
                <a:ea typeface="Calibri" pitchFamily="34" charset="-122"/>
                <a:cs typeface="Calibri" pitchFamily="34" charset="-120"/>
              </a:rPr>
              <a:t>ETAPA 7</a:t>
            </a:r>
            <a:endParaRPr lang="en-US" sz="1050" dirty="0"/>
          </a:p>
        </p:txBody>
      </p:sp>
      <p:sp>
        <p:nvSpPr>
          <p:cNvPr id="36" name="Shape 28"/>
          <p:cNvSpPr/>
          <p:nvPr/>
        </p:nvSpPr>
        <p:spPr>
          <a:xfrm>
            <a:off x="6492240" y="4160520"/>
            <a:ext cx="502920" cy="502920"/>
          </a:xfrm>
          <a:prstGeom prst="ellipse">
            <a:avLst/>
          </a:prstGeom>
          <a:solidFill>
            <a:srgbClr val="FFFFFF"/>
          </a:solidFill>
          <a:ln/>
        </p:spPr>
      </p:sp>
      <p:pic>
        <p:nvPicPr>
          <p:cNvPr id="37" name="Image 6" descr="preencoded.png">    </p:cNvPr>
          <p:cNvPicPr>
            <a:picLocks noChangeAspect="1"/>
          </p:cNvPicPr>
          <p:nvPr/>
        </p:nvPicPr>
        <p:blipFill>
          <a:blip r:embed="rId7"/>
          <a:stretch>
            <a:fillRect/>
          </a:stretch>
        </p:blipFill>
        <p:spPr>
          <a:xfrm>
            <a:off x="6605397" y="4273677"/>
            <a:ext cx="276606" cy="276606"/>
          </a:xfrm>
          <a:prstGeom prst="rect">
            <a:avLst/>
          </a:prstGeom>
        </p:spPr>
      </p:pic>
      <p:sp>
        <p:nvSpPr>
          <p:cNvPr id="38" name="Text 29"/>
          <p:cNvSpPr/>
          <p:nvPr/>
        </p:nvSpPr>
        <p:spPr>
          <a:xfrm>
            <a:off x="7132320" y="4142232"/>
            <a:ext cx="1600200" cy="960120"/>
          </a:xfrm>
          <a:prstGeom prst="rect">
            <a:avLst/>
          </a:prstGeom>
          <a:noFill/>
          <a:ln/>
        </p:spPr>
        <p:txBody>
          <a:bodyPr wrap="square" rtlCol="0" anchor="ctr"/>
          <a:lstStyle/>
          <a:p>
            <a:pPr indent="0" marL="0">
              <a:lnSpc>
                <a:spcPct val="110000"/>
              </a:lnSpc>
              <a:buNone/>
            </a:pPr>
            <a:r>
              <a:rPr lang="en-US" sz="1250" b="1" dirty="0">
                <a:solidFill>
                  <a:srgbClr val="0F1B3D"/>
                </a:solidFill>
                <a:latin typeface="Calibri" pitchFamily="34" charset="0"/>
                <a:ea typeface="Calibri" pitchFamily="34" charset="-122"/>
                <a:cs typeface="Calibri" pitchFamily="34" charset="-120"/>
              </a:rPr>
              <a:t>Conclusão da Venda</a:t>
            </a:r>
            <a:endParaRPr lang="en-US" sz="1250" dirty="0"/>
          </a:p>
        </p:txBody>
      </p:sp>
      <p:sp>
        <p:nvSpPr>
          <p:cNvPr id="39" name="Text 30"/>
          <p:cNvSpPr/>
          <p:nvPr/>
        </p:nvSpPr>
        <p:spPr>
          <a:xfrm>
            <a:off x="640080" y="5669280"/>
            <a:ext cx="10881360" cy="365760"/>
          </a:xfrm>
          <a:prstGeom prst="rect">
            <a:avLst/>
          </a:prstGeom>
          <a:noFill/>
          <a:ln/>
        </p:spPr>
        <p:txBody>
          <a:bodyPr wrap="square" rtlCol="0" anchor="ctr"/>
          <a:lstStyle/>
          <a:p>
            <a:pPr indent="0" marL="0">
              <a:buNone/>
            </a:pPr>
            <a:r>
              <a:rPr lang="en-US" sz="1300" i="1" dirty="0">
                <a:solidFill>
                  <a:srgbClr val="E8C766"/>
                </a:solidFill>
                <a:latin typeface="Calibri" pitchFamily="34" charset="0"/>
                <a:ea typeface="Calibri" pitchFamily="34" charset="-122"/>
                <a:cs typeface="Calibri" pitchFamily="34" charset="-120"/>
              </a:rPr>
              <a:t>Toda a jornada é acompanhada, em tempo real, pela equipe WAL Imóveis.</a:t>
            </a:r>
            <a:endParaRPr lang="en-US" sz="1300" dirty="0"/>
          </a:p>
        </p:txBody>
      </p:sp>
      <p:sp>
        <p:nvSpPr>
          <p:cNvPr id="40" name="Text 3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07</a:t>
            </a:r>
            <a:endParaRPr lang="en-US" sz="1000" dirty="0"/>
          </a:p>
        </p:txBody>
      </p:sp>
      <p:sp>
        <p:nvSpPr>
          <p:cNvPr id="41" name="Text 32"/>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RETAGUARDA DO EVENTO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Estrutura Operacional</a:t>
            </a:r>
            <a:endParaRPr lang="en-US" sz="3000" dirty="0"/>
          </a:p>
        </p:txBody>
      </p:sp>
      <p:sp>
        <p:nvSpPr>
          <p:cNvPr id="4" name="Text 2"/>
          <p:cNvSpPr/>
          <p:nvPr/>
        </p:nvSpPr>
        <p:spPr>
          <a:xfrm>
            <a:off x="640080" y="1417320"/>
            <a:ext cx="10515600" cy="365760"/>
          </a:xfrm>
          <a:prstGeom prst="rect">
            <a:avLst/>
          </a:prstGeom>
          <a:noFill/>
          <a:ln/>
        </p:spPr>
        <p:txBody>
          <a:bodyPr wrap="square" rtlCol="0" anchor="ctr"/>
          <a:lstStyle/>
          <a:p>
            <a:pPr indent="0" marL="0">
              <a:buNone/>
            </a:pPr>
            <a:r>
              <a:rPr lang="en-US" sz="1400" i="1" dirty="0">
                <a:solidFill>
                  <a:srgbClr val="5B6480"/>
                </a:solidFill>
                <a:latin typeface="Calibri" pitchFamily="34" charset="0"/>
                <a:ea typeface="Calibri" pitchFamily="34" charset="-122"/>
                <a:cs typeface="Calibri" pitchFamily="34" charset="-120"/>
              </a:rPr>
              <a:t>A WAL IMÓVEIS disponibiliza uma estrutura completa para sustentar o volume de atendimentos do Feirão.</a:t>
            </a:r>
            <a:endParaRPr lang="en-US" sz="1400" dirty="0"/>
          </a:p>
        </p:txBody>
      </p:sp>
      <p:sp>
        <p:nvSpPr>
          <p:cNvPr id="5" name="Shape 3"/>
          <p:cNvSpPr/>
          <p:nvPr/>
        </p:nvSpPr>
        <p:spPr>
          <a:xfrm>
            <a:off x="640080" y="196596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6" name="Shape 4"/>
          <p:cNvSpPr/>
          <p:nvPr/>
        </p:nvSpPr>
        <p:spPr>
          <a:xfrm>
            <a:off x="841248" y="2308860"/>
            <a:ext cx="548640" cy="548640"/>
          </a:xfrm>
          <a:prstGeom prst="ellipse">
            <a:avLst/>
          </a:prstGeom>
          <a:solidFill>
            <a:srgbClr val="0F1B3D"/>
          </a:solidFill>
          <a:ln/>
        </p:spPr>
      </p:sp>
      <p:pic>
        <p:nvPicPr>
          <p:cNvPr id="7" name="Image 0" descr="preencoded.png">    </p:cNvPr>
          <p:cNvPicPr>
            <a:picLocks noChangeAspect="1"/>
          </p:cNvPicPr>
          <p:nvPr/>
        </p:nvPicPr>
        <p:blipFill>
          <a:blip r:embed="rId1"/>
          <a:stretch>
            <a:fillRect/>
          </a:stretch>
        </p:blipFill>
        <p:spPr>
          <a:xfrm>
            <a:off x="964692" y="2432304"/>
            <a:ext cx="301752" cy="301752"/>
          </a:xfrm>
          <a:prstGeom prst="rect">
            <a:avLst/>
          </a:prstGeom>
        </p:spPr>
      </p:pic>
      <p:sp>
        <p:nvSpPr>
          <p:cNvPr id="8" name="Text 5"/>
          <p:cNvSpPr/>
          <p:nvPr/>
        </p:nvSpPr>
        <p:spPr>
          <a:xfrm>
            <a:off x="1554480" y="196596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Centro de Atendimento</a:t>
            </a:r>
            <a:endParaRPr lang="en-US" sz="1300" dirty="0"/>
          </a:p>
        </p:txBody>
      </p:sp>
      <p:sp>
        <p:nvSpPr>
          <p:cNvPr id="9" name="Shape 6"/>
          <p:cNvSpPr/>
          <p:nvPr/>
        </p:nvSpPr>
        <p:spPr>
          <a:xfrm>
            <a:off x="4343400" y="196596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10" name="Shape 7"/>
          <p:cNvSpPr/>
          <p:nvPr/>
        </p:nvSpPr>
        <p:spPr>
          <a:xfrm>
            <a:off x="4544568" y="2308860"/>
            <a:ext cx="548640" cy="548640"/>
          </a:xfrm>
          <a:prstGeom prst="ellipse">
            <a:avLst/>
          </a:prstGeom>
          <a:solidFill>
            <a:srgbClr val="0F1B3D"/>
          </a:solidFill>
          <a:ln/>
        </p:spPr>
      </p:sp>
      <p:pic>
        <p:nvPicPr>
          <p:cNvPr id="11" name="Image 1" descr="preencoded.png">    </p:cNvPr>
          <p:cNvPicPr>
            <a:picLocks noChangeAspect="1"/>
          </p:cNvPicPr>
          <p:nvPr/>
        </p:nvPicPr>
        <p:blipFill>
          <a:blip r:embed="rId2"/>
          <a:stretch>
            <a:fillRect/>
          </a:stretch>
        </p:blipFill>
        <p:spPr>
          <a:xfrm>
            <a:off x="4668012" y="2432304"/>
            <a:ext cx="301752" cy="301752"/>
          </a:xfrm>
          <a:prstGeom prst="rect">
            <a:avLst/>
          </a:prstGeom>
        </p:spPr>
      </p:pic>
      <p:sp>
        <p:nvSpPr>
          <p:cNvPr id="12" name="Text 8"/>
          <p:cNvSpPr/>
          <p:nvPr/>
        </p:nvSpPr>
        <p:spPr>
          <a:xfrm>
            <a:off x="5257800" y="196596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Equipe Comercial</a:t>
            </a:r>
            <a:endParaRPr lang="en-US" sz="1300" dirty="0"/>
          </a:p>
        </p:txBody>
      </p:sp>
      <p:sp>
        <p:nvSpPr>
          <p:cNvPr id="13" name="Shape 9"/>
          <p:cNvSpPr/>
          <p:nvPr/>
        </p:nvSpPr>
        <p:spPr>
          <a:xfrm>
            <a:off x="8046720" y="196596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14" name="Shape 10"/>
          <p:cNvSpPr/>
          <p:nvPr/>
        </p:nvSpPr>
        <p:spPr>
          <a:xfrm>
            <a:off x="8247888" y="2308860"/>
            <a:ext cx="548640" cy="548640"/>
          </a:xfrm>
          <a:prstGeom prst="ellipse">
            <a:avLst/>
          </a:prstGeom>
          <a:solidFill>
            <a:srgbClr val="0F1B3D"/>
          </a:solidFill>
          <a:ln/>
        </p:spPr>
      </p:sp>
      <p:pic>
        <p:nvPicPr>
          <p:cNvPr id="15" name="Image 2" descr="preencoded.png">    </p:cNvPr>
          <p:cNvPicPr>
            <a:picLocks noChangeAspect="1"/>
          </p:cNvPicPr>
          <p:nvPr/>
        </p:nvPicPr>
        <p:blipFill>
          <a:blip r:embed="rId3"/>
          <a:stretch>
            <a:fillRect/>
          </a:stretch>
        </p:blipFill>
        <p:spPr>
          <a:xfrm>
            <a:off x="8371332" y="2432304"/>
            <a:ext cx="301752" cy="301752"/>
          </a:xfrm>
          <a:prstGeom prst="rect">
            <a:avLst/>
          </a:prstGeom>
        </p:spPr>
      </p:pic>
      <p:sp>
        <p:nvSpPr>
          <p:cNvPr id="16" name="Text 11"/>
          <p:cNvSpPr/>
          <p:nvPr/>
        </p:nvSpPr>
        <p:spPr>
          <a:xfrm>
            <a:off x="8961120" y="196596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Especialistas em Crédito</a:t>
            </a:r>
            <a:endParaRPr lang="en-US" sz="1300" dirty="0"/>
          </a:p>
        </p:txBody>
      </p:sp>
      <p:sp>
        <p:nvSpPr>
          <p:cNvPr id="17" name="Shape 12"/>
          <p:cNvSpPr/>
          <p:nvPr/>
        </p:nvSpPr>
        <p:spPr>
          <a:xfrm>
            <a:off x="640080" y="338328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18" name="Shape 13"/>
          <p:cNvSpPr/>
          <p:nvPr/>
        </p:nvSpPr>
        <p:spPr>
          <a:xfrm>
            <a:off x="841248" y="3726180"/>
            <a:ext cx="548640" cy="548640"/>
          </a:xfrm>
          <a:prstGeom prst="ellipse">
            <a:avLst/>
          </a:prstGeom>
          <a:solidFill>
            <a:srgbClr val="0F1B3D"/>
          </a:solidFill>
          <a:ln/>
        </p:spPr>
      </p:sp>
      <p:pic>
        <p:nvPicPr>
          <p:cNvPr id="19" name="Image 3" descr="preencoded.png">    </p:cNvPr>
          <p:cNvPicPr>
            <a:picLocks noChangeAspect="1"/>
          </p:cNvPicPr>
          <p:nvPr/>
        </p:nvPicPr>
        <p:blipFill>
          <a:blip r:embed="rId4"/>
          <a:stretch>
            <a:fillRect/>
          </a:stretch>
        </p:blipFill>
        <p:spPr>
          <a:xfrm>
            <a:off x="964692" y="3849624"/>
            <a:ext cx="301752" cy="301752"/>
          </a:xfrm>
          <a:prstGeom prst="rect">
            <a:avLst/>
          </a:prstGeom>
        </p:spPr>
      </p:pic>
      <p:sp>
        <p:nvSpPr>
          <p:cNvPr id="20" name="Text 14"/>
          <p:cNvSpPr/>
          <p:nvPr/>
        </p:nvSpPr>
        <p:spPr>
          <a:xfrm>
            <a:off x="1554480" y="338328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Equipe de TI</a:t>
            </a:r>
            <a:endParaRPr lang="en-US" sz="1300" dirty="0"/>
          </a:p>
        </p:txBody>
      </p:sp>
      <p:sp>
        <p:nvSpPr>
          <p:cNvPr id="21" name="Shape 15"/>
          <p:cNvSpPr/>
          <p:nvPr/>
        </p:nvSpPr>
        <p:spPr>
          <a:xfrm>
            <a:off x="4343400" y="338328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22" name="Shape 16"/>
          <p:cNvSpPr/>
          <p:nvPr/>
        </p:nvSpPr>
        <p:spPr>
          <a:xfrm>
            <a:off x="4544568" y="3726180"/>
            <a:ext cx="548640" cy="548640"/>
          </a:xfrm>
          <a:prstGeom prst="ellipse">
            <a:avLst/>
          </a:prstGeom>
          <a:solidFill>
            <a:srgbClr val="0F1B3D"/>
          </a:solidFill>
          <a:ln/>
        </p:spPr>
      </p:sp>
      <p:pic>
        <p:nvPicPr>
          <p:cNvPr id="23" name="Image 4" descr="preencoded.png">    </p:cNvPr>
          <p:cNvPicPr>
            <a:picLocks noChangeAspect="1"/>
          </p:cNvPicPr>
          <p:nvPr/>
        </p:nvPicPr>
        <p:blipFill>
          <a:blip r:embed="rId5"/>
          <a:stretch>
            <a:fillRect/>
          </a:stretch>
        </p:blipFill>
        <p:spPr>
          <a:xfrm>
            <a:off x="4668012" y="3849624"/>
            <a:ext cx="301752" cy="301752"/>
          </a:xfrm>
          <a:prstGeom prst="rect">
            <a:avLst/>
          </a:prstGeom>
        </p:spPr>
      </p:pic>
      <p:sp>
        <p:nvSpPr>
          <p:cNvPr id="24" name="Text 17"/>
          <p:cNvSpPr/>
          <p:nvPr/>
        </p:nvSpPr>
        <p:spPr>
          <a:xfrm>
            <a:off x="5257800" y="338328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Plataforma Digital</a:t>
            </a:r>
            <a:endParaRPr lang="en-US" sz="1300" dirty="0"/>
          </a:p>
        </p:txBody>
      </p:sp>
      <p:sp>
        <p:nvSpPr>
          <p:cNvPr id="25" name="Shape 18"/>
          <p:cNvSpPr/>
          <p:nvPr/>
        </p:nvSpPr>
        <p:spPr>
          <a:xfrm>
            <a:off x="8046720" y="338328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26" name="Shape 19"/>
          <p:cNvSpPr/>
          <p:nvPr/>
        </p:nvSpPr>
        <p:spPr>
          <a:xfrm>
            <a:off x="8247888" y="3726180"/>
            <a:ext cx="548640" cy="548640"/>
          </a:xfrm>
          <a:prstGeom prst="ellipse">
            <a:avLst/>
          </a:prstGeom>
          <a:solidFill>
            <a:srgbClr val="0F1B3D"/>
          </a:solidFill>
          <a:ln/>
        </p:spPr>
      </p:sp>
      <p:pic>
        <p:nvPicPr>
          <p:cNvPr id="27" name="Image 5" descr="preencoded.png">    </p:cNvPr>
          <p:cNvPicPr>
            <a:picLocks noChangeAspect="1"/>
          </p:cNvPicPr>
          <p:nvPr/>
        </p:nvPicPr>
        <p:blipFill>
          <a:blip r:embed="rId6"/>
          <a:stretch>
            <a:fillRect/>
          </a:stretch>
        </p:blipFill>
        <p:spPr>
          <a:xfrm>
            <a:off x="8371332" y="3849624"/>
            <a:ext cx="301752" cy="301752"/>
          </a:xfrm>
          <a:prstGeom prst="rect">
            <a:avLst/>
          </a:prstGeom>
        </p:spPr>
      </p:pic>
      <p:sp>
        <p:nvSpPr>
          <p:cNvPr id="28" name="Text 20"/>
          <p:cNvSpPr/>
          <p:nvPr/>
        </p:nvSpPr>
        <p:spPr>
          <a:xfrm>
            <a:off x="8961120" y="338328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Suporte Operacional</a:t>
            </a:r>
            <a:endParaRPr lang="en-US" sz="1300" dirty="0"/>
          </a:p>
        </p:txBody>
      </p:sp>
      <p:sp>
        <p:nvSpPr>
          <p:cNvPr id="29" name="Shape 21"/>
          <p:cNvSpPr/>
          <p:nvPr/>
        </p:nvSpPr>
        <p:spPr>
          <a:xfrm>
            <a:off x="640080" y="480060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30" name="Shape 22"/>
          <p:cNvSpPr/>
          <p:nvPr/>
        </p:nvSpPr>
        <p:spPr>
          <a:xfrm>
            <a:off x="841248" y="5143500"/>
            <a:ext cx="548640" cy="548640"/>
          </a:xfrm>
          <a:prstGeom prst="ellipse">
            <a:avLst/>
          </a:prstGeom>
          <a:solidFill>
            <a:srgbClr val="0F1B3D"/>
          </a:solidFill>
          <a:ln/>
        </p:spPr>
      </p:sp>
      <p:pic>
        <p:nvPicPr>
          <p:cNvPr id="31" name="Image 6" descr="preencoded.png">    </p:cNvPr>
          <p:cNvPicPr>
            <a:picLocks noChangeAspect="1"/>
          </p:cNvPicPr>
          <p:nvPr/>
        </p:nvPicPr>
        <p:blipFill>
          <a:blip r:embed="rId7"/>
          <a:stretch>
            <a:fillRect/>
          </a:stretch>
        </p:blipFill>
        <p:spPr>
          <a:xfrm>
            <a:off x="964692" y="5266944"/>
            <a:ext cx="301752" cy="301752"/>
          </a:xfrm>
          <a:prstGeom prst="rect">
            <a:avLst/>
          </a:prstGeom>
        </p:spPr>
      </p:pic>
      <p:sp>
        <p:nvSpPr>
          <p:cNvPr id="32" name="Text 23"/>
          <p:cNvSpPr/>
          <p:nvPr/>
        </p:nvSpPr>
        <p:spPr>
          <a:xfrm>
            <a:off x="1554480" y="480060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Equipe de Marketing</a:t>
            </a:r>
            <a:endParaRPr lang="en-US" sz="1300" dirty="0"/>
          </a:p>
        </p:txBody>
      </p:sp>
      <p:sp>
        <p:nvSpPr>
          <p:cNvPr id="33" name="Shape 24"/>
          <p:cNvSpPr/>
          <p:nvPr/>
        </p:nvSpPr>
        <p:spPr>
          <a:xfrm>
            <a:off x="4343400" y="480060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34" name="Shape 25"/>
          <p:cNvSpPr/>
          <p:nvPr/>
        </p:nvSpPr>
        <p:spPr>
          <a:xfrm>
            <a:off x="4544568" y="5143500"/>
            <a:ext cx="548640" cy="548640"/>
          </a:xfrm>
          <a:prstGeom prst="ellipse">
            <a:avLst/>
          </a:prstGeom>
          <a:solidFill>
            <a:srgbClr val="0F1B3D"/>
          </a:solidFill>
          <a:ln/>
        </p:spPr>
      </p:sp>
      <p:pic>
        <p:nvPicPr>
          <p:cNvPr id="35" name="Image 7" descr="preencoded.png">    </p:cNvPr>
          <p:cNvPicPr>
            <a:picLocks noChangeAspect="1"/>
          </p:cNvPicPr>
          <p:nvPr/>
        </p:nvPicPr>
        <p:blipFill>
          <a:blip r:embed="rId8"/>
          <a:stretch>
            <a:fillRect/>
          </a:stretch>
        </p:blipFill>
        <p:spPr>
          <a:xfrm>
            <a:off x="4668012" y="5266944"/>
            <a:ext cx="301752" cy="301752"/>
          </a:xfrm>
          <a:prstGeom prst="rect">
            <a:avLst/>
          </a:prstGeom>
        </p:spPr>
      </p:pic>
      <p:sp>
        <p:nvSpPr>
          <p:cNvPr id="36" name="Text 26"/>
          <p:cNvSpPr/>
          <p:nvPr/>
        </p:nvSpPr>
        <p:spPr>
          <a:xfrm>
            <a:off x="5257800" y="480060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Monitoramento dos Atendimentos</a:t>
            </a:r>
            <a:endParaRPr lang="en-US" sz="1300" dirty="0"/>
          </a:p>
        </p:txBody>
      </p:sp>
      <p:sp>
        <p:nvSpPr>
          <p:cNvPr id="37" name="Shape 27"/>
          <p:cNvSpPr/>
          <p:nvPr/>
        </p:nvSpPr>
        <p:spPr>
          <a:xfrm>
            <a:off x="8046720" y="480060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38" name="Shape 28"/>
          <p:cNvSpPr/>
          <p:nvPr/>
        </p:nvSpPr>
        <p:spPr>
          <a:xfrm>
            <a:off x="8247888" y="5143500"/>
            <a:ext cx="548640" cy="548640"/>
          </a:xfrm>
          <a:prstGeom prst="ellipse">
            <a:avLst/>
          </a:prstGeom>
          <a:solidFill>
            <a:srgbClr val="0F1B3D"/>
          </a:solidFill>
          <a:ln/>
        </p:spPr>
      </p:sp>
      <p:pic>
        <p:nvPicPr>
          <p:cNvPr id="39" name="Image 8" descr="preencoded.png">    </p:cNvPr>
          <p:cNvPicPr>
            <a:picLocks noChangeAspect="1"/>
          </p:cNvPicPr>
          <p:nvPr/>
        </p:nvPicPr>
        <p:blipFill>
          <a:blip r:embed="rId9"/>
          <a:stretch>
            <a:fillRect/>
          </a:stretch>
        </p:blipFill>
        <p:spPr>
          <a:xfrm>
            <a:off x="8371332" y="5266944"/>
            <a:ext cx="301752" cy="301752"/>
          </a:xfrm>
          <a:prstGeom prst="rect">
            <a:avLst/>
          </a:prstGeom>
        </p:spPr>
      </p:pic>
      <p:sp>
        <p:nvSpPr>
          <p:cNvPr id="40" name="Text 29"/>
          <p:cNvSpPr/>
          <p:nvPr/>
        </p:nvSpPr>
        <p:spPr>
          <a:xfrm>
            <a:off x="8961120" y="480060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Relatórios</a:t>
            </a:r>
            <a:endParaRPr lang="en-US" sz="1300" dirty="0"/>
          </a:p>
        </p:txBody>
      </p:sp>
      <p:sp>
        <p:nvSpPr>
          <p:cNvPr id="41" name="Shape 30"/>
          <p:cNvSpPr/>
          <p:nvPr/>
        </p:nvSpPr>
        <p:spPr>
          <a:xfrm>
            <a:off x="640080" y="621792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42" name="Shape 31"/>
          <p:cNvSpPr/>
          <p:nvPr/>
        </p:nvSpPr>
        <p:spPr>
          <a:xfrm>
            <a:off x="841248" y="6560820"/>
            <a:ext cx="548640" cy="548640"/>
          </a:xfrm>
          <a:prstGeom prst="ellipse">
            <a:avLst/>
          </a:prstGeom>
          <a:solidFill>
            <a:srgbClr val="0F1B3D"/>
          </a:solidFill>
          <a:ln/>
        </p:spPr>
      </p:sp>
      <p:pic>
        <p:nvPicPr>
          <p:cNvPr id="43" name="Image 9" descr="preencoded.png">    </p:cNvPr>
          <p:cNvPicPr>
            <a:picLocks noChangeAspect="1"/>
          </p:cNvPicPr>
          <p:nvPr/>
        </p:nvPicPr>
        <p:blipFill>
          <a:blip r:embed="rId10"/>
          <a:stretch>
            <a:fillRect/>
          </a:stretch>
        </p:blipFill>
        <p:spPr>
          <a:xfrm>
            <a:off x="964692" y="6684264"/>
            <a:ext cx="301752" cy="301752"/>
          </a:xfrm>
          <a:prstGeom prst="rect">
            <a:avLst/>
          </a:prstGeom>
        </p:spPr>
      </p:pic>
      <p:sp>
        <p:nvSpPr>
          <p:cNvPr id="44" name="Text 32"/>
          <p:cNvSpPr/>
          <p:nvPr/>
        </p:nvSpPr>
        <p:spPr>
          <a:xfrm>
            <a:off x="1554480" y="621792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Dashboard em Tempo Real</a:t>
            </a:r>
            <a:endParaRPr lang="en-US" sz="1300" dirty="0"/>
          </a:p>
        </p:txBody>
      </p:sp>
      <p:sp>
        <p:nvSpPr>
          <p:cNvPr id="45" name="Shape 33"/>
          <p:cNvSpPr/>
          <p:nvPr/>
        </p:nvSpPr>
        <p:spPr>
          <a:xfrm>
            <a:off x="4343400" y="6217920"/>
            <a:ext cx="3520440" cy="1234440"/>
          </a:xfrm>
          <a:prstGeom prst="roundRect">
            <a:avLst>
              <a:gd name="adj" fmla="val 5185"/>
            </a:avLst>
          </a:prstGeom>
          <a:solidFill>
            <a:srgbClr val="EEF1F8"/>
          </a:solidFill>
          <a:ln/>
          <a:effectLst>
            <a:outerShdw sx="100000" sy="100000" kx="0" ky="0" algn="bl" rotWithShape="0" blurRad="127000" dist="38100" dir="5400000">
              <a:srgbClr val="0F1B3D">
                <a:alpha val="12000"/>
              </a:srgbClr>
            </a:outerShdw>
          </a:effectLst>
        </p:spPr>
      </p:sp>
      <p:sp>
        <p:nvSpPr>
          <p:cNvPr id="46" name="Shape 34"/>
          <p:cNvSpPr/>
          <p:nvPr/>
        </p:nvSpPr>
        <p:spPr>
          <a:xfrm>
            <a:off x="4544568" y="6560820"/>
            <a:ext cx="548640" cy="548640"/>
          </a:xfrm>
          <a:prstGeom prst="ellipse">
            <a:avLst/>
          </a:prstGeom>
          <a:solidFill>
            <a:srgbClr val="0F1B3D"/>
          </a:solidFill>
          <a:ln/>
        </p:spPr>
      </p:sp>
      <p:pic>
        <p:nvPicPr>
          <p:cNvPr id="47" name="Image 10" descr="preencoded.png">    </p:cNvPr>
          <p:cNvPicPr>
            <a:picLocks noChangeAspect="1"/>
          </p:cNvPicPr>
          <p:nvPr/>
        </p:nvPicPr>
        <p:blipFill>
          <a:blip r:embed="rId11"/>
          <a:stretch>
            <a:fillRect/>
          </a:stretch>
        </p:blipFill>
        <p:spPr>
          <a:xfrm>
            <a:off x="4668012" y="6684264"/>
            <a:ext cx="301752" cy="301752"/>
          </a:xfrm>
          <a:prstGeom prst="rect">
            <a:avLst/>
          </a:prstGeom>
        </p:spPr>
      </p:pic>
      <p:sp>
        <p:nvSpPr>
          <p:cNvPr id="48" name="Text 35"/>
          <p:cNvSpPr/>
          <p:nvPr/>
        </p:nvSpPr>
        <p:spPr>
          <a:xfrm>
            <a:off x="5257800" y="6217920"/>
            <a:ext cx="2423160" cy="1234440"/>
          </a:xfrm>
          <a:prstGeom prst="rect">
            <a:avLst/>
          </a:prstGeom>
          <a:noFill/>
          <a:ln/>
        </p:spPr>
        <p:txBody>
          <a:bodyPr wrap="square" rtlCol="0" anchor="ctr"/>
          <a:lstStyle/>
          <a:p>
            <a:pPr indent="0" marL="0">
              <a:lnSpc>
                <a:spcPct val="110000"/>
              </a:lnSpc>
              <a:buNone/>
            </a:pPr>
            <a:r>
              <a:rPr lang="en-US" sz="1300" b="1" dirty="0">
                <a:solidFill>
                  <a:srgbClr val="0F1B3D"/>
                </a:solidFill>
                <a:latin typeface="Calibri" pitchFamily="34" charset="0"/>
                <a:ea typeface="Calibri" pitchFamily="34" charset="-122"/>
                <a:cs typeface="Calibri" pitchFamily="34" charset="-120"/>
              </a:rPr>
              <a:t>Acompanhamento das Oportunidades</a:t>
            </a:r>
            <a:endParaRPr lang="en-US" sz="1300" dirty="0"/>
          </a:p>
        </p:txBody>
      </p:sp>
      <p:sp>
        <p:nvSpPr>
          <p:cNvPr id="49" name="Text 3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08</a:t>
            </a:r>
            <a:endParaRPr lang="en-US" sz="1000" dirty="0"/>
          </a:p>
        </p:txBody>
      </p:sp>
      <p:sp>
        <p:nvSpPr>
          <p:cNvPr id="50" name="Text 37"/>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PROPOSTA DE VALOR</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 Que a Construtora Ganha?</a:t>
            </a:r>
            <a:endParaRPr lang="en-US" sz="3000" dirty="0"/>
          </a:p>
        </p:txBody>
      </p:sp>
      <p:sp>
        <p:nvSpPr>
          <p:cNvPr id="4" name="Shape 2"/>
          <p:cNvSpPr/>
          <p:nvPr/>
        </p:nvSpPr>
        <p:spPr>
          <a:xfrm>
            <a:off x="640080" y="1783080"/>
            <a:ext cx="2606040" cy="1188720"/>
          </a:xfrm>
          <a:prstGeom prst="roundRect">
            <a:avLst>
              <a:gd name="adj" fmla="val 5385"/>
            </a:avLst>
          </a:prstGeom>
          <a:solidFill>
            <a:srgbClr val="16244F"/>
          </a:solidFill>
          <a:ln/>
        </p:spPr>
      </p:sp>
      <p:sp>
        <p:nvSpPr>
          <p:cNvPr id="5" name="Shape 3"/>
          <p:cNvSpPr/>
          <p:nvPr/>
        </p:nvSpPr>
        <p:spPr>
          <a:xfrm>
            <a:off x="804672" y="2125980"/>
            <a:ext cx="502920" cy="502920"/>
          </a:xfrm>
          <a:prstGeom prst="ellipse">
            <a:avLst/>
          </a:prstGeom>
          <a:solidFill>
            <a:srgbClr val="1E2C5C"/>
          </a:solidFill>
          <a:ln/>
        </p:spPr>
      </p:sp>
      <p:pic>
        <p:nvPicPr>
          <p:cNvPr id="6" name="Image 0" descr="preencoded.png">    </p:cNvPr>
          <p:cNvPicPr>
            <a:picLocks noChangeAspect="1"/>
          </p:cNvPicPr>
          <p:nvPr/>
        </p:nvPicPr>
        <p:blipFill>
          <a:blip r:embed="rId1"/>
          <a:stretch>
            <a:fillRect/>
          </a:stretch>
        </p:blipFill>
        <p:spPr>
          <a:xfrm>
            <a:off x="917829" y="2239137"/>
            <a:ext cx="276606" cy="276606"/>
          </a:xfrm>
          <a:prstGeom prst="rect">
            <a:avLst/>
          </a:prstGeom>
        </p:spPr>
      </p:pic>
      <p:sp>
        <p:nvSpPr>
          <p:cNvPr id="7" name="Text 4"/>
          <p:cNvSpPr/>
          <p:nvPr/>
        </p:nvSpPr>
        <p:spPr>
          <a:xfrm>
            <a:off x="1417320" y="1783080"/>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Maior exposição da marca</a:t>
            </a:r>
            <a:endParaRPr lang="en-US" sz="1200" dirty="0"/>
          </a:p>
        </p:txBody>
      </p:sp>
      <p:sp>
        <p:nvSpPr>
          <p:cNvPr id="8" name="Shape 5"/>
          <p:cNvSpPr/>
          <p:nvPr/>
        </p:nvSpPr>
        <p:spPr>
          <a:xfrm>
            <a:off x="3474720" y="1783080"/>
            <a:ext cx="2606040" cy="1188720"/>
          </a:xfrm>
          <a:prstGeom prst="roundRect">
            <a:avLst>
              <a:gd name="adj" fmla="val 5385"/>
            </a:avLst>
          </a:prstGeom>
          <a:solidFill>
            <a:srgbClr val="16244F"/>
          </a:solidFill>
          <a:ln/>
        </p:spPr>
      </p:sp>
      <p:sp>
        <p:nvSpPr>
          <p:cNvPr id="9" name="Shape 6"/>
          <p:cNvSpPr/>
          <p:nvPr/>
        </p:nvSpPr>
        <p:spPr>
          <a:xfrm>
            <a:off x="3639312" y="2125980"/>
            <a:ext cx="502920" cy="502920"/>
          </a:xfrm>
          <a:prstGeom prst="ellipse">
            <a:avLst/>
          </a:prstGeom>
          <a:solidFill>
            <a:srgbClr val="1E2C5C"/>
          </a:solidFill>
          <a:ln/>
        </p:spPr>
      </p:sp>
      <p:pic>
        <p:nvPicPr>
          <p:cNvPr id="10" name="Image 1" descr="preencoded.png">    </p:cNvPr>
          <p:cNvPicPr>
            <a:picLocks noChangeAspect="1"/>
          </p:cNvPicPr>
          <p:nvPr/>
        </p:nvPicPr>
        <p:blipFill>
          <a:blip r:embed="rId2"/>
          <a:stretch>
            <a:fillRect/>
          </a:stretch>
        </p:blipFill>
        <p:spPr>
          <a:xfrm>
            <a:off x="3752469" y="2239137"/>
            <a:ext cx="276606" cy="276606"/>
          </a:xfrm>
          <a:prstGeom prst="rect">
            <a:avLst/>
          </a:prstGeom>
        </p:spPr>
      </p:pic>
      <p:sp>
        <p:nvSpPr>
          <p:cNvPr id="11" name="Text 7"/>
          <p:cNvSpPr/>
          <p:nvPr/>
        </p:nvSpPr>
        <p:spPr>
          <a:xfrm>
            <a:off x="4251960" y="1783080"/>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Leads qualificados</a:t>
            </a:r>
            <a:endParaRPr lang="en-US" sz="1200" dirty="0"/>
          </a:p>
        </p:txBody>
      </p:sp>
      <p:sp>
        <p:nvSpPr>
          <p:cNvPr id="12" name="Shape 8"/>
          <p:cNvSpPr/>
          <p:nvPr/>
        </p:nvSpPr>
        <p:spPr>
          <a:xfrm>
            <a:off x="6309360" y="1783080"/>
            <a:ext cx="2606040" cy="1188720"/>
          </a:xfrm>
          <a:prstGeom prst="roundRect">
            <a:avLst>
              <a:gd name="adj" fmla="val 5385"/>
            </a:avLst>
          </a:prstGeom>
          <a:solidFill>
            <a:srgbClr val="16244F"/>
          </a:solidFill>
          <a:ln/>
        </p:spPr>
      </p:sp>
      <p:sp>
        <p:nvSpPr>
          <p:cNvPr id="13" name="Shape 9"/>
          <p:cNvSpPr/>
          <p:nvPr/>
        </p:nvSpPr>
        <p:spPr>
          <a:xfrm>
            <a:off x="6473952" y="2125980"/>
            <a:ext cx="502920" cy="502920"/>
          </a:xfrm>
          <a:prstGeom prst="ellipse">
            <a:avLst/>
          </a:prstGeom>
          <a:solidFill>
            <a:srgbClr val="1E2C5C"/>
          </a:solidFill>
          <a:ln/>
        </p:spPr>
      </p:sp>
      <p:pic>
        <p:nvPicPr>
          <p:cNvPr id="14" name="Image 2" descr="preencoded.png">    </p:cNvPr>
          <p:cNvPicPr>
            <a:picLocks noChangeAspect="1"/>
          </p:cNvPicPr>
          <p:nvPr/>
        </p:nvPicPr>
        <p:blipFill>
          <a:blip r:embed="rId3"/>
          <a:stretch>
            <a:fillRect/>
          </a:stretch>
        </p:blipFill>
        <p:spPr>
          <a:xfrm>
            <a:off x="6587109" y="2239137"/>
            <a:ext cx="276606" cy="276606"/>
          </a:xfrm>
          <a:prstGeom prst="rect">
            <a:avLst/>
          </a:prstGeom>
        </p:spPr>
      </p:pic>
      <p:sp>
        <p:nvSpPr>
          <p:cNvPr id="15" name="Text 10"/>
          <p:cNvSpPr/>
          <p:nvPr/>
        </p:nvSpPr>
        <p:spPr>
          <a:xfrm>
            <a:off x="7086600" y="1783080"/>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Equipe especializada</a:t>
            </a:r>
            <a:endParaRPr lang="en-US" sz="1200" dirty="0"/>
          </a:p>
        </p:txBody>
      </p:sp>
      <p:sp>
        <p:nvSpPr>
          <p:cNvPr id="16" name="Shape 11"/>
          <p:cNvSpPr/>
          <p:nvPr/>
        </p:nvSpPr>
        <p:spPr>
          <a:xfrm>
            <a:off x="9144000" y="1783080"/>
            <a:ext cx="2606040" cy="1188720"/>
          </a:xfrm>
          <a:prstGeom prst="roundRect">
            <a:avLst>
              <a:gd name="adj" fmla="val 5385"/>
            </a:avLst>
          </a:prstGeom>
          <a:solidFill>
            <a:srgbClr val="16244F"/>
          </a:solidFill>
          <a:ln/>
        </p:spPr>
      </p:sp>
      <p:sp>
        <p:nvSpPr>
          <p:cNvPr id="17" name="Shape 12"/>
          <p:cNvSpPr/>
          <p:nvPr/>
        </p:nvSpPr>
        <p:spPr>
          <a:xfrm>
            <a:off x="9308592" y="2125980"/>
            <a:ext cx="502920" cy="502920"/>
          </a:xfrm>
          <a:prstGeom prst="ellipse">
            <a:avLst/>
          </a:prstGeom>
          <a:solidFill>
            <a:srgbClr val="1E2C5C"/>
          </a:solidFill>
          <a:ln/>
        </p:spPr>
      </p:sp>
      <p:pic>
        <p:nvPicPr>
          <p:cNvPr id="18" name="Image 3" descr="preencoded.png">    </p:cNvPr>
          <p:cNvPicPr>
            <a:picLocks noChangeAspect="1"/>
          </p:cNvPicPr>
          <p:nvPr/>
        </p:nvPicPr>
        <p:blipFill>
          <a:blip r:embed="rId4"/>
          <a:stretch>
            <a:fillRect/>
          </a:stretch>
        </p:blipFill>
        <p:spPr>
          <a:xfrm>
            <a:off x="9421749" y="2239137"/>
            <a:ext cx="276606" cy="276606"/>
          </a:xfrm>
          <a:prstGeom prst="rect">
            <a:avLst/>
          </a:prstGeom>
        </p:spPr>
      </p:pic>
      <p:sp>
        <p:nvSpPr>
          <p:cNvPr id="19" name="Text 13"/>
          <p:cNvSpPr/>
          <p:nvPr/>
        </p:nvSpPr>
        <p:spPr>
          <a:xfrm>
            <a:off x="9921240" y="1783080"/>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Marketing direcionado</a:t>
            </a:r>
            <a:endParaRPr lang="en-US" sz="1200" dirty="0"/>
          </a:p>
        </p:txBody>
      </p:sp>
      <p:sp>
        <p:nvSpPr>
          <p:cNvPr id="20" name="Shape 14"/>
          <p:cNvSpPr/>
          <p:nvPr/>
        </p:nvSpPr>
        <p:spPr>
          <a:xfrm>
            <a:off x="640080" y="3172968"/>
            <a:ext cx="2606040" cy="1188720"/>
          </a:xfrm>
          <a:prstGeom prst="roundRect">
            <a:avLst>
              <a:gd name="adj" fmla="val 5385"/>
            </a:avLst>
          </a:prstGeom>
          <a:solidFill>
            <a:srgbClr val="16244F"/>
          </a:solidFill>
          <a:ln/>
        </p:spPr>
      </p:sp>
      <p:sp>
        <p:nvSpPr>
          <p:cNvPr id="21" name="Shape 15"/>
          <p:cNvSpPr/>
          <p:nvPr/>
        </p:nvSpPr>
        <p:spPr>
          <a:xfrm>
            <a:off x="804672" y="3515868"/>
            <a:ext cx="502920" cy="502920"/>
          </a:xfrm>
          <a:prstGeom prst="ellipse">
            <a:avLst/>
          </a:prstGeom>
          <a:solidFill>
            <a:srgbClr val="1E2C5C"/>
          </a:solidFill>
          <a:ln/>
        </p:spPr>
      </p:sp>
      <p:pic>
        <p:nvPicPr>
          <p:cNvPr id="22" name="Image 4" descr="preencoded.png">    </p:cNvPr>
          <p:cNvPicPr>
            <a:picLocks noChangeAspect="1"/>
          </p:cNvPicPr>
          <p:nvPr/>
        </p:nvPicPr>
        <p:blipFill>
          <a:blip r:embed="rId5"/>
          <a:stretch>
            <a:fillRect/>
          </a:stretch>
        </p:blipFill>
        <p:spPr>
          <a:xfrm>
            <a:off x="917829" y="3629025"/>
            <a:ext cx="276606" cy="276606"/>
          </a:xfrm>
          <a:prstGeom prst="rect">
            <a:avLst/>
          </a:prstGeom>
        </p:spPr>
      </p:pic>
      <p:sp>
        <p:nvSpPr>
          <p:cNvPr id="23" name="Text 16"/>
          <p:cNvSpPr/>
          <p:nvPr/>
        </p:nvSpPr>
        <p:spPr>
          <a:xfrm>
            <a:off x="1417320" y="3172968"/>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Campanha exclusiva</a:t>
            </a:r>
            <a:endParaRPr lang="en-US" sz="1200" dirty="0"/>
          </a:p>
        </p:txBody>
      </p:sp>
      <p:sp>
        <p:nvSpPr>
          <p:cNvPr id="24" name="Shape 17"/>
          <p:cNvSpPr/>
          <p:nvPr/>
        </p:nvSpPr>
        <p:spPr>
          <a:xfrm>
            <a:off x="3474720" y="3172968"/>
            <a:ext cx="2606040" cy="1188720"/>
          </a:xfrm>
          <a:prstGeom prst="roundRect">
            <a:avLst>
              <a:gd name="adj" fmla="val 5385"/>
            </a:avLst>
          </a:prstGeom>
          <a:solidFill>
            <a:srgbClr val="16244F"/>
          </a:solidFill>
          <a:ln/>
        </p:spPr>
      </p:sp>
      <p:sp>
        <p:nvSpPr>
          <p:cNvPr id="25" name="Shape 18"/>
          <p:cNvSpPr/>
          <p:nvPr/>
        </p:nvSpPr>
        <p:spPr>
          <a:xfrm>
            <a:off x="3639312" y="3515868"/>
            <a:ext cx="502920" cy="502920"/>
          </a:xfrm>
          <a:prstGeom prst="ellipse">
            <a:avLst/>
          </a:prstGeom>
          <a:solidFill>
            <a:srgbClr val="1E2C5C"/>
          </a:solidFill>
          <a:ln/>
        </p:spPr>
      </p:sp>
      <p:pic>
        <p:nvPicPr>
          <p:cNvPr id="26" name="Image 5" descr="preencoded.png">    </p:cNvPr>
          <p:cNvPicPr>
            <a:picLocks noChangeAspect="1"/>
          </p:cNvPicPr>
          <p:nvPr/>
        </p:nvPicPr>
        <p:blipFill>
          <a:blip r:embed="rId6"/>
          <a:stretch>
            <a:fillRect/>
          </a:stretch>
        </p:blipFill>
        <p:spPr>
          <a:xfrm>
            <a:off x="3752469" y="3629025"/>
            <a:ext cx="276606" cy="276606"/>
          </a:xfrm>
          <a:prstGeom prst="rect">
            <a:avLst/>
          </a:prstGeom>
        </p:spPr>
      </p:pic>
      <p:sp>
        <p:nvSpPr>
          <p:cNvPr id="27" name="Text 19"/>
          <p:cNvSpPr/>
          <p:nvPr/>
        </p:nvSpPr>
        <p:spPr>
          <a:xfrm>
            <a:off x="4251960" y="3172968"/>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Baixo custo comercial</a:t>
            </a:r>
            <a:endParaRPr lang="en-US" sz="1200" dirty="0"/>
          </a:p>
        </p:txBody>
      </p:sp>
      <p:sp>
        <p:nvSpPr>
          <p:cNvPr id="28" name="Shape 20"/>
          <p:cNvSpPr/>
          <p:nvPr/>
        </p:nvSpPr>
        <p:spPr>
          <a:xfrm>
            <a:off x="6309360" y="3172968"/>
            <a:ext cx="2606040" cy="1188720"/>
          </a:xfrm>
          <a:prstGeom prst="roundRect">
            <a:avLst>
              <a:gd name="adj" fmla="val 5385"/>
            </a:avLst>
          </a:prstGeom>
          <a:solidFill>
            <a:srgbClr val="16244F"/>
          </a:solidFill>
          <a:ln/>
        </p:spPr>
      </p:sp>
      <p:sp>
        <p:nvSpPr>
          <p:cNvPr id="29" name="Shape 21"/>
          <p:cNvSpPr/>
          <p:nvPr/>
        </p:nvSpPr>
        <p:spPr>
          <a:xfrm>
            <a:off x="6473952" y="3515868"/>
            <a:ext cx="502920" cy="502920"/>
          </a:xfrm>
          <a:prstGeom prst="ellipse">
            <a:avLst/>
          </a:prstGeom>
          <a:solidFill>
            <a:srgbClr val="1E2C5C"/>
          </a:solidFill>
          <a:ln/>
        </p:spPr>
      </p:sp>
      <p:pic>
        <p:nvPicPr>
          <p:cNvPr id="30" name="Image 6" descr="preencoded.png">    </p:cNvPr>
          <p:cNvPicPr>
            <a:picLocks noChangeAspect="1"/>
          </p:cNvPicPr>
          <p:nvPr/>
        </p:nvPicPr>
        <p:blipFill>
          <a:blip r:embed="rId7"/>
          <a:stretch>
            <a:fillRect/>
          </a:stretch>
        </p:blipFill>
        <p:spPr>
          <a:xfrm>
            <a:off x="6587109" y="3629025"/>
            <a:ext cx="276606" cy="276606"/>
          </a:xfrm>
          <a:prstGeom prst="rect">
            <a:avLst/>
          </a:prstGeom>
        </p:spPr>
      </p:pic>
      <p:sp>
        <p:nvSpPr>
          <p:cNvPr id="31" name="Text 22"/>
          <p:cNvSpPr/>
          <p:nvPr/>
        </p:nvSpPr>
        <p:spPr>
          <a:xfrm>
            <a:off x="7086600" y="3172968"/>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Maior velocidade nas negociações</a:t>
            </a:r>
            <a:endParaRPr lang="en-US" sz="1200" dirty="0"/>
          </a:p>
        </p:txBody>
      </p:sp>
      <p:sp>
        <p:nvSpPr>
          <p:cNvPr id="32" name="Shape 23"/>
          <p:cNvSpPr/>
          <p:nvPr/>
        </p:nvSpPr>
        <p:spPr>
          <a:xfrm>
            <a:off x="9144000" y="3172968"/>
            <a:ext cx="2606040" cy="1188720"/>
          </a:xfrm>
          <a:prstGeom prst="roundRect">
            <a:avLst>
              <a:gd name="adj" fmla="val 5385"/>
            </a:avLst>
          </a:prstGeom>
          <a:solidFill>
            <a:srgbClr val="16244F"/>
          </a:solidFill>
          <a:ln/>
        </p:spPr>
      </p:sp>
      <p:sp>
        <p:nvSpPr>
          <p:cNvPr id="33" name="Shape 24"/>
          <p:cNvSpPr/>
          <p:nvPr/>
        </p:nvSpPr>
        <p:spPr>
          <a:xfrm>
            <a:off x="9308592" y="3515868"/>
            <a:ext cx="502920" cy="502920"/>
          </a:xfrm>
          <a:prstGeom prst="ellipse">
            <a:avLst/>
          </a:prstGeom>
          <a:solidFill>
            <a:srgbClr val="1E2C5C"/>
          </a:solidFill>
          <a:ln/>
        </p:spPr>
      </p:sp>
      <p:pic>
        <p:nvPicPr>
          <p:cNvPr id="34" name="Image 7" descr="preencoded.png">    </p:cNvPr>
          <p:cNvPicPr>
            <a:picLocks noChangeAspect="1"/>
          </p:cNvPicPr>
          <p:nvPr/>
        </p:nvPicPr>
        <p:blipFill>
          <a:blip r:embed="rId8"/>
          <a:stretch>
            <a:fillRect/>
          </a:stretch>
        </p:blipFill>
        <p:spPr>
          <a:xfrm>
            <a:off x="9421749" y="3629025"/>
            <a:ext cx="276606" cy="276606"/>
          </a:xfrm>
          <a:prstGeom prst="rect">
            <a:avLst/>
          </a:prstGeom>
        </p:spPr>
      </p:pic>
      <p:sp>
        <p:nvSpPr>
          <p:cNvPr id="35" name="Text 25"/>
          <p:cNvSpPr/>
          <p:nvPr/>
        </p:nvSpPr>
        <p:spPr>
          <a:xfrm>
            <a:off x="9921240" y="3172968"/>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Fortalecimento institucional</a:t>
            </a:r>
            <a:endParaRPr lang="en-US" sz="1200" dirty="0"/>
          </a:p>
        </p:txBody>
      </p:sp>
      <p:sp>
        <p:nvSpPr>
          <p:cNvPr id="36" name="Shape 26"/>
          <p:cNvSpPr/>
          <p:nvPr/>
        </p:nvSpPr>
        <p:spPr>
          <a:xfrm>
            <a:off x="640080" y="4562856"/>
            <a:ext cx="2606040" cy="1188720"/>
          </a:xfrm>
          <a:prstGeom prst="roundRect">
            <a:avLst>
              <a:gd name="adj" fmla="val 5385"/>
            </a:avLst>
          </a:prstGeom>
          <a:solidFill>
            <a:srgbClr val="16244F"/>
          </a:solidFill>
          <a:ln/>
        </p:spPr>
      </p:sp>
      <p:sp>
        <p:nvSpPr>
          <p:cNvPr id="37" name="Shape 27"/>
          <p:cNvSpPr/>
          <p:nvPr/>
        </p:nvSpPr>
        <p:spPr>
          <a:xfrm>
            <a:off x="804672" y="4905756"/>
            <a:ext cx="502920" cy="502920"/>
          </a:xfrm>
          <a:prstGeom prst="ellipse">
            <a:avLst/>
          </a:prstGeom>
          <a:solidFill>
            <a:srgbClr val="1E2C5C"/>
          </a:solidFill>
          <a:ln/>
        </p:spPr>
      </p:sp>
      <p:pic>
        <p:nvPicPr>
          <p:cNvPr id="38" name="Image 8" descr="preencoded.png">    </p:cNvPr>
          <p:cNvPicPr>
            <a:picLocks noChangeAspect="1"/>
          </p:cNvPicPr>
          <p:nvPr/>
        </p:nvPicPr>
        <p:blipFill>
          <a:blip r:embed="rId9"/>
          <a:stretch>
            <a:fillRect/>
          </a:stretch>
        </p:blipFill>
        <p:spPr>
          <a:xfrm>
            <a:off x="917829" y="5018913"/>
            <a:ext cx="276606" cy="276606"/>
          </a:xfrm>
          <a:prstGeom prst="rect">
            <a:avLst/>
          </a:prstGeom>
        </p:spPr>
      </p:pic>
      <p:sp>
        <p:nvSpPr>
          <p:cNvPr id="39" name="Text 28"/>
          <p:cNvSpPr/>
          <p:nvPr/>
        </p:nvSpPr>
        <p:spPr>
          <a:xfrm>
            <a:off x="1417320" y="4562856"/>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Público segmentado</a:t>
            </a:r>
            <a:endParaRPr lang="en-US" sz="1200" dirty="0"/>
          </a:p>
        </p:txBody>
      </p:sp>
      <p:sp>
        <p:nvSpPr>
          <p:cNvPr id="40" name="Shape 29"/>
          <p:cNvSpPr/>
          <p:nvPr/>
        </p:nvSpPr>
        <p:spPr>
          <a:xfrm>
            <a:off x="3474720" y="4562856"/>
            <a:ext cx="2606040" cy="1188720"/>
          </a:xfrm>
          <a:prstGeom prst="roundRect">
            <a:avLst>
              <a:gd name="adj" fmla="val 5385"/>
            </a:avLst>
          </a:prstGeom>
          <a:solidFill>
            <a:srgbClr val="16244F"/>
          </a:solidFill>
          <a:ln/>
        </p:spPr>
      </p:sp>
      <p:sp>
        <p:nvSpPr>
          <p:cNvPr id="41" name="Shape 30"/>
          <p:cNvSpPr/>
          <p:nvPr/>
        </p:nvSpPr>
        <p:spPr>
          <a:xfrm>
            <a:off x="3639312" y="4905756"/>
            <a:ext cx="502920" cy="502920"/>
          </a:xfrm>
          <a:prstGeom prst="ellipse">
            <a:avLst/>
          </a:prstGeom>
          <a:solidFill>
            <a:srgbClr val="1E2C5C"/>
          </a:solidFill>
          <a:ln/>
        </p:spPr>
      </p:sp>
      <p:pic>
        <p:nvPicPr>
          <p:cNvPr id="42" name="Image 9" descr="preencoded.png">    </p:cNvPr>
          <p:cNvPicPr>
            <a:picLocks noChangeAspect="1"/>
          </p:cNvPicPr>
          <p:nvPr/>
        </p:nvPicPr>
        <p:blipFill>
          <a:blip r:embed="rId10"/>
          <a:stretch>
            <a:fillRect/>
          </a:stretch>
        </p:blipFill>
        <p:spPr>
          <a:xfrm>
            <a:off x="3752469" y="5018913"/>
            <a:ext cx="276606" cy="276606"/>
          </a:xfrm>
          <a:prstGeom prst="rect">
            <a:avLst/>
          </a:prstGeom>
        </p:spPr>
      </p:pic>
      <p:sp>
        <p:nvSpPr>
          <p:cNvPr id="43" name="Text 31"/>
          <p:cNvSpPr/>
          <p:nvPr/>
        </p:nvSpPr>
        <p:spPr>
          <a:xfrm>
            <a:off x="4251960" y="4562856"/>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Acompanhamento em tempo real</a:t>
            </a:r>
            <a:endParaRPr lang="en-US" sz="1200" dirty="0"/>
          </a:p>
        </p:txBody>
      </p:sp>
      <p:sp>
        <p:nvSpPr>
          <p:cNvPr id="44" name="Shape 32"/>
          <p:cNvSpPr/>
          <p:nvPr/>
        </p:nvSpPr>
        <p:spPr>
          <a:xfrm>
            <a:off x="6309360" y="4562856"/>
            <a:ext cx="2606040" cy="1188720"/>
          </a:xfrm>
          <a:prstGeom prst="roundRect">
            <a:avLst>
              <a:gd name="adj" fmla="val 5385"/>
            </a:avLst>
          </a:prstGeom>
          <a:solidFill>
            <a:srgbClr val="16244F"/>
          </a:solidFill>
          <a:ln/>
        </p:spPr>
      </p:sp>
      <p:sp>
        <p:nvSpPr>
          <p:cNvPr id="45" name="Shape 33"/>
          <p:cNvSpPr/>
          <p:nvPr/>
        </p:nvSpPr>
        <p:spPr>
          <a:xfrm>
            <a:off x="6473952" y="4905756"/>
            <a:ext cx="502920" cy="502920"/>
          </a:xfrm>
          <a:prstGeom prst="ellipse">
            <a:avLst/>
          </a:prstGeom>
          <a:solidFill>
            <a:srgbClr val="1E2C5C"/>
          </a:solidFill>
          <a:ln/>
        </p:spPr>
      </p:sp>
      <p:pic>
        <p:nvPicPr>
          <p:cNvPr id="46" name="Image 10" descr="preencoded.png">    </p:cNvPr>
          <p:cNvPicPr>
            <a:picLocks noChangeAspect="1"/>
          </p:cNvPicPr>
          <p:nvPr/>
        </p:nvPicPr>
        <p:blipFill>
          <a:blip r:embed="rId11"/>
          <a:stretch>
            <a:fillRect/>
          </a:stretch>
        </p:blipFill>
        <p:spPr>
          <a:xfrm>
            <a:off x="6587109" y="5018913"/>
            <a:ext cx="276606" cy="276606"/>
          </a:xfrm>
          <a:prstGeom prst="rect">
            <a:avLst/>
          </a:prstGeom>
        </p:spPr>
      </p:pic>
      <p:sp>
        <p:nvSpPr>
          <p:cNvPr id="47" name="Text 34"/>
          <p:cNvSpPr/>
          <p:nvPr/>
        </p:nvSpPr>
        <p:spPr>
          <a:xfrm>
            <a:off x="7086600" y="4562856"/>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Mais oportunidades</a:t>
            </a:r>
            <a:endParaRPr lang="en-US" sz="1200" dirty="0"/>
          </a:p>
        </p:txBody>
      </p:sp>
      <p:sp>
        <p:nvSpPr>
          <p:cNvPr id="48" name="Shape 35"/>
          <p:cNvSpPr/>
          <p:nvPr/>
        </p:nvSpPr>
        <p:spPr>
          <a:xfrm>
            <a:off x="9144000" y="4562856"/>
            <a:ext cx="2606040" cy="1188720"/>
          </a:xfrm>
          <a:prstGeom prst="roundRect">
            <a:avLst>
              <a:gd name="adj" fmla="val 5385"/>
            </a:avLst>
          </a:prstGeom>
          <a:solidFill>
            <a:srgbClr val="16244F"/>
          </a:solidFill>
          <a:ln/>
        </p:spPr>
      </p:sp>
      <p:sp>
        <p:nvSpPr>
          <p:cNvPr id="49" name="Shape 36"/>
          <p:cNvSpPr/>
          <p:nvPr/>
        </p:nvSpPr>
        <p:spPr>
          <a:xfrm>
            <a:off x="9308592" y="4905756"/>
            <a:ext cx="502920" cy="502920"/>
          </a:xfrm>
          <a:prstGeom prst="ellipse">
            <a:avLst/>
          </a:prstGeom>
          <a:solidFill>
            <a:srgbClr val="1E2C5C"/>
          </a:solidFill>
          <a:ln/>
        </p:spPr>
      </p:sp>
      <p:pic>
        <p:nvPicPr>
          <p:cNvPr id="50" name="Image 11" descr="preencoded.png">    </p:cNvPr>
          <p:cNvPicPr>
            <a:picLocks noChangeAspect="1"/>
          </p:cNvPicPr>
          <p:nvPr/>
        </p:nvPicPr>
        <p:blipFill>
          <a:blip r:embed="rId12"/>
          <a:stretch>
            <a:fillRect/>
          </a:stretch>
        </p:blipFill>
        <p:spPr>
          <a:xfrm>
            <a:off x="9421749" y="5018913"/>
            <a:ext cx="276606" cy="276606"/>
          </a:xfrm>
          <a:prstGeom prst="rect">
            <a:avLst/>
          </a:prstGeom>
        </p:spPr>
      </p:pic>
      <p:sp>
        <p:nvSpPr>
          <p:cNvPr id="51" name="Text 37"/>
          <p:cNvSpPr/>
          <p:nvPr/>
        </p:nvSpPr>
        <p:spPr>
          <a:xfrm>
            <a:off x="9921240" y="4562856"/>
            <a:ext cx="1691640" cy="11887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Mais vendas</a:t>
            </a:r>
            <a:endParaRPr lang="en-US" sz="1200" dirty="0"/>
          </a:p>
        </p:txBody>
      </p:sp>
      <p:sp>
        <p:nvSpPr>
          <p:cNvPr id="52" name="Shape 38"/>
          <p:cNvSpPr/>
          <p:nvPr/>
        </p:nvSpPr>
        <p:spPr>
          <a:xfrm>
            <a:off x="640080" y="5998464"/>
            <a:ext cx="10881360" cy="640080"/>
          </a:xfrm>
          <a:prstGeom prst="roundRect">
            <a:avLst>
              <a:gd name="adj" fmla="val 11429"/>
            </a:avLst>
          </a:prstGeom>
          <a:solidFill>
            <a:srgbClr val="C9A227"/>
          </a:solidFill>
          <a:ln/>
        </p:spPr>
      </p:sp>
      <p:sp>
        <p:nvSpPr>
          <p:cNvPr id="53" name="Text 39"/>
          <p:cNvSpPr/>
          <p:nvPr/>
        </p:nvSpPr>
        <p:spPr>
          <a:xfrm>
            <a:off x="822960" y="5998464"/>
            <a:ext cx="10515600" cy="640080"/>
          </a:xfrm>
          <a:prstGeom prst="rect">
            <a:avLst/>
          </a:prstGeom>
          <a:noFill/>
          <a:ln/>
        </p:spPr>
        <p:txBody>
          <a:bodyPr wrap="square" rtlCol="0" anchor="ctr"/>
          <a:lstStyle/>
          <a:p>
            <a:pPr indent="0" marL="0">
              <a:buNone/>
            </a:pPr>
            <a:r>
              <a:rPr lang="en-US" sz="1500" b="1" i="1" dirty="0">
                <a:solidFill>
                  <a:srgbClr val="0F1B3D"/>
                </a:solidFill>
                <a:latin typeface="Cambria" pitchFamily="34" charset="0"/>
                <a:ea typeface="Cambria" pitchFamily="34" charset="-122"/>
                <a:cs typeface="Cambria" pitchFamily="34" charset="-120"/>
              </a:rPr>
              <a:t>Sua construtora investe apenas no que realmente importa: compradores qualificados.</a:t>
            </a:r>
            <a:endParaRPr lang="en-US" sz="1500" dirty="0"/>
          </a:p>
        </p:txBody>
      </p:sp>
      <p:sp>
        <p:nvSpPr>
          <p:cNvPr id="54" name="Text 4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09</a:t>
            </a:r>
            <a:endParaRPr lang="en-US" sz="1000" dirty="0"/>
          </a:p>
        </p:txBody>
      </p:sp>
      <p:sp>
        <p:nvSpPr>
          <p:cNvPr id="55" name="Text 41"/>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POSICIONAMENTO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Diferenciais do Evento</a:t>
            </a:r>
            <a:endParaRPr lang="en-US" sz="3000" dirty="0"/>
          </a:p>
        </p:txBody>
      </p:sp>
      <p:sp>
        <p:nvSpPr>
          <p:cNvPr id="4" name="Shape 2"/>
          <p:cNvSpPr/>
          <p:nvPr/>
        </p:nvSpPr>
        <p:spPr>
          <a:xfrm>
            <a:off x="640080" y="1828800"/>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5" name="Shape 3"/>
          <p:cNvSpPr/>
          <p:nvPr/>
        </p:nvSpPr>
        <p:spPr>
          <a:xfrm>
            <a:off x="1668780" y="2029968"/>
            <a:ext cx="548640" cy="548640"/>
          </a:xfrm>
          <a:prstGeom prst="ellipse">
            <a:avLst/>
          </a:prstGeom>
          <a:solidFill>
            <a:srgbClr val="0F1B3D"/>
          </a:solidFill>
          <a:ln/>
        </p:spPr>
      </p:sp>
      <p:pic>
        <p:nvPicPr>
          <p:cNvPr id="6" name="Image 0" descr="preencoded.png">    </p:cNvPr>
          <p:cNvPicPr>
            <a:picLocks noChangeAspect="1"/>
          </p:cNvPicPr>
          <p:nvPr/>
        </p:nvPicPr>
        <p:blipFill>
          <a:blip r:embed="rId1"/>
          <a:stretch>
            <a:fillRect/>
          </a:stretch>
        </p:blipFill>
        <p:spPr>
          <a:xfrm>
            <a:off x="1792224" y="2153412"/>
            <a:ext cx="301752" cy="301752"/>
          </a:xfrm>
          <a:prstGeom prst="rect">
            <a:avLst/>
          </a:prstGeom>
        </p:spPr>
      </p:pic>
      <p:sp>
        <p:nvSpPr>
          <p:cNvPr id="7" name="Text 4"/>
          <p:cNvSpPr/>
          <p:nvPr/>
        </p:nvSpPr>
        <p:spPr>
          <a:xfrm>
            <a:off x="777240" y="2697480"/>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100% Digital</a:t>
            </a:r>
            <a:endParaRPr lang="en-US" sz="1250" dirty="0"/>
          </a:p>
        </p:txBody>
      </p:sp>
      <p:sp>
        <p:nvSpPr>
          <p:cNvPr id="8" name="Shape 5"/>
          <p:cNvSpPr/>
          <p:nvPr/>
        </p:nvSpPr>
        <p:spPr>
          <a:xfrm>
            <a:off x="3474720" y="1828800"/>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9" name="Shape 6"/>
          <p:cNvSpPr/>
          <p:nvPr/>
        </p:nvSpPr>
        <p:spPr>
          <a:xfrm>
            <a:off x="4503420" y="2029968"/>
            <a:ext cx="548640" cy="548640"/>
          </a:xfrm>
          <a:prstGeom prst="ellipse">
            <a:avLst/>
          </a:prstGeom>
          <a:solidFill>
            <a:srgbClr val="0F1B3D"/>
          </a:solidFill>
          <a:ln/>
        </p:spPr>
      </p:sp>
      <p:pic>
        <p:nvPicPr>
          <p:cNvPr id="10" name="Image 1" descr="preencoded.png">    </p:cNvPr>
          <p:cNvPicPr>
            <a:picLocks noChangeAspect="1"/>
          </p:cNvPicPr>
          <p:nvPr/>
        </p:nvPicPr>
        <p:blipFill>
          <a:blip r:embed="rId2"/>
          <a:stretch>
            <a:fillRect/>
          </a:stretch>
        </p:blipFill>
        <p:spPr>
          <a:xfrm>
            <a:off x="4626864" y="2153412"/>
            <a:ext cx="301752" cy="301752"/>
          </a:xfrm>
          <a:prstGeom prst="rect">
            <a:avLst/>
          </a:prstGeom>
        </p:spPr>
      </p:pic>
      <p:sp>
        <p:nvSpPr>
          <p:cNvPr id="11" name="Text 7"/>
          <p:cNvSpPr/>
          <p:nvPr/>
        </p:nvSpPr>
        <p:spPr>
          <a:xfrm>
            <a:off x="3611880" y="2697480"/>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Tecnologia</a:t>
            </a:r>
            <a:endParaRPr lang="en-US" sz="1250" dirty="0"/>
          </a:p>
        </p:txBody>
      </p:sp>
      <p:sp>
        <p:nvSpPr>
          <p:cNvPr id="12" name="Shape 8"/>
          <p:cNvSpPr/>
          <p:nvPr/>
        </p:nvSpPr>
        <p:spPr>
          <a:xfrm>
            <a:off x="6309360" y="1828800"/>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13" name="Shape 9"/>
          <p:cNvSpPr/>
          <p:nvPr/>
        </p:nvSpPr>
        <p:spPr>
          <a:xfrm>
            <a:off x="7338060" y="2029968"/>
            <a:ext cx="548640" cy="548640"/>
          </a:xfrm>
          <a:prstGeom prst="ellipse">
            <a:avLst/>
          </a:prstGeom>
          <a:solidFill>
            <a:srgbClr val="0F1B3D"/>
          </a:solidFill>
          <a:ln/>
        </p:spPr>
      </p:sp>
      <p:pic>
        <p:nvPicPr>
          <p:cNvPr id="14" name="Image 2" descr="preencoded.png">    </p:cNvPr>
          <p:cNvPicPr>
            <a:picLocks noChangeAspect="1"/>
          </p:cNvPicPr>
          <p:nvPr/>
        </p:nvPicPr>
        <p:blipFill>
          <a:blip r:embed="rId3"/>
          <a:stretch>
            <a:fillRect/>
          </a:stretch>
        </p:blipFill>
        <p:spPr>
          <a:xfrm>
            <a:off x="7461504" y="2153412"/>
            <a:ext cx="301752" cy="301752"/>
          </a:xfrm>
          <a:prstGeom prst="rect">
            <a:avLst/>
          </a:prstGeom>
        </p:spPr>
      </p:pic>
      <p:sp>
        <p:nvSpPr>
          <p:cNvPr id="15" name="Text 10"/>
          <p:cNvSpPr/>
          <p:nvPr/>
        </p:nvSpPr>
        <p:spPr>
          <a:xfrm>
            <a:off x="6446520" y="2697480"/>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Segurança</a:t>
            </a:r>
            <a:endParaRPr lang="en-US" sz="1250" dirty="0"/>
          </a:p>
        </p:txBody>
      </p:sp>
      <p:sp>
        <p:nvSpPr>
          <p:cNvPr id="16" name="Shape 11"/>
          <p:cNvSpPr/>
          <p:nvPr/>
        </p:nvSpPr>
        <p:spPr>
          <a:xfrm>
            <a:off x="9144000" y="1828800"/>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17" name="Shape 12"/>
          <p:cNvSpPr/>
          <p:nvPr/>
        </p:nvSpPr>
        <p:spPr>
          <a:xfrm>
            <a:off x="10172700" y="2029968"/>
            <a:ext cx="548640" cy="548640"/>
          </a:xfrm>
          <a:prstGeom prst="ellipse">
            <a:avLst/>
          </a:prstGeom>
          <a:solidFill>
            <a:srgbClr val="0F1B3D"/>
          </a:solidFill>
          <a:ln/>
        </p:spPr>
      </p:sp>
      <p:pic>
        <p:nvPicPr>
          <p:cNvPr id="18" name="Image 3" descr="preencoded.png">    </p:cNvPr>
          <p:cNvPicPr>
            <a:picLocks noChangeAspect="1"/>
          </p:cNvPicPr>
          <p:nvPr/>
        </p:nvPicPr>
        <p:blipFill>
          <a:blip r:embed="rId4"/>
          <a:stretch>
            <a:fillRect/>
          </a:stretch>
        </p:blipFill>
        <p:spPr>
          <a:xfrm>
            <a:off x="10296144" y="2153412"/>
            <a:ext cx="301752" cy="301752"/>
          </a:xfrm>
          <a:prstGeom prst="rect">
            <a:avLst/>
          </a:prstGeom>
        </p:spPr>
      </p:pic>
      <p:sp>
        <p:nvSpPr>
          <p:cNvPr id="19" name="Text 13"/>
          <p:cNvSpPr/>
          <p:nvPr/>
        </p:nvSpPr>
        <p:spPr>
          <a:xfrm>
            <a:off x="9281160" y="2697480"/>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Atendimento Humanizado</a:t>
            </a:r>
            <a:endParaRPr lang="en-US" sz="1250" dirty="0"/>
          </a:p>
        </p:txBody>
      </p:sp>
      <p:sp>
        <p:nvSpPr>
          <p:cNvPr id="20" name="Shape 14"/>
          <p:cNvSpPr/>
          <p:nvPr/>
        </p:nvSpPr>
        <p:spPr>
          <a:xfrm>
            <a:off x="640080" y="3502152"/>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21" name="Shape 15"/>
          <p:cNvSpPr/>
          <p:nvPr/>
        </p:nvSpPr>
        <p:spPr>
          <a:xfrm>
            <a:off x="1668780" y="3703320"/>
            <a:ext cx="548640" cy="548640"/>
          </a:xfrm>
          <a:prstGeom prst="ellipse">
            <a:avLst/>
          </a:prstGeom>
          <a:solidFill>
            <a:srgbClr val="0F1B3D"/>
          </a:solidFill>
          <a:ln/>
        </p:spPr>
      </p:sp>
      <p:pic>
        <p:nvPicPr>
          <p:cNvPr id="22" name="Image 4" descr="preencoded.png">    </p:cNvPr>
          <p:cNvPicPr>
            <a:picLocks noChangeAspect="1"/>
          </p:cNvPicPr>
          <p:nvPr/>
        </p:nvPicPr>
        <p:blipFill>
          <a:blip r:embed="rId5"/>
          <a:stretch>
            <a:fillRect/>
          </a:stretch>
        </p:blipFill>
        <p:spPr>
          <a:xfrm>
            <a:off x="1792224" y="3826764"/>
            <a:ext cx="301752" cy="301752"/>
          </a:xfrm>
          <a:prstGeom prst="rect">
            <a:avLst/>
          </a:prstGeom>
        </p:spPr>
      </p:pic>
      <p:sp>
        <p:nvSpPr>
          <p:cNvPr id="23" name="Text 16"/>
          <p:cNvSpPr/>
          <p:nvPr/>
        </p:nvSpPr>
        <p:spPr>
          <a:xfrm>
            <a:off x="777240" y="4370832"/>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Equipe Especializada</a:t>
            </a:r>
            <a:endParaRPr lang="en-US" sz="1250" dirty="0"/>
          </a:p>
        </p:txBody>
      </p:sp>
      <p:sp>
        <p:nvSpPr>
          <p:cNvPr id="24" name="Shape 17"/>
          <p:cNvSpPr/>
          <p:nvPr/>
        </p:nvSpPr>
        <p:spPr>
          <a:xfrm>
            <a:off x="3474720" y="3502152"/>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25" name="Shape 18"/>
          <p:cNvSpPr/>
          <p:nvPr/>
        </p:nvSpPr>
        <p:spPr>
          <a:xfrm>
            <a:off x="4503420" y="3703320"/>
            <a:ext cx="548640" cy="548640"/>
          </a:xfrm>
          <a:prstGeom prst="ellipse">
            <a:avLst/>
          </a:prstGeom>
          <a:solidFill>
            <a:srgbClr val="0F1B3D"/>
          </a:solidFill>
          <a:ln/>
        </p:spPr>
      </p:sp>
      <p:pic>
        <p:nvPicPr>
          <p:cNvPr id="26" name="Image 5" descr="preencoded.png">    </p:cNvPr>
          <p:cNvPicPr>
            <a:picLocks noChangeAspect="1"/>
          </p:cNvPicPr>
          <p:nvPr/>
        </p:nvPicPr>
        <p:blipFill>
          <a:blip r:embed="rId6"/>
          <a:stretch>
            <a:fillRect/>
          </a:stretch>
        </p:blipFill>
        <p:spPr>
          <a:xfrm>
            <a:off x="4626864" y="3826764"/>
            <a:ext cx="301752" cy="301752"/>
          </a:xfrm>
          <a:prstGeom prst="rect">
            <a:avLst/>
          </a:prstGeom>
        </p:spPr>
      </p:pic>
      <p:sp>
        <p:nvSpPr>
          <p:cNvPr id="27" name="Text 19"/>
          <p:cNvSpPr/>
          <p:nvPr/>
        </p:nvSpPr>
        <p:spPr>
          <a:xfrm>
            <a:off x="3611880" y="4370832"/>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Marketing Segmentado</a:t>
            </a:r>
            <a:endParaRPr lang="en-US" sz="1250" dirty="0"/>
          </a:p>
        </p:txBody>
      </p:sp>
      <p:sp>
        <p:nvSpPr>
          <p:cNvPr id="28" name="Shape 20"/>
          <p:cNvSpPr/>
          <p:nvPr/>
        </p:nvSpPr>
        <p:spPr>
          <a:xfrm>
            <a:off x="6309360" y="3502152"/>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29" name="Shape 21"/>
          <p:cNvSpPr/>
          <p:nvPr/>
        </p:nvSpPr>
        <p:spPr>
          <a:xfrm>
            <a:off x="7338060" y="3703320"/>
            <a:ext cx="548640" cy="548640"/>
          </a:xfrm>
          <a:prstGeom prst="ellipse">
            <a:avLst/>
          </a:prstGeom>
          <a:solidFill>
            <a:srgbClr val="0F1B3D"/>
          </a:solidFill>
          <a:ln/>
        </p:spPr>
      </p:sp>
      <p:pic>
        <p:nvPicPr>
          <p:cNvPr id="30" name="Image 6" descr="preencoded.png">    </p:cNvPr>
          <p:cNvPicPr>
            <a:picLocks noChangeAspect="1"/>
          </p:cNvPicPr>
          <p:nvPr/>
        </p:nvPicPr>
        <p:blipFill>
          <a:blip r:embed="rId7"/>
          <a:stretch>
            <a:fillRect/>
          </a:stretch>
        </p:blipFill>
        <p:spPr>
          <a:xfrm>
            <a:off x="7461504" y="3826764"/>
            <a:ext cx="301752" cy="301752"/>
          </a:xfrm>
          <a:prstGeom prst="rect">
            <a:avLst/>
          </a:prstGeom>
        </p:spPr>
      </p:pic>
      <p:sp>
        <p:nvSpPr>
          <p:cNvPr id="31" name="Text 22"/>
          <p:cNvSpPr/>
          <p:nvPr/>
        </p:nvSpPr>
        <p:spPr>
          <a:xfrm>
            <a:off x="6446520" y="4370832"/>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CRM</a:t>
            </a:r>
            <a:endParaRPr lang="en-US" sz="1250" dirty="0"/>
          </a:p>
        </p:txBody>
      </p:sp>
      <p:sp>
        <p:nvSpPr>
          <p:cNvPr id="32" name="Shape 23"/>
          <p:cNvSpPr/>
          <p:nvPr/>
        </p:nvSpPr>
        <p:spPr>
          <a:xfrm>
            <a:off x="9144000" y="3502152"/>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33" name="Shape 24"/>
          <p:cNvSpPr/>
          <p:nvPr/>
        </p:nvSpPr>
        <p:spPr>
          <a:xfrm>
            <a:off x="10172700" y="3703320"/>
            <a:ext cx="548640" cy="548640"/>
          </a:xfrm>
          <a:prstGeom prst="ellipse">
            <a:avLst/>
          </a:prstGeom>
          <a:solidFill>
            <a:srgbClr val="0F1B3D"/>
          </a:solidFill>
          <a:ln/>
        </p:spPr>
      </p:sp>
      <p:pic>
        <p:nvPicPr>
          <p:cNvPr id="34" name="Image 7" descr="preencoded.png">    </p:cNvPr>
          <p:cNvPicPr>
            <a:picLocks noChangeAspect="1"/>
          </p:cNvPicPr>
          <p:nvPr/>
        </p:nvPicPr>
        <p:blipFill>
          <a:blip r:embed="rId8"/>
          <a:stretch>
            <a:fillRect/>
          </a:stretch>
        </p:blipFill>
        <p:spPr>
          <a:xfrm>
            <a:off x="10296144" y="3826764"/>
            <a:ext cx="301752" cy="301752"/>
          </a:xfrm>
          <a:prstGeom prst="rect">
            <a:avLst/>
          </a:prstGeom>
        </p:spPr>
      </p:pic>
      <p:sp>
        <p:nvSpPr>
          <p:cNvPr id="35" name="Text 25"/>
          <p:cNvSpPr/>
          <p:nvPr/>
        </p:nvSpPr>
        <p:spPr>
          <a:xfrm>
            <a:off x="9281160" y="4370832"/>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Dashboards</a:t>
            </a:r>
            <a:endParaRPr lang="en-US" sz="1250" dirty="0"/>
          </a:p>
        </p:txBody>
      </p:sp>
      <p:sp>
        <p:nvSpPr>
          <p:cNvPr id="36" name="Shape 26"/>
          <p:cNvSpPr/>
          <p:nvPr/>
        </p:nvSpPr>
        <p:spPr>
          <a:xfrm>
            <a:off x="640080" y="5175504"/>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37" name="Shape 27"/>
          <p:cNvSpPr/>
          <p:nvPr/>
        </p:nvSpPr>
        <p:spPr>
          <a:xfrm>
            <a:off x="1668780" y="5376672"/>
            <a:ext cx="548640" cy="548640"/>
          </a:xfrm>
          <a:prstGeom prst="ellipse">
            <a:avLst/>
          </a:prstGeom>
          <a:solidFill>
            <a:srgbClr val="0F1B3D"/>
          </a:solidFill>
          <a:ln/>
        </p:spPr>
      </p:sp>
      <p:pic>
        <p:nvPicPr>
          <p:cNvPr id="38" name="Image 8" descr="preencoded.png">    </p:cNvPr>
          <p:cNvPicPr>
            <a:picLocks noChangeAspect="1"/>
          </p:cNvPicPr>
          <p:nvPr/>
        </p:nvPicPr>
        <p:blipFill>
          <a:blip r:embed="rId9"/>
          <a:stretch>
            <a:fillRect/>
          </a:stretch>
        </p:blipFill>
        <p:spPr>
          <a:xfrm>
            <a:off x="1792224" y="5500116"/>
            <a:ext cx="301752" cy="301752"/>
          </a:xfrm>
          <a:prstGeom prst="rect">
            <a:avLst/>
          </a:prstGeom>
        </p:spPr>
      </p:pic>
      <p:sp>
        <p:nvSpPr>
          <p:cNvPr id="39" name="Text 28"/>
          <p:cNvSpPr/>
          <p:nvPr/>
        </p:nvSpPr>
        <p:spPr>
          <a:xfrm>
            <a:off x="777240" y="6044184"/>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Monitoramento em Tempo Real</a:t>
            </a:r>
            <a:endParaRPr lang="en-US" sz="1250" dirty="0"/>
          </a:p>
        </p:txBody>
      </p:sp>
      <p:sp>
        <p:nvSpPr>
          <p:cNvPr id="40" name="Shape 29"/>
          <p:cNvSpPr/>
          <p:nvPr/>
        </p:nvSpPr>
        <p:spPr>
          <a:xfrm>
            <a:off x="3474720" y="5175504"/>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41" name="Shape 30"/>
          <p:cNvSpPr/>
          <p:nvPr/>
        </p:nvSpPr>
        <p:spPr>
          <a:xfrm>
            <a:off x="4503420" y="5376672"/>
            <a:ext cx="548640" cy="548640"/>
          </a:xfrm>
          <a:prstGeom prst="ellipse">
            <a:avLst/>
          </a:prstGeom>
          <a:solidFill>
            <a:srgbClr val="0F1B3D"/>
          </a:solidFill>
          <a:ln/>
        </p:spPr>
      </p:sp>
      <p:pic>
        <p:nvPicPr>
          <p:cNvPr id="42" name="Image 9" descr="preencoded.png">    </p:cNvPr>
          <p:cNvPicPr>
            <a:picLocks noChangeAspect="1"/>
          </p:cNvPicPr>
          <p:nvPr/>
        </p:nvPicPr>
        <p:blipFill>
          <a:blip r:embed="rId10"/>
          <a:stretch>
            <a:fillRect/>
          </a:stretch>
        </p:blipFill>
        <p:spPr>
          <a:xfrm>
            <a:off x="4626864" y="5500116"/>
            <a:ext cx="301752" cy="301752"/>
          </a:xfrm>
          <a:prstGeom prst="rect">
            <a:avLst/>
          </a:prstGeom>
        </p:spPr>
      </p:pic>
      <p:sp>
        <p:nvSpPr>
          <p:cNvPr id="43" name="Text 31"/>
          <p:cNvSpPr/>
          <p:nvPr/>
        </p:nvSpPr>
        <p:spPr>
          <a:xfrm>
            <a:off x="3611880" y="6044184"/>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Atendimento Simultâneo</a:t>
            </a:r>
            <a:endParaRPr lang="en-US" sz="1250" dirty="0"/>
          </a:p>
        </p:txBody>
      </p:sp>
      <p:sp>
        <p:nvSpPr>
          <p:cNvPr id="44" name="Shape 32"/>
          <p:cNvSpPr/>
          <p:nvPr/>
        </p:nvSpPr>
        <p:spPr>
          <a:xfrm>
            <a:off x="6309360" y="5175504"/>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45" name="Shape 33"/>
          <p:cNvSpPr/>
          <p:nvPr/>
        </p:nvSpPr>
        <p:spPr>
          <a:xfrm>
            <a:off x="7338060" y="5376672"/>
            <a:ext cx="548640" cy="548640"/>
          </a:xfrm>
          <a:prstGeom prst="ellipse">
            <a:avLst/>
          </a:prstGeom>
          <a:solidFill>
            <a:srgbClr val="0F1B3D"/>
          </a:solidFill>
          <a:ln/>
        </p:spPr>
      </p:sp>
      <p:pic>
        <p:nvPicPr>
          <p:cNvPr id="46" name="Image 10" descr="preencoded.png">    </p:cNvPr>
          <p:cNvPicPr>
            <a:picLocks noChangeAspect="1"/>
          </p:cNvPicPr>
          <p:nvPr/>
        </p:nvPicPr>
        <p:blipFill>
          <a:blip r:embed="rId11"/>
          <a:stretch>
            <a:fillRect/>
          </a:stretch>
        </p:blipFill>
        <p:spPr>
          <a:xfrm>
            <a:off x="7461504" y="5500116"/>
            <a:ext cx="301752" cy="301752"/>
          </a:xfrm>
          <a:prstGeom prst="rect">
            <a:avLst/>
          </a:prstGeom>
        </p:spPr>
      </p:pic>
      <p:sp>
        <p:nvSpPr>
          <p:cNvPr id="47" name="Text 34"/>
          <p:cNvSpPr/>
          <p:nvPr/>
        </p:nvSpPr>
        <p:spPr>
          <a:xfrm>
            <a:off x="6446520" y="6044184"/>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Integração Comercial</a:t>
            </a:r>
            <a:endParaRPr lang="en-US" sz="1250" dirty="0"/>
          </a:p>
        </p:txBody>
      </p:sp>
      <p:sp>
        <p:nvSpPr>
          <p:cNvPr id="48" name="Shape 35"/>
          <p:cNvSpPr/>
          <p:nvPr/>
        </p:nvSpPr>
        <p:spPr>
          <a:xfrm>
            <a:off x="9144000" y="5175504"/>
            <a:ext cx="2606040" cy="1417320"/>
          </a:xfrm>
          <a:prstGeom prst="roundRect">
            <a:avLst>
              <a:gd name="adj" fmla="val 5161"/>
            </a:avLst>
          </a:prstGeom>
          <a:solidFill>
            <a:srgbClr val="EEF1F8"/>
          </a:solidFill>
          <a:ln/>
          <a:effectLst>
            <a:outerShdw sx="100000" sy="100000" kx="0" ky="0" algn="bl" rotWithShape="0" blurRad="127000" dist="38100" dir="5400000">
              <a:srgbClr val="0F1B3D">
                <a:alpha val="12000"/>
              </a:srgbClr>
            </a:outerShdw>
          </a:effectLst>
        </p:spPr>
      </p:sp>
      <p:sp>
        <p:nvSpPr>
          <p:cNvPr id="49" name="Shape 36"/>
          <p:cNvSpPr/>
          <p:nvPr/>
        </p:nvSpPr>
        <p:spPr>
          <a:xfrm>
            <a:off x="10172700" y="5376672"/>
            <a:ext cx="548640" cy="548640"/>
          </a:xfrm>
          <a:prstGeom prst="ellipse">
            <a:avLst/>
          </a:prstGeom>
          <a:solidFill>
            <a:srgbClr val="0F1B3D"/>
          </a:solidFill>
          <a:ln/>
        </p:spPr>
      </p:sp>
      <p:pic>
        <p:nvPicPr>
          <p:cNvPr id="50" name="Image 11" descr="preencoded.png">    </p:cNvPr>
          <p:cNvPicPr>
            <a:picLocks noChangeAspect="1"/>
          </p:cNvPicPr>
          <p:nvPr/>
        </p:nvPicPr>
        <p:blipFill>
          <a:blip r:embed="rId12"/>
          <a:stretch>
            <a:fillRect/>
          </a:stretch>
        </p:blipFill>
        <p:spPr>
          <a:xfrm>
            <a:off x="10296144" y="5500116"/>
            <a:ext cx="301752" cy="301752"/>
          </a:xfrm>
          <a:prstGeom prst="rect">
            <a:avLst/>
          </a:prstGeom>
        </p:spPr>
      </p:pic>
      <p:sp>
        <p:nvSpPr>
          <p:cNvPr id="51" name="Text 37"/>
          <p:cNvSpPr/>
          <p:nvPr/>
        </p:nvSpPr>
        <p:spPr>
          <a:xfrm>
            <a:off x="9281160" y="6044184"/>
            <a:ext cx="2331720" cy="502920"/>
          </a:xfrm>
          <a:prstGeom prst="rect">
            <a:avLst/>
          </a:prstGeom>
          <a:noFill/>
          <a:ln/>
        </p:spPr>
        <p:txBody>
          <a:bodyPr wrap="square" rtlCol="0" anchor="ctr"/>
          <a:lstStyle/>
          <a:p>
            <a:pPr algn="ctr" indent="0" marL="0">
              <a:lnSpc>
                <a:spcPct val="110000"/>
              </a:lnSpc>
              <a:buNone/>
            </a:pPr>
            <a:r>
              <a:rPr lang="en-US" sz="1250" b="1" dirty="0">
                <a:solidFill>
                  <a:srgbClr val="0F1B3D"/>
                </a:solidFill>
                <a:latin typeface="Calibri" pitchFamily="34" charset="0"/>
                <a:ea typeface="Calibri" pitchFamily="34" charset="-122"/>
                <a:cs typeface="Calibri" pitchFamily="34" charset="-120"/>
              </a:rPr>
              <a:t>Suporte Durante Todo o Evento</a:t>
            </a:r>
            <a:endParaRPr lang="en-US" sz="1250" dirty="0"/>
          </a:p>
        </p:txBody>
      </p:sp>
      <p:sp>
        <p:nvSpPr>
          <p:cNvPr id="52" name="Text 3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10</a:t>
            </a:r>
            <a:endParaRPr lang="en-US" sz="1000" dirty="0"/>
          </a:p>
        </p:txBody>
      </p:sp>
      <p:sp>
        <p:nvSpPr>
          <p:cNvPr id="53" name="Text 39"/>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INTELIGÊNCIA DE DADOS</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Painel de Business Intelligence</a:t>
            </a:r>
            <a:endParaRPr lang="en-US" sz="3000" dirty="0"/>
          </a:p>
        </p:txBody>
      </p:sp>
      <p:sp>
        <p:nvSpPr>
          <p:cNvPr id="4" name="Text 2"/>
          <p:cNvSpPr/>
          <p:nvPr/>
        </p:nvSpPr>
        <p:spPr>
          <a:xfrm>
            <a:off x="640080" y="1417320"/>
            <a:ext cx="10515600" cy="365760"/>
          </a:xfrm>
          <a:prstGeom prst="rect">
            <a:avLst/>
          </a:prstGeom>
          <a:noFill/>
          <a:ln/>
        </p:spPr>
        <p:txBody>
          <a:bodyPr wrap="square" rtlCol="0" anchor="ctr"/>
          <a:lstStyle/>
          <a:p>
            <a:pPr indent="0" marL="0">
              <a:buNone/>
            </a:pPr>
            <a:r>
              <a:rPr lang="en-US" sz="1400" i="1" dirty="0">
                <a:solidFill>
                  <a:srgbClr val="9AA3C0"/>
                </a:solidFill>
                <a:latin typeface="Calibri" pitchFamily="34" charset="0"/>
                <a:ea typeface="Calibri" pitchFamily="34" charset="-122"/>
                <a:cs typeface="Calibri" pitchFamily="34" charset="-120"/>
              </a:rPr>
              <a:t>Sua construtora acompanha a participação no Feirão em tempo real, com total transparência.</a:t>
            </a:r>
            <a:endParaRPr lang="en-US" sz="1400" dirty="0"/>
          </a:p>
        </p:txBody>
      </p:sp>
      <p:sp>
        <p:nvSpPr>
          <p:cNvPr id="5" name="Shape 3"/>
          <p:cNvSpPr/>
          <p:nvPr/>
        </p:nvSpPr>
        <p:spPr>
          <a:xfrm>
            <a:off x="640080" y="1965960"/>
            <a:ext cx="2606040" cy="1417320"/>
          </a:xfrm>
          <a:prstGeom prst="roundRect">
            <a:avLst>
              <a:gd name="adj" fmla="val 5161"/>
            </a:avLst>
          </a:prstGeom>
          <a:solidFill>
            <a:srgbClr val="16244F"/>
          </a:solidFill>
          <a:ln/>
        </p:spPr>
      </p:sp>
      <p:sp>
        <p:nvSpPr>
          <p:cNvPr id="6" name="Text 4"/>
          <p:cNvSpPr/>
          <p:nvPr/>
        </p:nvSpPr>
        <p:spPr>
          <a:xfrm>
            <a:off x="777240" y="2103120"/>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1.240+</a:t>
            </a:r>
            <a:endParaRPr lang="en-US" sz="2800" dirty="0"/>
          </a:p>
        </p:txBody>
      </p:sp>
      <p:sp>
        <p:nvSpPr>
          <p:cNvPr id="7" name="Text 5"/>
          <p:cNvSpPr/>
          <p:nvPr/>
        </p:nvSpPr>
        <p:spPr>
          <a:xfrm>
            <a:off x="777240" y="2807208"/>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Visitantes no estande virtual</a:t>
            </a:r>
            <a:endParaRPr lang="en-US" sz="1100" dirty="0"/>
          </a:p>
        </p:txBody>
      </p:sp>
      <p:sp>
        <p:nvSpPr>
          <p:cNvPr id="8" name="Shape 6"/>
          <p:cNvSpPr/>
          <p:nvPr/>
        </p:nvSpPr>
        <p:spPr>
          <a:xfrm>
            <a:off x="3474720" y="1965960"/>
            <a:ext cx="2606040" cy="1417320"/>
          </a:xfrm>
          <a:prstGeom prst="roundRect">
            <a:avLst>
              <a:gd name="adj" fmla="val 5161"/>
            </a:avLst>
          </a:prstGeom>
          <a:solidFill>
            <a:srgbClr val="16244F"/>
          </a:solidFill>
          <a:ln/>
        </p:spPr>
      </p:sp>
      <p:sp>
        <p:nvSpPr>
          <p:cNvPr id="9" name="Text 7"/>
          <p:cNvSpPr/>
          <p:nvPr/>
        </p:nvSpPr>
        <p:spPr>
          <a:xfrm>
            <a:off x="3611880" y="2103120"/>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380</a:t>
            </a:r>
            <a:endParaRPr lang="en-US" sz="2800" dirty="0"/>
          </a:p>
        </p:txBody>
      </p:sp>
      <p:sp>
        <p:nvSpPr>
          <p:cNvPr id="10" name="Text 8"/>
          <p:cNvSpPr/>
          <p:nvPr/>
        </p:nvSpPr>
        <p:spPr>
          <a:xfrm>
            <a:off x="3611880" y="2807208"/>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Leads captados</a:t>
            </a:r>
            <a:endParaRPr lang="en-US" sz="1100" dirty="0"/>
          </a:p>
        </p:txBody>
      </p:sp>
      <p:sp>
        <p:nvSpPr>
          <p:cNvPr id="11" name="Shape 9"/>
          <p:cNvSpPr/>
          <p:nvPr/>
        </p:nvSpPr>
        <p:spPr>
          <a:xfrm>
            <a:off x="6309360" y="1965960"/>
            <a:ext cx="2606040" cy="1417320"/>
          </a:xfrm>
          <a:prstGeom prst="roundRect">
            <a:avLst>
              <a:gd name="adj" fmla="val 5161"/>
            </a:avLst>
          </a:prstGeom>
          <a:solidFill>
            <a:srgbClr val="16244F"/>
          </a:solidFill>
          <a:ln/>
        </p:spPr>
      </p:sp>
      <p:sp>
        <p:nvSpPr>
          <p:cNvPr id="12" name="Text 10"/>
          <p:cNvSpPr/>
          <p:nvPr/>
        </p:nvSpPr>
        <p:spPr>
          <a:xfrm>
            <a:off x="6446520" y="2103120"/>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212</a:t>
            </a:r>
            <a:endParaRPr lang="en-US" sz="2800" dirty="0"/>
          </a:p>
        </p:txBody>
      </p:sp>
      <p:sp>
        <p:nvSpPr>
          <p:cNvPr id="13" name="Text 11"/>
          <p:cNvSpPr/>
          <p:nvPr/>
        </p:nvSpPr>
        <p:spPr>
          <a:xfrm>
            <a:off x="6446520" y="2807208"/>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Leads qualificados</a:t>
            </a:r>
            <a:endParaRPr lang="en-US" sz="1100" dirty="0"/>
          </a:p>
        </p:txBody>
      </p:sp>
      <p:sp>
        <p:nvSpPr>
          <p:cNvPr id="14" name="Shape 12"/>
          <p:cNvSpPr/>
          <p:nvPr/>
        </p:nvSpPr>
        <p:spPr>
          <a:xfrm>
            <a:off x="9144000" y="1965960"/>
            <a:ext cx="2606040" cy="1417320"/>
          </a:xfrm>
          <a:prstGeom prst="roundRect">
            <a:avLst>
              <a:gd name="adj" fmla="val 5161"/>
            </a:avLst>
          </a:prstGeom>
          <a:solidFill>
            <a:srgbClr val="16244F"/>
          </a:solidFill>
          <a:ln/>
        </p:spPr>
      </p:sp>
      <p:sp>
        <p:nvSpPr>
          <p:cNvPr id="15" name="Text 13"/>
          <p:cNvSpPr/>
          <p:nvPr/>
        </p:nvSpPr>
        <p:spPr>
          <a:xfrm>
            <a:off x="9281160" y="2103120"/>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158</a:t>
            </a:r>
            <a:endParaRPr lang="en-US" sz="2800" dirty="0"/>
          </a:p>
        </p:txBody>
      </p:sp>
      <p:sp>
        <p:nvSpPr>
          <p:cNvPr id="16" name="Text 14"/>
          <p:cNvSpPr/>
          <p:nvPr/>
        </p:nvSpPr>
        <p:spPr>
          <a:xfrm>
            <a:off x="9281160" y="2807208"/>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Simulações realizadas</a:t>
            </a:r>
            <a:endParaRPr lang="en-US" sz="1100" dirty="0"/>
          </a:p>
        </p:txBody>
      </p:sp>
      <p:sp>
        <p:nvSpPr>
          <p:cNvPr id="17" name="Shape 15"/>
          <p:cNvSpPr/>
          <p:nvPr/>
        </p:nvSpPr>
        <p:spPr>
          <a:xfrm>
            <a:off x="640080" y="3639312"/>
            <a:ext cx="2606040" cy="1417320"/>
          </a:xfrm>
          <a:prstGeom prst="roundRect">
            <a:avLst>
              <a:gd name="adj" fmla="val 5161"/>
            </a:avLst>
          </a:prstGeom>
          <a:solidFill>
            <a:srgbClr val="16244F"/>
          </a:solidFill>
          <a:ln/>
        </p:spPr>
      </p:sp>
      <p:sp>
        <p:nvSpPr>
          <p:cNvPr id="18" name="Text 16"/>
          <p:cNvSpPr/>
          <p:nvPr/>
        </p:nvSpPr>
        <p:spPr>
          <a:xfrm>
            <a:off x="777240" y="3776472"/>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96</a:t>
            </a:r>
            <a:endParaRPr lang="en-US" sz="2800" dirty="0"/>
          </a:p>
        </p:txBody>
      </p:sp>
      <p:sp>
        <p:nvSpPr>
          <p:cNvPr id="19" name="Text 17"/>
          <p:cNvSpPr/>
          <p:nvPr/>
        </p:nvSpPr>
        <p:spPr>
          <a:xfrm>
            <a:off x="777240" y="4480560"/>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Agendamentos</a:t>
            </a:r>
            <a:endParaRPr lang="en-US" sz="1100" dirty="0"/>
          </a:p>
        </p:txBody>
      </p:sp>
      <p:sp>
        <p:nvSpPr>
          <p:cNvPr id="20" name="Shape 18"/>
          <p:cNvSpPr/>
          <p:nvPr/>
        </p:nvSpPr>
        <p:spPr>
          <a:xfrm>
            <a:off x="3474720" y="3639312"/>
            <a:ext cx="2606040" cy="1417320"/>
          </a:xfrm>
          <a:prstGeom prst="roundRect">
            <a:avLst>
              <a:gd name="adj" fmla="val 5161"/>
            </a:avLst>
          </a:prstGeom>
          <a:solidFill>
            <a:srgbClr val="16244F"/>
          </a:solidFill>
          <a:ln/>
        </p:spPr>
      </p:sp>
      <p:sp>
        <p:nvSpPr>
          <p:cNvPr id="21" name="Text 19"/>
          <p:cNvSpPr/>
          <p:nvPr/>
        </p:nvSpPr>
        <p:spPr>
          <a:xfrm>
            <a:off x="3611880" y="3776472"/>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47</a:t>
            </a:r>
            <a:endParaRPr lang="en-US" sz="2800" dirty="0"/>
          </a:p>
        </p:txBody>
      </p:sp>
      <p:sp>
        <p:nvSpPr>
          <p:cNvPr id="22" name="Text 20"/>
          <p:cNvSpPr/>
          <p:nvPr/>
        </p:nvSpPr>
        <p:spPr>
          <a:xfrm>
            <a:off x="3611880" y="4480560"/>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Propostas em andamento</a:t>
            </a:r>
            <a:endParaRPr lang="en-US" sz="1100" dirty="0"/>
          </a:p>
        </p:txBody>
      </p:sp>
      <p:sp>
        <p:nvSpPr>
          <p:cNvPr id="23" name="Shape 21"/>
          <p:cNvSpPr/>
          <p:nvPr/>
        </p:nvSpPr>
        <p:spPr>
          <a:xfrm>
            <a:off x="6309360" y="3639312"/>
            <a:ext cx="2606040" cy="1417320"/>
          </a:xfrm>
          <a:prstGeom prst="roundRect">
            <a:avLst>
              <a:gd name="adj" fmla="val 5161"/>
            </a:avLst>
          </a:prstGeom>
          <a:solidFill>
            <a:srgbClr val="16244F"/>
          </a:solidFill>
          <a:ln/>
        </p:spPr>
      </p:sp>
      <p:sp>
        <p:nvSpPr>
          <p:cNvPr id="24" name="Text 22"/>
          <p:cNvSpPr/>
          <p:nvPr/>
        </p:nvSpPr>
        <p:spPr>
          <a:xfrm>
            <a:off x="6446520" y="3776472"/>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23</a:t>
            </a:r>
            <a:endParaRPr lang="en-US" sz="2800" dirty="0"/>
          </a:p>
        </p:txBody>
      </p:sp>
      <p:sp>
        <p:nvSpPr>
          <p:cNvPr id="25" name="Text 23"/>
          <p:cNvSpPr/>
          <p:nvPr/>
        </p:nvSpPr>
        <p:spPr>
          <a:xfrm>
            <a:off x="6446520" y="4480560"/>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Vendas concluídas</a:t>
            </a:r>
            <a:endParaRPr lang="en-US" sz="1100" dirty="0"/>
          </a:p>
        </p:txBody>
      </p:sp>
      <p:sp>
        <p:nvSpPr>
          <p:cNvPr id="26" name="Shape 24"/>
          <p:cNvSpPr/>
          <p:nvPr/>
        </p:nvSpPr>
        <p:spPr>
          <a:xfrm>
            <a:off x="9144000" y="3639312"/>
            <a:ext cx="2606040" cy="1417320"/>
          </a:xfrm>
          <a:prstGeom prst="roundRect">
            <a:avLst>
              <a:gd name="adj" fmla="val 5161"/>
            </a:avLst>
          </a:prstGeom>
          <a:solidFill>
            <a:srgbClr val="16244F"/>
          </a:solidFill>
          <a:ln/>
        </p:spPr>
      </p:sp>
      <p:sp>
        <p:nvSpPr>
          <p:cNvPr id="27" name="Text 25"/>
          <p:cNvSpPr/>
          <p:nvPr/>
        </p:nvSpPr>
        <p:spPr>
          <a:xfrm>
            <a:off x="9281160" y="3776472"/>
            <a:ext cx="2331720" cy="640080"/>
          </a:xfrm>
          <a:prstGeom prst="rect">
            <a:avLst/>
          </a:prstGeom>
          <a:noFill/>
          <a:ln/>
        </p:spPr>
        <p:txBody>
          <a:bodyPr wrap="square" rtlCol="0" anchor="ctr"/>
          <a:lstStyle/>
          <a:p>
            <a:pPr indent="0" marL="0">
              <a:buNone/>
            </a:pPr>
            <a:r>
              <a:rPr lang="en-US" sz="2800" b="1" dirty="0">
                <a:solidFill>
                  <a:srgbClr val="E8C766"/>
                </a:solidFill>
                <a:latin typeface="Cambria" pitchFamily="34" charset="0"/>
                <a:ea typeface="Cambria" pitchFamily="34" charset="-122"/>
                <a:cs typeface="Cambria" pitchFamily="34" charset="-120"/>
              </a:rPr>
              <a:t>9,8%</a:t>
            </a:r>
            <a:endParaRPr lang="en-US" sz="2800" dirty="0"/>
          </a:p>
        </p:txBody>
      </p:sp>
      <p:sp>
        <p:nvSpPr>
          <p:cNvPr id="28" name="Text 26"/>
          <p:cNvSpPr/>
          <p:nvPr/>
        </p:nvSpPr>
        <p:spPr>
          <a:xfrm>
            <a:off x="9281160" y="4480560"/>
            <a:ext cx="2331720" cy="502920"/>
          </a:xfrm>
          <a:prstGeom prst="rect">
            <a:avLst/>
          </a:prstGeom>
          <a:noFill/>
          <a:ln/>
        </p:spPr>
        <p:txBody>
          <a:bodyPr wrap="square" rtlCol="0" anchor="ctr"/>
          <a:lstStyle/>
          <a:p>
            <a:pPr indent="0" marL="0">
              <a:lnSpc>
                <a:spcPct val="110000"/>
              </a:lnSpc>
              <a:buNone/>
            </a:pPr>
            <a:r>
              <a:rPr lang="en-US" sz="1100" dirty="0">
                <a:solidFill>
                  <a:srgbClr val="9AA3C0"/>
                </a:solidFill>
                <a:latin typeface="Calibri" pitchFamily="34" charset="0"/>
                <a:ea typeface="Calibri" pitchFamily="34" charset="-122"/>
                <a:cs typeface="Calibri" pitchFamily="34" charset="-120"/>
              </a:rPr>
              <a:t>Taxa de conversão</a:t>
            </a:r>
            <a:endParaRPr lang="en-US" sz="1100" dirty="0"/>
          </a:p>
        </p:txBody>
      </p:sp>
      <p:sp>
        <p:nvSpPr>
          <p:cNvPr id="29" name="Text 27"/>
          <p:cNvSpPr/>
          <p:nvPr/>
        </p:nvSpPr>
        <p:spPr>
          <a:xfrm>
            <a:off x="640080" y="5385816"/>
            <a:ext cx="10881360" cy="457200"/>
          </a:xfrm>
          <a:prstGeom prst="rect">
            <a:avLst/>
          </a:prstGeom>
          <a:noFill/>
          <a:ln/>
        </p:spPr>
        <p:txBody>
          <a:bodyPr wrap="square" rtlCol="0" anchor="ctr"/>
          <a:lstStyle/>
          <a:p>
            <a:pPr indent="0" marL="0">
              <a:buNone/>
            </a:pPr>
            <a:r>
              <a:rPr lang="en-US" sz="1000" i="1" dirty="0">
                <a:solidFill>
                  <a:srgbClr val="9AA3C0"/>
                </a:solidFill>
                <a:latin typeface="Calibri" pitchFamily="34" charset="0"/>
                <a:ea typeface="Calibri" pitchFamily="34" charset="-122"/>
                <a:cs typeface="Calibri" pitchFamily="34" charset="-120"/>
              </a:rPr>
              <a:t>* Indicadores meramente ilustrativos — o dashboard real exibirá dados ao vivo durante o evento, também segmentados por empreendimentos mais acessados e horários de maior tráfego.</a:t>
            </a:r>
            <a:endParaRPr lang="en-US" sz="1000" dirty="0"/>
          </a:p>
        </p:txBody>
      </p:sp>
      <p:sp>
        <p:nvSpPr>
          <p:cNvPr id="30" name="Text 2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11</a:t>
            </a:r>
            <a:endParaRPr lang="en-US" sz="1000" dirty="0"/>
          </a:p>
        </p:txBody>
      </p:sp>
      <p:sp>
        <p:nvSpPr>
          <p:cNvPr id="31" name="Text 29"/>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IMPACTO PARA O PARCEIRO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0F1B3D"/>
                </a:solidFill>
                <a:latin typeface="Cambria" pitchFamily="34" charset="0"/>
                <a:ea typeface="Cambria" pitchFamily="34" charset="-122"/>
                <a:cs typeface="Cambria" pitchFamily="34" charset="-120"/>
              </a:rPr>
              <a:t>Resultados Esperados</a:t>
            </a:r>
            <a:endParaRPr lang="en-US" sz="3000" dirty="0"/>
          </a:p>
        </p:txBody>
      </p:sp>
      <p:sp>
        <p:nvSpPr>
          <p:cNvPr id="4" name="Shape 2"/>
          <p:cNvSpPr/>
          <p:nvPr/>
        </p:nvSpPr>
        <p:spPr>
          <a:xfrm>
            <a:off x="640080" y="1783080"/>
            <a:ext cx="384048" cy="384048"/>
          </a:xfrm>
          <a:prstGeom prst="ellipse">
            <a:avLst/>
          </a:prstGeom>
          <a:solidFill>
            <a:srgbClr val="EEF1F8"/>
          </a:solidFill>
          <a:ln/>
        </p:spPr>
      </p:sp>
      <p:pic>
        <p:nvPicPr>
          <p:cNvPr id="5" name="Image 0" descr="preencoded.png">    </p:cNvPr>
          <p:cNvPicPr>
            <a:picLocks noChangeAspect="1"/>
          </p:cNvPicPr>
          <p:nvPr/>
        </p:nvPicPr>
        <p:blipFill>
          <a:blip r:embed="rId1"/>
          <a:stretch>
            <a:fillRect/>
          </a:stretch>
        </p:blipFill>
        <p:spPr>
          <a:xfrm>
            <a:off x="720730" y="1863730"/>
            <a:ext cx="222748" cy="222748"/>
          </a:xfrm>
          <a:prstGeom prst="rect">
            <a:avLst/>
          </a:prstGeom>
        </p:spPr>
      </p:pic>
      <p:sp>
        <p:nvSpPr>
          <p:cNvPr id="6" name="Text 3"/>
          <p:cNvSpPr/>
          <p:nvPr/>
        </p:nvSpPr>
        <p:spPr>
          <a:xfrm>
            <a:off x="1143000" y="1764792"/>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Maior geração de oportunidades</a:t>
            </a:r>
            <a:endParaRPr lang="en-US" sz="1350" dirty="0"/>
          </a:p>
        </p:txBody>
      </p:sp>
      <p:sp>
        <p:nvSpPr>
          <p:cNvPr id="7" name="Shape 4"/>
          <p:cNvSpPr/>
          <p:nvPr/>
        </p:nvSpPr>
        <p:spPr>
          <a:xfrm>
            <a:off x="6035040" y="1783080"/>
            <a:ext cx="384048" cy="384048"/>
          </a:xfrm>
          <a:prstGeom prst="ellipse">
            <a:avLst/>
          </a:prstGeom>
          <a:solidFill>
            <a:srgbClr val="EEF1F8"/>
          </a:solidFill>
          <a:ln/>
        </p:spPr>
      </p:sp>
      <p:pic>
        <p:nvPicPr>
          <p:cNvPr id="8" name="Image 1" descr="preencoded.png">    </p:cNvPr>
          <p:cNvPicPr>
            <a:picLocks noChangeAspect="1"/>
          </p:cNvPicPr>
          <p:nvPr/>
        </p:nvPicPr>
        <p:blipFill>
          <a:blip r:embed="rId2"/>
          <a:stretch>
            <a:fillRect/>
          </a:stretch>
        </p:blipFill>
        <p:spPr>
          <a:xfrm>
            <a:off x="6115690" y="1863730"/>
            <a:ext cx="222748" cy="222748"/>
          </a:xfrm>
          <a:prstGeom prst="rect">
            <a:avLst/>
          </a:prstGeom>
        </p:spPr>
      </p:pic>
      <p:sp>
        <p:nvSpPr>
          <p:cNvPr id="9" name="Text 5"/>
          <p:cNvSpPr/>
          <p:nvPr/>
        </p:nvSpPr>
        <p:spPr>
          <a:xfrm>
            <a:off x="6537960" y="1764792"/>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Maior volume de atendimentos</a:t>
            </a:r>
            <a:endParaRPr lang="en-US" sz="1350" dirty="0"/>
          </a:p>
        </p:txBody>
      </p:sp>
      <p:sp>
        <p:nvSpPr>
          <p:cNvPr id="10" name="Shape 6"/>
          <p:cNvSpPr/>
          <p:nvPr/>
        </p:nvSpPr>
        <p:spPr>
          <a:xfrm>
            <a:off x="640080" y="2441448"/>
            <a:ext cx="384048" cy="384048"/>
          </a:xfrm>
          <a:prstGeom prst="ellipse">
            <a:avLst/>
          </a:prstGeom>
          <a:solidFill>
            <a:srgbClr val="EEF1F8"/>
          </a:solidFill>
          <a:ln/>
        </p:spPr>
      </p:sp>
      <p:pic>
        <p:nvPicPr>
          <p:cNvPr id="11" name="Image 2" descr="preencoded.png">    </p:cNvPr>
          <p:cNvPicPr>
            <a:picLocks noChangeAspect="1"/>
          </p:cNvPicPr>
          <p:nvPr/>
        </p:nvPicPr>
        <p:blipFill>
          <a:blip r:embed="rId3"/>
          <a:stretch>
            <a:fillRect/>
          </a:stretch>
        </p:blipFill>
        <p:spPr>
          <a:xfrm>
            <a:off x="720730" y="2522098"/>
            <a:ext cx="222748" cy="222748"/>
          </a:xfrm>
          <a:prstGeom prst="rect">
            <a:avLst/>
          </a:prstGeom>
        </p:spPr>
      </p:pic>
      <p:sp>
        <p:nvSpPr>
          <p:cNvPr id="12" name="Text 7"/>
          <p:cNvSpPr/>
          <p:nvPr/>
        </p:nvSpPr>
        <p:spPr>
          <a:xfrm>
            <a:off x="1143000" y="2423160"/>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Maior velocidade comercial</a:t>
            </a:r>
            <a:endParaRPr lang="en-US" sz="1350" dirty="0"/>
          </a:p>
        </p:txBody>
      </p:sp>
      <p:sp>
        <p:nvSpPr>
          <p:cNvPr id="13" name="Shape 8"/>
          <p:cNvSpPr/>
          <p:nvPr/>
        </p:nvSpPr>
        <p:spPr>
          <a:xfrm>
            <a:off x="6035040" y="2441448"/>
            <a:ext cx="384048" cy="384048"/>
          </a:xfrm>
          <a:prstGeom prst="ellipse">
            <a:avLst/>
          </a:prstGeom>
          <a:solidFill>
            <a:srgbClr val="EEF1F8"/>
          </a:solidFill>
          <a:ln/>
        </p:spPr>
      </p:sp>
      <p:pic>
        <p:nvPicPr>
          <p:cNvPr id="14" name="Image 3" descr="preencoded.png">    </p:cNvPr>
          <p:cNvPicPr>
            <a:picLocks noChangeAspect="1"/>
          </p:cNvPicPr>
          <p:nvPr/>
        </p:nvPicPr>
        <p:blipFill>
          <a:blip r:embed="rId4"/>
          <a:stretch>
            <a:fillRect/>
          </a:stretch>
        </p:blipFill>
        <p:spPr>
          <a:xfrm>
            <a:off x="6115690" y="2522098"/>
            <a:ext cx="222748" cy="222748"/>
          </a:xfrm>
          <a:prstGeom prst="rect">
            <a:avLst/>
          </a:prstGeom>
        </p:spPr>
      </p:pic>
      <p:sp>
        <p:nvSpPr>
          <p:cNvPr id="15" name="Text 9"/>
          <p:cNvSpPr/>
          <p:nvPr/>
        </p:nvSpPr>
        <p:spPr>
          <a:xfrm>
            <a:off x="6537960" y="2423160"/>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Maior visibilidade dos empreendimentos</a:t>
            </a:r>
            <a:endParaRPr lang="en-US" sz="1350" dirty="0"/>
          </a:p>
        </p:txBody>
      </p:sp>
      <p:sp>
        <p:nvSpPr>
          <p:cNvPr id="16" name="Shape 10"/>
          <p:cNvSpPr/>
          <p:nvPr/>
        </p:nvSpPr>
        <p:spPr>
          <a:xfrm>
            <a:off x="640080" y="3099816"/>
            <a:ext cx="384048" cy="384048"/>
          </a:xfrm>
          <a:prstGeom prst="ellipse">
            <a:avLst/>
          </a:prstGeom>
          <a:solidFill>
            <a:srgbClr val="EEF1F8"/>
          </a:solidFill>
          <a:ln/>
        </p:spPr>
      </p:sp>
      <p:pic>
        <p:nvPicPr>
          <p:cNvPr id="17" name="Image 4" descr="preencoded.png">    </p:cNvPr>
          <p:cNvPicPr>
            <a:picLocks noChangeAspect="1"/>
          </p:cNvPicPr>
          <p:nvPr/>
        </p:nvPicPr>
        <p:blipFill>
          <a:blip r:embed="rId5"/>
          <a:stretch>
            <a:fillRect/>
          </a:stretch>
        </p:blipFill>
        <p:spPr>
          <a:xfrm>
            <a:off x="720730" y="3180466"/>
            <a:ext cx="222748" cy="222748"/>
          </a:xfrm>
          <a:prstGeom prst="rect">
            <a:avLst/>
          </a:prstGeom>
        </p:spPr>
      </p:pic>
      <p:sp>
        <p:nvSpPr>
          <p:cNvPr id="18" name="Text 11"/>
          <p:cNvSpPr/>
          <p:nvPr/>
        </p:nvSpPr>
        <p:spPr>
          <a:xfrm>
            <a:off x="1143000" y="3081528"/>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Maior aproximação com clientes qualificados</a:t>
            </a:r>
            <a:endParaRPr lang="en-US" sz="1350" dirty="0"/>
          </a:p>
        </p:txBody>
      </p:sp>
      <p:sp>
        <p:nvSpPr>
          <p:cNvPr id="19" name="Shape 12"/>
          <p:cNvSpPr/>
          <p:nvPr/>
        </p:nvSpPr>
        <p:spPr>
          <a:xfrm>
            <a:off x="6035040" y="3099816"/>
            <a:ext cx="384048" cy="384048"/>
          </a:xfrm>
          <a:prstGeom prst="ellipse">
            <a:avLst/>
          </a:prstGeom>
          <a:solidFill>
            <a:srgbClr val="EEF1F8"/>
          </a:solidFill>
          <a:ln/>
        </p:spPr>
      </p:sp>
      <p:pic>
        <p:nvPicPr>
          <p:cNvPr id="20" name="Image 5" descr="preencoded.png">    </p:cNvPr>
          <p:cNvPicPr>
            <a:picLocks noChangeAspect="1"/>
          </p:cNvPicPr>
          <p:nvPr/>
        </p:nvPicPr>
        <p:blipFill>
          <a:blip r:embed="rId6"/>
          <a:stretch>
            <a:fillRect/>
          </a:stretch>
        </p:blipFill>
        <p:spPr>
          <a:xfrm>
            <a:off x="6115690" y="3180466"/>
            <a:ext cx="222748" cy="222748"/>
          </a:xfrm>
          <a:prstGeom prst="rect">
            <a:avLst/>
          </a:prstGeom>
        </p:spPr>
      </p:pic>
      <p:sp>
        <p:nvSpPr>
          <p:cNvPr id="21" name="Text 13"/>
          <p:cNvSpPr/>
          <p:nvPr/>
        </p:nvSpPr>
        <p:spPr>
          <a:xfrm>
            <a:off x="6537960" y="3081528"/>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Fortalecimento da marca</a:t>
            </a:r>
            <a:endParaRPr lang="en-US" sz="1350" dirty="0"/>
          </a:p>
        </p:txBody>
      </p:sp>
      <p:sp>
        <p:nvSpPr>
          <p:cNvPr id="22" name="Shape 14"/>
          <p:cNvSpPr/>
          <p:nvPr/>
        </p:nvSpPr>
        <p:spPr>
          <a:xfrm>
            <a:off x="640080" y="3758184"/>
            <a:ext cx="384048" cy="384048"/>
          </a:xfrm>
          <a:prstGeom prst="ellipse">
            <a:avLst/>
          </a:prstGeom>
          <a:solidFill>
            <a:srgbClr val="EEF1F8"/>
          </a:solidFill>
          <a:ln/>
        </p:spPr>
      </p:sp>
      <p:pic>
        <p:nvPicPr>
          <p:cNvPr id="23" name="Image 6" descr="preencoded.png">    </p:cNvPr>
          <p:cNvPicPr>
            <a:picLocks noChangeAspect="1"/>
          </p:cNvPicPr>
          <p:nvPr/>
        </p:nvPicPr>
        <p:blipFill>
          <a:blip r:embed="rId7"/>
          <a:stretch>
            <a:fillRect/>
          </a:stretch>
        </p:blipFill>
        <p:spPr>
          <a:xfrm>
            <a:off x="720730" y="3838834"/>
            <a:ext cx="222748" cy="222748"/>
          </a:xfrm>
          <a:prstGeom prst="rect">
            <a:avLst/>
          </a:prstGeom>
        </p:spPr>
      </p:pic>
      <p:sp>
        <p:nvSpPr>
          <p:cNvPr id="24" name="Text 15"/>
          <p:cNvSpPr/>
          <p:nvPr/>
        </p:nvSpPr>
        <p:spPr>
          <a:xfrm>
            <a:off x="1143000" y="3739896"/>
            <a:ext cx="4572000" cy="438912"/>
          </a:xfrm>
          <a:prstGeom prst="rect">
            <a:avLst/>
          </a:prstGeom>
          <a:noFill/>
          <a:ln/>
        </p:spPr>
        <p:txBody>
          <a:bodyPr wrap="square" rtlCol="0" anchor="ctr"/>
          <a:lstStyle/>
          <a:p>
            <a:pPr indent="0" marL="0">
              <a:buNone/>
            </a:pPr>
            <a:r>
              <a:rPr lang="en-US" sz="1350" b="1" dirty="0">
                <a:solidFill>
                  <a:srgbClr val="1A2140"/>
                </a:solidFill>
                <a:latin typeface="Calibri" pitchFamily="34" charset="0"/>
                <a:ea typeface="Calibri" pitchFamily="34" charset="-122"/>
                <a:cs typeface="Calibri" pitchFamily="34" charset="-120"/>
              </a:rPr>
              <a:t>Relacionamento de longo prazo</a:t>
            </a:r>
            <a:endParaRPr lang="en-US" sz="1350" dirty="0"/>
          </a:p>
        </p:txBody>
      </p:sp>
      <p:sp>
        <p:nvSpPr>
          <p:cNvPr id="25" name="Text 16"/>
          <p:cNvSpPr/>
          <p:nvPr/>
        </p:nvSpPr>
        <p:spPr>
          <a:xfrm>
            <a:off x="640080" y="4983480"/>
            <a:ext cx="5486400"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CICLO DE VALOR</a:t>
            </a:r>
            <a:endParaRPr lang="en-US" sz="1200" dirty="0"/>
          </a:p>
        </p:txBody>
      </p:sp>
      <p:sp>
        <p:nvSpPr>
          <p:cNvPr id="26" name="Shape 17"/>
          <p:cNvSpPr/>
          <p:nvPr/>
        </p:nvSpPr>
        <p:spPr>
          <a:xfrm>
            <a:off x="640080" y="5349240"/>
            <a:ext cx="1737360" cy="960120"/>
          </a:xfrm>
          <a:prstGeom prst="roundRect">
            <a:avLst>
              <a:gd name="adj" fmla="val 47619"/>
            </a:avLst>
          </a:prstGeom>
          <a:solidFill>
            <a:srgbClr val="0F1B3D"/>
          </a:solidFill>
          <a:ln/>
        </p:spPr>
      </p:sp>
      <p:sp>
        <p:nvSpPr>
          <p:cNvPr id="27" name="Text 18"/>
          <p:cNvSpPr/>
          <p:nvPr/>
        </p:nvSpPr>
        <p:spPr>
          <a:xfrm>
            <a:off x="685800" y="5349240"/>
            <a:ext cx="164592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Investimento</a:t>
            </a:r>
            <a:endParaRPr lang="en-US" sz="1200" dirty="0"/>
          </a:p>
        </p:txBody>
      </p:sp>
      <p:sp>
        <p:nvSpPr>
          <p:cNvPr id="28" name="Shape 19"/>
          <p:cNvSpPr/>
          <p:nvPr/>
        </p:nvSpPr>
        <p:spPr>
          <a:xfrm>
            <a:off x="2487168" y="5349240"/>
            <a:ext cx="1737360" cy="960120"/>
          </a:xfrm>
          <a:prstGeom prst="roundRect">
            <a:avLst>
              <a:gd name="adj" fmla="val 47619"/>
            </a:avLst>
          </a:prstGeom>
          <a:solidFill>
            <a:srgbClr val="0F1B3D"/>
          </a:solidFill>
          <a:ln/>
        </p:spPr>
      </p:sp>
      <p:sp>
        <p:nvSpPr>
          <p:cNvPr id="29" name="Text 20"/>
          <p:cNvSpPr/>
          <p:nvPr/>
        </p:nvSpPr>
        <p:spPr>
          <a:xfrm>
            <a:off x="2532888" y="5349240"/>
            <a:ext cx="164592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Divulgação</a:t>
            </a:r>
            <a:endParaRPr lang="en-US" sz="1200" dirty="0"/>
          </a:p>
        </p:txBody>
      </p:sp>
      <p:sp>
        <p:nvSpPr>
          <p:cNvPr id="30" name="Shape 21"/>
          <p:cNvSpPr/>
          <p:nvPr/>
        </p:nvSpPr>
        <p:spPr>
          <a:xfrm>
            <a:off x="4334256" y="5349240"/>
            <a:ext cx="1737360" cy="960120"/>
          </a:xfrm>
          <a:prstGeom prst="roundRect">
            <a:avLst>
              <a:gd name="adj" fmla="val 47619"/>
            </a:avLst>
          </a:prstGeom>
          <a:solidFill>
            <a:srgbClr val="0F1B3D"/>
          </a:solidFill>
          <a:ln/>
        </p:spPr>
      </p:sp>
      <p:sp>
        <p:nvSpPr>
          <p:cNvPr id="31" name="Text 22"/>
          <p:cNvSpPr/>
          <p:nvPr/>
        </p:nvSpPr>
        <p:spPr>
          <a:xfrm>
            <a:off x="4379976" y="5349240"/>
            <a:ext cx="164592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Leads</a:t>
            </a:r>
            <a:endParaRPr lang="en-US" sz="1200" dirty="0"/>
          </a:p>
        </p:txBody>
      </p:sp>
      <p:sp>
        <p:nvSpPr>
          <p:cNvPr id="32" name="Shape 23"/>
          <p:cNvSpPr/>
          <p:nvPr/>
        </p:nvSpPr>
        <p:spPr>
          <a:xfrm>
            <a:off x="6181344" y="5349240"/>
            <a:ext cx="1737360" cy="960120"/>
          </a:xfrm>
          <a:prstGeom prst="roundRect">
            <a:avLst>
              <a:gd name="adj" fmla="val 47619"/>
            </a:avLst>
          </a:prstGeom>
          <a:solidFill>
            <a:srgbClr val="0F1B3D"/>
          </a:solidFill>
          <a:ln/>
        </p:spPr>
      </p:sp>
      <p:sp>
        <p:nvSpPr>
          <p:cNvPr id="33" name="Text 24"/>
          <p:cNvSpPr/>
          <p:nvPr/>
        </p:nvSpPr>
        <p:spPr>
          <a:xfrm>
            <a:off x="6227064" y="5349240"/>
            <a:ext cx="164592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Atendimento</a:t>
            </a:r>
            <a:endParaRPr lang="en-US" sz="1200" dirty="0"/>
          </a:p>
        </p:txBody>
      </p:sp>
      <p:sp>
        <p:nvSpPr>
          <p:cNvPr id="34" name="Shape 25"/>
          <p:cNvSpPr/>
          <p:nvPr/>
        </p:nvSpPr>
        <p:spPr>
          <a:xfrm>
            <a:off x="8028432" y="5349240"/>
            <a:ext cx="1737360" cy="960120"/>
          </a:xfrm>
          <a:prstGeom prst="roundRect">
            <a:avLst>
              <a:gd name="adj" fmla="val 47619"/>
            </a:avLst>
          </a:prstGeom>
          <a:solidFill>
            <a:srgbClr val="0F1B3D"/>
          </a:solidFill>
          <a:ln/>
        </p:spPr>
      </p:sp>
      <p:sp>
        <p:nvSpPr>
          <p:cNvPr id="35" name="Text 26"/>
          <p:cNvSpPr/>
          <p:nvPr/>
        </p:nvSpPr>
        <p:spPr>
          <a:xfrm>
            <a:off x="8074152" y="5349240"/>
            <a:ext cx="164592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Vendas</a:t>
            </a:r>
            <a:endParaRPr lang="en-US" sz="1200" dirty="0"/>
          </a:p>
        </p:txBody>
      </p:sp>
      <p:sp>
        <p:nvSpPr>
          <p:cNvPr id="36" name="Shape 27"/>
          <p:cNvSpPr/>
          <p:nvPr/>
        </p:nvSpPr>
        <p:spPr>
          <a:xfrm>
            <a:off x="9875520" y="5349240"/>
            <a:ext cx="1737360" cy="960120"/>
          </a:xfrm>
          <a:prstGeom prst="roundRect">
            <a:avLst>
              <a:gd name="adj" fmla="val 47619"/>
            </a:avLst>
          </a:prstGeom>
          <a:solidFill>
            <a:srgbClr val="C9A227"/>
          </a:solidFill>
          <a:ln/>
        </p:spPr>
      </p:sp>
      <p:sp>
        <p:nvSpPr>
          <p:cNvPr id="37" name="Text 28"/>
          <p:cNvSpPr/>
          <p:nvPr/>
        </p:nvSpPr>
        <p:spPr>
          <a:xfrm>
            <a:off x="9921240" y="5349240"/>
            <a:ext cx="1645920" cy="960120"/>
          </a:xfrm>
          <a:prstGeom prst="rect">
            <a:avLst/>
          </a:prstGeom>
          <a:noFill/>
          <a:ln/>
        </p:spPr>
        <p:txBody>
          <a:bodyPr wrap="square" rtlCol="0" anchor="ctr"/>
          <a:lstStyle/>
          <a:p>
            <a:pPr algn="ctr" indent="0" marL="0">
              <a:buNone/>
            </a:pPr>
            <a:r>
              <a:rPr lang="en-US" sz="1200" b="1" dirty="0">
                <a:solidFill>
                  <a:srgbClr val="0F1B3D"/>
                </a:solidFill>
                <a:latin typeface="Calibri" pitchFamily="34" charset="0"/>
                <a:ea typeface="Calibri" pitchFamily="34" charset="-122"/>
                <a:cs typeface="Calibri" pitchFamily="34" charset="-120"/>
              </a:rPr>
              <a:t>Fidelização</a:t>
            </a:r>
            <a:endParaRPr lang="en-US" sz="1200" dirty="0"/>
          </a:p>
        </p:txBody>
      </p:sp>
      <p:sp>
        <p:nvSpPr>
          <p:cNvPr id="38" name="Text 29"/>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12</a:t>
            </a:r>
            <a:endParaRPr lang="en-US" sz="1000" dirty="0"/>
          </a:p>
        </p:txBody>
      </p:sp>
      <p:sp>
        <p:nvSpPr>
          <p:cNvPr id="39" name="Text 30"/>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LINHA DO TEMPO</a:t>
            </a:r>
            <a:endParaRPr lang="en-US" sz="1200" dirty="0"/>
          </a:p>
        </p:txBody>
      </p:sp>
      <p:sp>
        <p:nvSpPr>
          <p:cNvPr id="3" name="Text 1"/>
          <p:cNvSpPr/>
          <p:nvPr/>
        </p:nvSpPr>
        <p:spPr>
          <a:xfrm>
            <a:off x="640080" y="713232"/>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Cronograma</a:t>
            </a:r>
            <a:endParaRPr lang="en-US" sz="3000" dirty="0"/>
          </a:p>
        </p:txBody>
      </p:sp>
      <p:sp>
        <p:nvSpPr>
          <p:cNvPr id="4" name="Shape 2"/>
          <p:cNvSpPr/>
          <p:nvPr/>
        </p:nvSpPr>
        <p:spPr>
          <a:xfrm>
            <a:off x="822960" y="3566160"/>
            <a:ext cx="10515600" cy="0"/>
          </a:xfrm>
          <a:prstGeom prst="line">
            <a:avLst/>
          </a:prstGeom>
          <a:noFill/>
          <a:ln w="38100">
            <a:solidFill>
              <a:srgbClr val="1E2C5C"/>
            </a:solidFill>
            <a:prstDash val="solid"/>
          </a:ln>
        </p:spPr>
      </p:sp>
      <p:sp>
        <p:nvSpPr>
          <p:cNvPr id="5" name="Shape 3"/>
          <p:cNvSpPr/>
          <p:nvPr/>
        </p:nvSpPr>
        <p:spPr>
          <a:xfrm>
            <a:off x="694944" y="3438144"/>
            <a:ext cx="256032" cy="256032"/>
          </a:xfrm>
          <a:prstGeom prst="ellipse">
            <a:avLst/>
          </a:prstGeom>
          <a:solidFill>
            <a:srgbClr val="FFFFFF"/>
          </a:solidFill>
          <a:ln w="25400">
            <a:solidFill>
              <a:srgbClr val="0F1B3D"/>
            </a:solidFill>
            <a:prstDash val="solid"/>
          </a:ln>
        </p:spPr>
      </p:sp>
      <p:sp>
        <p:nvSpPr>
          <p:cNvPr id="6" name="Shape 4"/>
          <p:cNvSpPr/>
          <p:nvPr/>
        </p:nvSpPr>
        <p:spPr>
          <a:xfrm>
            <a:off x="822960" y="3246120"/>
            <a:ext cx="0" cy="320040"/>
          </a:xfrm>
          <a:prstGeom prst="line">
            <a:avLst/>
          </a:prstGeom>
          <a:noFill/>
          <a:ln w="19050">
            <a:solidFill>
              <a:srgbClr val="1E2C5C"/>
            </a:solidFill>
            <a:prstDash val="dash"/>
          </a:ln>
        </p:spPr>
      </p:sp>
      <p:sp>
        <p:nvSpPr>
          <p:cNvPr id="7" name="Shape 5"/>
          <p:cNvSpPr/>
          <p:nvPr/>
        </p:nvSpPr>
        <p:spPr>
          <a:xfrm>
            <a:off x="-137160" y="2148840"/>
            <a:ext cx="1920240" cy="1051560"/>
          </a:xfrm>
          <a:prstGeom prst="roundRect">
            <a:avLst>
              <a:gd name="adj" fmla="val 6087"/>
            </a:avLst>
          </a:prstGeom>
          <a:solidFill>
            <a:srgbClr val="16244F"/>
          </a:solidFill>
          <a:ln/>
        </p:spPr>
      </p:sp>
      <p:sp>
        <p:nvSpPr>
          <p:cNvPr id="8" name="Text 6"/>
          <p:cNvSpPr/>
          <p:nvPr/>
        </p:nvSpPr>
        <p:spPr>
          <a:xfrm>
            <a:off x="-91440" y="2258568"/>
            <a:ext cx="1828800" cy="320040"/>
          </a:xfrm>
          <a:prstGeom prst="rect">
            <a:avLst/>
          </a:prstGeom>
          <a:noFill/>
          <a:ln/>
        </p:spPr>
        <p:txBody>
          <a:bodyPr wrap="square" rtlCol="0" anchor="ctr"/>
          <a:lstStyle/>
          <a:p>
            <a:pPr algn="ctr" indent="0" marL="0">
              <a:buNone/>
            </a:pPr>
            <a:r>
              <a:rPr lang="en-US" sz="1100" b="1" spc="50" kern="0" dirty="0">
                <a:solidFill>
                  <a:srgbClr val="E8C766"/>
                </a:solidFill>
                <a:latin typeface="Calibri" pitchFamily="34" charset="0"/>
                <a:ea typeface="Calibri" pitchFamily="34" charset="-122"/>
                <a:cs typeface="Calibri" pitchFamily="34" charset="-120"/>
              </a:rPr>
              <a:t>05 DE JULHO</a:t>
            </a:r>
            <a:endParaRPr lang="en-US" sz="1100" dirty="0"/>
          </a:p>
        </p:txBody>
      </p:sp>
      <p:sp>
        <p:nvSpPr>
          <p:cNvPr id="9" name="Text 7"/>
          <p:cNvSpPr/>
          <p:nvPr/>
        </p:nvSpPr>
        <p:spPr>
          <a:xfrm>
            <a:off x="-91440" y="2587752"/>
            <a:ext cx="1828800" cy="54864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Abertura do pré-cadastro</a:t>
            </a:r>
            <a:endParaRPr lang="en-US" sz="1050" dirty="0"/>
          </a:p>
        </p:txBody>
      </p:sp>
      <p:sp>
        <p:nvSpPr>
          <p:cNvPr id="10" name="Shape 8"/>
          <p:cNvSpPr/>
          <p:nvPr/>
        </p:nvSpPr>
        <p:spPr>
          <a:xfrm>
            <a:off x="3323844" y="3438144"/>
            <a:ext cx="256032" cy="256032"/>
          </a:xfrm>
          <a:prstGeom prst="ellipse">
            <a:avLst/>
          </a:prstGeom>
          <a:solidFill>
            <a:srgbClr val="FFFFFF"/>
          </a:solidFill>
          <a:ln w="25400">
            <a:solidFill>
              <a:srgbClr val="0F1B3D"/>
            </a:solidFill>
            <a:prstDash val="solid"/>
          </a:ln>
        </p:spPr>
      </p:sp>
      <p:sp>
        <p:nvSpPr>
          <p:cNvPr id="11" name="Shape 9"/>
          <p:cNvSpPr/>
          <p:nvPr/>
        </p:nvSpPr>
        <p:spPr>
          <a:xfrm>
            <a:off x="3451860" y="3694176"/>
            <a:ext cx="0" cy="192024"/>
          </a:xfrm>
          <a:prstGeom prst="line">
            <a:avLst/>
          </a:prstGeom>
          <a:noFill/>
          <a:ln w="19050">
            <a:solidFill>
              <a:srgbClr val="1E2C5C"/>
            </a:solidFill>
            <a:prstDash val="dash"/>
          </a:ln>
        </p:spPr>
      </p:sp>
      <p:sp>
        <p:nvSpPr>
          <p:cNvPr id="12" name="Shape 10"/>
          <p:cNvSpPr/>
          <p:nvPr/>
        </p:nvSpPr>
        <p:spPr>
          <a:xfrm>
            <a:off x="2491740" y="3886200"/>
            <a:ext cx="1920240" cy="1051560"/>
          </a:xfrm>
          <a:prstGeom prst="roundRect">
            <a:avLst>
              <a:gd name="adj" fmla="val 6087"/>
            </a:avLst>
          </a:prstGeom>
          <a:solidFill>
            <a:srgbClr val="16244F"/>
          </a:solidFill>
          <a:ln/>
        </p:spPr>
      </p:sp>
      <p:sp>
        <p:nvSpPr>
          <p:cNvPr id="13" name="Text 11"/>
          <p:cNvSpPr/>
          <p:nvPr/>
        </p:nvSpPr>
        <p:spPr>
          <a:xfrm>
            <a:off x="2537460" y="3995928"/>
            <a:ext cx="1828800" cy="320040"/>
          </a:xfrm>
          <a:prstGeom prst="rect">
            <a:avLst/>
          </a:prstGeom>
          <a:noFill/>
          <a:ln/>
        </p:spPr>
        <p:txBody>
          <a:bodyPr wrap="square" rtlCol="0" anchor="ctr"/>
          <a:lstStyle/>
          <a:p>
            <a:pPr algn="ctr" indent="0" marL="0">
              <a:buNone/>
            </a:pPr>
            <a:r>
              <a:rPr lang="en-US" sz="1100" b="1" spc="50" kern="0" dirty="0">
                <a:solidFill>
                  <a:srgbClr val="E8C766"/>
                </a:solidFill>
                <a:latin typeface="Calibri" pitchFamily="34" charset="0"/>
                <a:ea typeface="Calibri" pitchFamily="34" charset="-122"/>
                <a:cs typeface="Calibri" pitchFamily="34" charset="-120"/>
              </a:rPr>
              <a:t>JULHO</a:t>
            </a:r>
            <a:endParaRPr lang="en-US" sz="1100" dirty="0"/>
          </a:p>
        </p:txBody>
      </p:sp>
      <p:sp>
        <p:nvSpPr>
          <p:cNvPr id="14" name="Text 12"/>
          <p:cNvSpPr/>
          <p:nvPr/>
        </p:nvSpPr>
        <p:spPr>
          <a:xfrm>
            <a:off x="2537460" y="4325112"/>
            <a:ext cx="1828800" cy="54864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Campanha digital e qualificação</a:t>
            </a:r>
            <a:endParaRPr lang="en-US" sz="1050" dirty="0"/>
          </a:p>
        </p:txBody>
      </p:sp>
      <p:sp>
        <p:nvSpPr>
          <p:cNvPr id="15" name="Shape 13"/>
          <p:cNvSpPr/>
          <p:nvPr/>
        </p:nvSpPr>
        <p:spPr>
          <a:xfrm>
            <a:off x="5952744" y="3438144"/>
            <a:ext cx="256032" cy="256032"/>
          </a:xfrm>
          <a:prstGeom prst="ellipse">
            <a:avLst/>
          </a:prstGeom>
          <a:solidFill>
            <a:srgbClr val="C9A227"/>
          </a:solidFill>
          <a:ln w="25400">
            <a:solidFill>
              <a:srgbClr val="0F1B3D"/>
            </a:solidFill>
            <a:prstDash val="solid"/>
          </a:ln>
        </p:spPr>
      </p:sp>
      <p:sp>
        <p:nvSpPr>
          <p:cNvPr id="16" name="Shape 14"/>
          <p:cNvSpPr/>
          <p:nvPr/>
        </p:nvSpPr>
        <p:spPr>
          <a:xfrm>
            <a:off x="6080760" y="3246120"/>
            <a:ext cx="0" cy="320040"/>
          </a:xfrm>
          <a:prstGeom prst="line">
            <a:avLst/>
          </a:prstGeom>
          <a:noFill/>
          <a:ln w="19050">
            <a:solidFill>
              <a:srgbClr val="1E2C5C"/>
            </a:solidFill>
            <a:prstDash val="dash"/>
          </a:ln>
        </p:spPr>
      </p:sp>
      <p:sp>
        <p:nvSpPr>
          <p:cNvPr id="17" name="Shape 15"/>
          <p:cNvSpPr/>
          <p:nvPr/>
        </p:nvSpPr>
        <p:spPr>
          <a:xfrm>
            <a:off x="5120640" y="2148840"/>
            <a:ext cx="1920240" cy="1051560"/>
          </a:xfrm>
          <a:prstGeom prst="roundRect">
            <a:avLst>
              <a:gd name="adj" fmla="val 6087"/>
            </a:avLst>
          </a:prstGeom>
          <a:solidFill>
            <a:srgbClr val="16244F"/>
          </a:solidFill>
          <a:ln/>
        </p:spPr>
      </p:sp>
      <p:sp>
        <p:nvSpPr>
          <p:cNvPr id="18" name="Text 16"/>
          <p:cNvSpPr/>
          <p:nvPr/>
        </p:nvSpPr>
        <p:spPr>
          <a:xfrm>
            <a:off x="5166360" y="2258568"/>
            <a:ext cx="1828800" cy="320040"/>
          </a:xfrm>
          <a:prstGeom prst="rect">
            <a:avLst/>
          </a:prstGeom>
          <a:noFill/>
          <a:ln/>
        </p:spPr>
        <p:txBody>
          <a:bodyPr wrap="square" rtlCol="0" anchor="ctr"/>
          <a:lstStyle/>
          <a:p>
            <a:pPr algn="ctr" indent="0" marL="0">
              <a:buNone/>
            </a:pPr>
            <a:r>
              <a:rPr lang="en-US" sz="1100" b="1" spc="50" kern="0" dirty="0">
                <a:solidFill>
                  <a:srgbClr val="E8C766"/>
                </a:solidFill>
                <a:latin typeface="Calibri" pitchFamily="34" charset="0"/>
                <a:ea typeface="Calibri" pitchFamily="34" charset="-122"/>
                <a:cs typeface="Calibri" pitchFamily="34" charset="-120"/>
              </a:rPr>
              <a:t>29 DE JULHO</a:t>
            </a:r>
            <a:endParaRPr lang="en-US" sz="1100" dirty="0"/>
          </a:p>
        </p:txBody>
      </p:sp>
      <p:sp>
        <p:nvSpPr>
          <p:cNvPr id="19" name="Text 17"/>
          <p:cNvSpPr/>
          <p:nvPr/>
        </p:nvSpPr>
        <p:spPr>
          <a:xfrm>
            <a:off x="5166360" y="2587752"/>
            <a:ext cx="1828800" cy="54864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Início do Feirão</a:t>
            </a:r>
            <a:endParaRPr lang="en-US" sz="1050" dirty="0"/>
          </a:p>
        </p:txBody>
      </p:sp>
      <p:sp>
        <p:nvSpPr>
          <p:cNvPr id="20" name="Shape 18"/>
          <p:cNvSpPr/>
          <p:nvPr/>
        </p:nvSpPr>
        <p:spPr>
          <a:xfrm>
            <a:off x="8581644" y="3438144"/>
            <a:ext cx="256032" cy="256032"/>
          </a:xfrm>
          <a:prstGeom prst="ellipse">
            <a:avLst/>
          </a:prstGeom>
          <a:solidFill>
            <a:srgbClr val="C9A227"/>
          </a:solidFill>
          <a:ln w="25400">
            <a:solidFill>
              <a:srgbClr val="0F1B3D"/>
            </a:solidFill>
            <a:prstDash val="solid"/>
          </a:ln>
        </p:spPr>
      </p:sp>
      <p:sp>
        <p:nvSpPr>
          <p:cNvPr id="21" name="Shape 19"/>
          <p:cNvSpPr/>
          <p:nvPr/>
        </p:nvSpPr>
        <p:spPr>
          <a:xfrm>
            <a:off x="8709660" y="3694176"/>
            <a:ext cx="0" cy="192024"/>
          </a:xfrm>
          <a:prstGeom prst="line">
            <a:avLst/>
          </a:prstGeom>
          <a:noFill/>
          <a:ln w="19050">
            <a:solidFill>
              <a:srgbClr val="1E2C5C"/>
            </a:solidFill>
            <a:prstDash val="dash"/>
          </a:ln>
        </p:spPr>
      </p:sp>
      <p:sp>
        <p:nvSpPr>
          <p:cNvPr id="22" name="Shape 20"/>
          <p:cNvSpPr/>
          <p:nvPr/>
        </p:nvSpPr>
        <p:spPr>
          <a:xfrm>
            <a:off x="7749540" y="3886200"/>
            <a:ext cx="1920240" cy="1051560"/>
          </a:xfrm>
          <a:prstGeom prst="roundRect">
            <a:avLst>
              <a:gd name="adj" fmla="val 6087"/>
            </a:avLst>
          </a:prstGeom>
          <a:solidFill>
            <a:srgbClr val="16244F"/>
          </a:solidFill>
          <a:ln/>
        </p:spPr>
      </p:sp>
      <p:sp>
        <p:nvSpPr>
          <p:cNvPr id="23" name="Text 21"/>
          <p:cNvSpPr/>
          <p:nvPr/>
        </p:nvSpPr>
        <p:spPr>
          <a:xfrm>
            <a:off x="7795260" y="3995928"/>
            <a:ext cx="1828800" cy="320040"/>
          </a:xfrm>
          <a:prstGeom prst="rect">
            <a:avLst/>
          </a:prstGeom>
          <a:noFill/>
          <a:ln/>
        </p:spPr>
        <p:txBody>
          <a:bodyPr wrap="square" rtlCol="0" anchor="ctr"/>
          <a:lstStyle/>
          <a:p>
            <a:pPr algn="ctr" indent="0" marL="0">
              <a:buNone/>
            </a:pPr>
            <a:r>
              <a:rPr lang="en-US" sz="1100" b="1" spc="50" kern="0" dirty="0">
                <a:solidFill>
                  <a:srgbClr val="E8C766"/>
                </a:solidFill>
                <a:latin typeface="Calibri" pitchFamily="34" charset="0"/>
                <a:ea typeface="Calibri" pitchFamily="34" charset="-122"/>
                <a:cs typeface="Calibri" pitchFamily="34" charset="-120"/>
              </a:rPr>
              <a:t>01 DE AGOSTO</a:t>
            </a:r>
            <a:endParaRPr lang="en-US" sz="1100" dirty="0"/>
          </a:p>
        </p:txBody>
      </p:sp>
      <p:sp>
        <p:nvSpPr>
          <p:cNvPr id="24" name="Text 22"/>
          <p:cNvSpPr/>
          <p:nvPr/>
        </p:nvSpPr>
        <p:spPr>
          <a:xfrm>
            <a:off x="7795260" y="4325112"/>
            <a:ext cx="1828800" cy="54864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Encerramento</a:t>
            </a:r>
            <a:endParaRPr lang="en-US" sz="1050" dirty="0"/>
          </a:p>
        </p:txBody>
      </p:sp>
      <p:sp>
        <p:nvSpPr>
          <p:cNvPr id="25" name="Shape 23"/>
          <p:cNvSpPr/>
          <p:nvPr/>
        </p:nvSpPr>
        <p:spPr>
          <a:xfrm>
            <a:off x="11210544" y="3438144"/>
            <a:ext cx="256032" cy="256032"/>
          </a:xfrm>
          <a:prstGeom prst="ellipse">
            <a:avLst/>
          </a:prstGeom>
          <a:solidFill>
            <a:srgbClr val="FFFFFF"/>
          </a:solidFill>
          <a:ln w="25400">
            <a:solidFill>
              <a:srgbClr val="0F1B3D"/>
            </a:solidFill>
            <a:prstDash val="solid"/>
          </a:ln>
        </p:spPr>
      </p:sp>
      <p:sp>
        <p:nvSpPr>
          <p:cNvPr id="26" name="Shape 24"/>
          <p:cNvSpPr/>
          <p:nvPr/>
        </p:nvSpPr>
        <p:spPr>
          <a:xfrm>
            <a:off x="11338560" y="3246120"/>
            <a:ext cx="0" cy="320040"/>
          </a:xfrm>
          <a:prstGeom prst="line">
            <a:avLst/>
          </a:prstGeom>
          <a:noFill/>
          <a:ln w="19050">
            <a:solidFill>
              <a:srgbClr val="1E2C5C"/>
            </a:solidFill>
            <a:prstDash val="dash"/>
          </a:ln>
        </p:spPr>
      </p:sp>
      <p:sp>
        <p:nvSpPr>
          <p:cNvPr id="27" name="Shape 25"/>
          <p:cNvSpPr/>
          <p:nvPr/>
        </p:nvSpPr>
        <p:spPr>
          <a:xfrm>
            <a:off x="10378440" y="2148840"/>
            <a:ext cx="1920240" cy="1051560"/>
          </a:xfrm>
          <a:prstGeom prst="roundRect">
            <a:avLst>
              <a:gd name="adj" fmla="val 6087"/>
            </a:avLst>
          </a:prstGeom>
          <a:solidFill>
            <a:srgbClr val="16244F"/>
          </a:solidFill>
          <a:ln/>
        </p:spPr>
      </p:sp>
      <p:sp>
        <p:nvSpPr>
          <p:cNvPr id="28" name="Text 26"/>
          <p:cNvSpPr/>
          <p:nvPr/>
        </p:nvSpPr>
        <p:spPr>
          <a:xfrm>
            <a:off x="10424160" y="2258568"/>
            <a:ext cx="1828800" cy="320040"/>
          </a:xfrm>
          <a:prstGeom prst="rect">
            <a:avLst/>
          </a:prstGeom>
          <a:noFill/>
          <a:ln/>
        </p:spPr>
        <p:txBody>
          <a:bodyPr wrap="square" rtlCol="0" anchor="ctr"/>
          <a:lstStyle/>
          <a:p>
            <a:pPr algn="ctr" indent="0" marL="0">
              <a:buNone/>
            </a:pPr>
            <a:r>
              <a:rPr lang="en-US" sz="1100" b="1" spc="50" kern="0" dirty="0">
                <a:solidFill>
                  <a:srgbClr val="E8C766"/>
                </a:solidFill>
                <a:latin typeface="Calibri" pitchFamily="34" charset="0"/>
                <a:ea typeface="Calibri" pitchFamily="34" charset="-122"/>
                <a:cs typeface="Calibri" pitchFamily="34" charset="-120"/>
              </a:rPr>
              <a:t>PÓS-EVENTO</a:t>
            </a:r>
            <a:endParaRPr lang="en-US" sz="1100" dirty="0"/>
          </a:p>
        </p:txBody>
      </p:sp>
      <p:sp>
        <p:nvSpPr>
          <p:cNvPr id="29" name="Text 27"/>
          <p:cNvSpPr/>
          <p:nvPr/>
        </p:nvSpPr>
        <p:spPr>
          <a:xfrm>
            <a:off x="10424160" y="2587752"/>
            <a:ext cx="1828800" cy="54864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Relatórios e acompanhamento das negociações</a:t>
            </a:r>
            <a:endParaRPr lang="en-US" sz="1050" dirty="0"/>
          </a:p>
        </p:txBody>
      </p:sp>
      <p:sp>
        <p:nvSpPr>
          <p:cNvPr id="30" name="Text 2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13</a:t>
            </a:r>
            <a:endParaRPr lang="en-US" sz="1000" dirty="0"/>
          </a:p>
        </p:txBody>
      </p:sp>
      <p:sp>
        <p:nvSpPr>
          <p:cNvPr id="31" name="Text 29"/>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9AA3C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9A227"/>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E8C766"/>
          </a:solidFill>
          <a:ln/>
        </p:spPr>
      </p:sp>
      <p:sp>
        <p:nvSpPr>
          <p:cNvPr id="3" name="Shape 1"/>
          <p:cNvSpPr/>
          <p:nvPr/>
        </p:nvSpPr>
        <p:spPr>
          <a:xfrm>
            <a:off x="-1828800" y="4389120"/>
            <a:ext cx="4572000" cy="4572000"/>
          </a:xfrm>
          <a:prstGeom prst="ellipse">
            <a:avLst/>
          </a:prstGeom>
          <a:solidFill>
            <a:srgbClr val="E8C766"/>
          </a:solidFill>
          <a:ln/>
        </p:spPr>
      </p:sp>
      <p:sp>
        <p:nvSpPr>
          <p:cNvPr id="4" name="Text 2"/>
          <p:cNvSpPr/>
          <p:nvPr/>
        </p:nvSpPr>
        <p:spPr>
          <a:xfrm>
            <a:off x="822960" y="1554480"/>
            <a:ext cx="5486400" cy="365760"/>
          </a:xfrm>
          <a:prstGeom prst="rect">
            <a:avLst/>
          </a:prstGeom>
          <a:noFill/>
          <a:ln/>
        </p:spPr>
        <p:txBody>
          <a:bodyPr wrap="square" rtlCol="0" anchor="ctr"/>
          <a:lstStyle/>
          <a:p>
            <a:pPr indent="0" marL="0">
              <a:buNone/>
            </a:pPr>
            <a:r>
              <a:rPr lang="en-US" sz="1300" b="1" spc="300" kern="0" dirty="0">
                <a:solidFill>
                  <a:srgbClr val="0F1B3D"/>
                </a:solidFill>
                <a:latin typeface="Calibri" pitchFamily="34" charset="0"/>
                <a:ea typeface="Calibri" pitchFamily="34" charset="-122"/>
                <a:cs typeface="Calibri" pitchFamily="34" charset="-120"/>
              </a:rPr>
              <a:t>CONVITE</a:t>
            </a:r>
            <a:endParaRPr lang="en-US" sz="1300" dirty="0"/>
          </a:p>
        </p:txBody>
      </p:sp>
      <p:sp>
        <p:nvSpPr>
          <p:cNvPr id="5" name="Text 3"/>
          <p:cNvSpPr/>
          <p:nvPr/>
        </p:nvSpPr>
        <p:spPr>
          <a:xfrm>
            <a:off x="777240" y="1965960"/>
            <a:ext cx="8686800" cy="1828800"/>
          </a:xfrm>
          <a:prstGeom prst="rect">
            <a:avLst/>
          </a:prstGeom>
          <a:noFill/>
          <a:ln/>
        </p:spPr>
        <p:txBody>
          <a:bodyPr wrap="square" rtlCol="0" anchor="ctr"/>
          <a:lstStyle/>
          <a:p>
            <a:pPr indent="0" marL="0">
              <a:lnSpc>
                <a:spcPct val="115000"/>
              </a:lnSpc>
              <a:buNone/>
            </a:pPr>
            <a:r>
              <a:rPr lang="en-US" sz="3400" b="1" dirty="0">
                <a:solidFill>
                  <a:srgbClr val="0F1B3D"/>
                </a:solidFill>
                <a:latin typeface="Cambria" pitchFamily="34" charset="0"/>
                <a:ea typeface="Cambria" pitchFamily="34" charset="-122"/>
                <a:cs typeface="Cambria" pitchFamily="34" charset="-120"/>
              </a:rPr>
              <a:t>Sua construtora é nossa</a:t>
            </a:r>
            <a:endParaRPr lang="en-US" sz="3400" dirty="0"/>
          </a:p>
          <a:p>
            <a:pPr indent="0" marL="0">
              <a:lnSpc>
                <a:spcPct val="115000"/>
              </a:lnSpc>
              <a:buNone/>
            </a:pPr>
            <a:r>
              <a:rPr lang="en-US" sz="3400" b="1" dirty="0">
                <a:solidFill>
                  <a:srgbClr val="0F1B3D"/>
                </a:solidFill>
                <a:latin typeface="Cambria" pitchFamily="34" charset="0"/>
                <a:ea typeface="Cambria" pitchFamily="34" charset="-122"/>
                <a:cs typeface="Cambria" pitchFamily="34" charset="-120"/>
              </a:rPr>
              <a:t>convidada para fazer parte</a:t>
            </a:r>
            <a:endParaRPr lang="en-US" sz="3400" dirty="0"/>
          </a:p>
          <a:p>
            <a:pPr indent="0" marL="0">
              <a:lnSpc>
                <a:spcPct val="115000"/>
              </a:lnSpc>
              <a:buNone/>
            </a:pPr>
            <a:r>
              <a:rPr lang="en-US" sz="3400" b="1" dirty="0">
                <a:solidFill>
                  <a:srgbClr val="0F1B3D"/>
                </a:solidFill>
                <a:latin typeface="Cambria" pitchFamily="34" charset="0"/>
                <a:ea typeface="Cambria" pitchFamily="34" charset="-122"/>
                <a:cs typeface="Cambria" pitchFamily="34" charset="-120"/>
              </a:rPr>
              <a:t>deste grande projeto.</a:t>
            </a:r>
            <a:endParaRPr lang="en-US" sz="3400" dirty="0"/>
          </a:p>
        </p:txBody>
      </p:sp>
      <p:sp>
        <p:nvSpPr>
          <p:cNvPr id="6" name="Text 4"/>
          <p:cNvSpPr/>
          <p:nvPr/>
        </p:nvSpPr>
        <p:spPr>
          <a:xfrm>
            <a:off x="822960" y="3977640"/>
            <a:ext cx="7863840" cy="1051560"/>
          </a:xfrm>
          <a:prstGeom prst="rect">
            <a:avLst/>
          </a:prstGeom>
          <a:noFill/>
          <a:ln/>
        </p:spPr>
        <p:txBody>
          <a:bodyPr wrap="square" rtlCol="0" anchor="ctr"/>
          <a:lstStyle/>
          <a:p>
            <a:pPr indent="0" marL="0">
              <a:lnSpc>
                <a:spcPct val="135000"/>
              </a:lnSpc>
              <a:buNone/>
            </a:pPr>
            <a:r>
              <a:rPr lang="en-US" sz="1500" dirty="0">
                <a:solidFill>
                  <a:srgbClr val="0F1B3D"/>
                </a:solidFill>
                <a:latin typeface="Calibri" pitchFamily="34" charset="0"/>
                <a:ea typeface="Calibri" pitchFamily="34" charset="-122"/>
                <a:cs typeface="Calibri" pitchFamily="34" charset="-120"/>
              </a:rPr>
              <a:t>Estamos construindo um novo modelo de comercialização imobiliária — um evento desenvolvido para conectar empreendimentos de qualidade a um público altamente qualificado, com tecnologia, inteligência comercial e atendimento especializado.</a:t>
            </a:r>
            <a:endParaRPr lang="en-US" sz="1500" dirty="0"/>
          </a:p>
        </p:txBody>
      </p:sp>
      <p:sp>
        <p:nvSpPr>
          <p:cNvPr id="7" name="Text 5"/>
          <p:cNvSpPr/>
          <p:nvPr/>
        </p:nvSpPr>
        <p:spPr>
          <a:xfrm>
            <a:off x="822960" y="5166360"/>
            <a:ext cx="7315200" cy="457200"/>
          </a:xfrm>
          <a:prstGeom prst="rect">
            <a:avLst/>
          </a:prstGeom>
          <a:noFill/>
          <a:ln/>
        </p:spPr>
        <p:txBody>
          <a:bodyPr wrap="square" rtlCol="0" anchor="ctr"/>
          <a:lstStyle/>
          <a:p>
            <a:pPr indent="0" marL="0">
              <a:buNone/>
            </a:pPr>
            <a:r>
              <a:rPr lang="en-US" sz="1600" b="1" i="1" dirty="0">
                <a:solidFill>
                  <a:srgbClr val="0F1B3D"/>
                </a:solidFill>
                <a:latin typeface="Calibri" pitchFamily="34" charset="0"/>
                <a:ea typeface="Calibri" pitchFamily="34" charset="-122"/>
                <a:cs typeface="Calibri" pitchFamily="34" charset="-120"/>
              </a:rPr>
              <a:t>Será uma honra contar com sua participação.</a:t>
            </a:r>
            <a:endParaRPr lang="en-US" sz="1600" dirty="0"/>
          </a:p>
        </p:txBody>
      </p:sp>
      <p:sp>
        <p:nvSpPr>
          <p:cNvPr id="8" name="Text 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9AA3C0"/>
                </a:solidFill>
                <a:latin typeface="Calibri" pitchFamily="34" charset="0"/>
                <a:ea typeface="Calibri" pitchFamily="34" charset="-122"/>
                <a:cs typeface="Calibri" pitchFamily="34" charset="-120"/>
              </a:rPr>
              <a:t>14</a:t>
            </a:r>
            <a:endParaRPr lang="en-US" sz="1000" dirty="0"/>
          </a:p>
        </p:txBody>
      </p:sp>
      <p:sp>
        <p:nvSpPr>
          <p:cNvPr id="9" name="Text 7"/>
          <p:cNvSpPr/>
          <p:nvPr/>
        </p:nvSpPr>
        <p:spPr>
          <a:xfrm>
            <a:off x="457200" y="6400800"/>
            <a:ext cx="4572000" cy="274320"/>
          </a:xfrm>
          <a:prstGeom prst="rect">
            <a:avLst/>
          </a:prstGeom>
          <a:noFill/>
          <a:ln/>
        </p:spPr>
        <p:txBody>
          <a:bodyPr wrap="square" rtlCol="0" anchor="ctr"/>
          <a:lstStyle/>
          <a:p>
            <a:pPr algn="l" indent="0" marL="0">
              <a:buNone/>
            </a:pPr>
            <a:r>
              <a:rPr lang="en-US" sz="900" spc="100" kern="0" dirty="0">
                <a:solidFill>
                  <a:srgbClr val="5B6480"/>
                </a:solidFill>
                <a:latin typeface="Calibri" pitchFamily="34" charset="0"/>
                <a:ea typeface="Calibri" pitchFamily="34" charset="-122"/>
                <a:cs typeface="Calibri" pitchFamily="34" charset="-120"/>
              </a:rPr>
              <a:t>WAL IMÓVEIS · FEIRÃO ONLINE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6244F"/>
          </a:solidFill>
          <a:ln/>
        </p:spPr>
      </p:sp>
      <p:sp>
        <p:nvSpPr>
          <p:cNvPr id="3" name="Text 1"/>
          <p:cNvSpPr/>
          <p:nvPr/>
        </p:nvSpPr>
        <p:spPr>
          <a:xfrm>
            <a:off x="0" y="914400"/>
            <a:ext cx="12188952" cy="457200"/>
          </a:xfrm>
          <a:prstGeom prst="rect">
            <a:avLst/>
          </a:prstGeom>
          <a:noFill/>
          <a:ln/>
        </p:spPr>
        <p:txBody>
          <a:bodyPr wrap="square" rtlCol="0" anchor="ctr"/>
          <a:lstStyle/>
          <a:p>
            <a:pPr algn="ctr" indent="0" marL="0">
              <a:buNone/>
            </a:pPr>
            <a:r>
              <a:rPr lang="en-US" sz="1600" b="1" spc="300" kern="0" dirty="0">
                <a:solidFill>
                  <a:srgbClr val="C9A227"/>
                </a:solidFill>
                <a:latin typeface="Calibri" pitchFamily="34" charset="0"/>
                <a:ea typeface="Calibri" pitchFamily="34" charset="-122"/>
                <a:cs typeface="Calibri" pitchFamily="34" charset="-120"/>
              </a:rPr>
              <a:t>FEIRÃO ONLINE WAL IMÓVEIS</a:t>
            </a:r>
            <a:endParaRPr lang="en-US" sz="1600" dirty="0"/>
          </a:p>
        </p:txBody>
      </p:sp>
      <p:sp>
        <p:nvSpPr>
          <p:cNvPr id="4" name="Text 2"/>
          <p:cNvSpPr/>
          <p:nvPr/>
        </p:nvSpPr>
        <p:spPr>
          <a:xfrm>
            <a:off x="0" y="1371600"/>
            <a:ext cx="12188952"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29 de Julho a 01 de Agosto de 2026</a:t>
            </a:r>
            <a:endParaRPr lang="en-US" sz="2200" dirty="0"/>
          </a:p>
        </p:txBody>
      </p:sp>
      <p:sp>
        <p:nvSpPr>
          <p:cNvPr id="5" name="Shape 3"/>
          <p:cNvSpPr/>
          <p:nvPr/>
        </p:nvSpPr>
        <p:spPr>
          <a:xfrm>
            <a:off x="5180076" y="2148840"/>
            <a:ext cx="1828800" cy="0"/>
          </a:xfrm>
          <a:prstGeom prst="line">
            <a:avLst/>
          </a:prstGeom>
          <a:noFill/>
          <a:ln w="19050">
            <a:solidFill>
              <a:srgbClr val="C9A227"/>
            </a:solidFill>
            <a:prstDash val="solid"/>
          </a:ln>
        </p:spPr>
      </p:sp>
      <p:sp>
        <p:nvSpPr>
          <p:cNvPr id="6" name="Text 4"/>
          <p:cNvSpPr/>
          <p:nvPr/>
        </p:nvSpPr>
        <p:spPr>
          <a:xfrm>
            <a:off x="0" y="2514600"/>
            <a:ext cx="12188952" cy="320040"/>
          </a:xfrm>
          <a:prstGeom prst="rect">
            <a:avLst/>
          </a:prstGeom>
          <a:noFill/>
          <a:ln/>
        </p:spPr>
        <p:txBody>
          <a:bodyPr wrap="square" rtlCol="0" anchor="ctr"/>
          <a:lstStyle/>
          <a:p>
            <a:pPr algn="ctr" indent="0" marL="0">
              <a:buNone/>
            </a:pPr>
            <a:r>
              <a:rPr lang="en-US" sz="1200" b="1" spc="200" kern="0" dirty="0">
                <a:solidFill>
                  <a:srgbClr val="9AA3C0"/>
                </a:solidFill>
                <a:latin typeface="Calibri" pitchFamily="34" charset="0"/>
                <a:ea typeface="Calibri" pitchFamily="34" charset="-122"/>
                <a:cs typeface="Calibri" pitchFamily="34" charset="-120"/>
              </a:rPr>
              <a:t>CONTATO COMERCIAL</a:t>
            </a:r>
            <a:endParaRPr lang="en-US" sz="1200" dirty="0"/>
          </a:p>
        </p:txBody>
      </p:sp>
      <p:sp>
        <p:nvSpPr>
          <p:cNvPr id="7" name="Text 5"/>
          <p:cNvSpPr/>
          <p:nvPr/>
        </p:nvSpPr>
        <p:spPr>
          <a:xfrm>
            <a:off x="0" y="2834640"/>
            <a:ext cx="12188952" cy="50292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Waldyr Gomes</a:t>
            </a:r>
            <a:endParaRPr lang="en-US" sz="2600" dirty="0"/>
          </a:p>
        </p:txBody>
      </p:sp>
      <p:sp>
        <p:nvSpPr>
          <p:cNvPr id="8" name="Shape 6"/>
          <p:cNvSpPr/>
          <p:nvPr/>
        </p:nvSpPr>
        <p:spPr>
          <a:xfrm>
            <a:off x="2939796" y="3611880"/>
            <a:ext cx="2926080" cy="868680"/>
          </a:xfrm>
          <a:prstGeom prst="roundRect">
            <a:avLst>
              <a:gd name="adj" fmla="val 8421"/>
            </a:avLst>
          </a:prstGeom>
          <a:solidFill>
            <a:srgbClr val="16244F"/>
          </a:solidFill>
          <a:ln/>
        </p:spPr>
      </p:sp>
      <p:sp>
        <p:nvSpPr>
          <p:cNvPr id="9" name="Shape 7"/>
          <p:cNvSpPr/>
          <p:nvPr/>
        </p:nvSpPr>
        <p:spPr>
          <a:xfrm>
            <a:off x="3122676" y="3794760"/>
            <a:ext cx="502920" cy="502920"/>
          </a:xfrm>
          <a:prstGeom prst="ellipse">
            <a:avLst/>
          </a:prstGeom>
          <a:solidFill>
            <a:srgbClr val="C9A227"/>
          </a:solidFill>
          <a:ln/>
        </p:spPr>
      </p:sp>
      <p:pic>
        <p:nvPicPr>
          <p:cNvPr id="10" name="Image 0" descr="preencoded.png">    </p:cNvPr>
          <p:cNvPicPr>
            <a:picLocks noChangeAspect="1"/>
          </p:cNvPicPr>
          <p:nvPr/>
        </p:nvPicPr>
        <p:blipFill>
          <a:blip r:embed="rId1"/>
          <a:stretch>
            <a:fillRect/>
          </a:stretch>
        </p:blipFill>
        <p:spPr>
          <a:xfrm>
            <a:off x="3235833" y="3907917"/>
            <a:ext cx="276606" cy="276606"/>
          </a:xfrm>
          <a:prstGeom prst="rect">
            <a:avLst/>
          </a:prstGeom>
        </p:spPr>
      </p:pic>
      <p:sp>
        <p:nvSpPr>
          <p:cNvPr id="11" name="Text 8"/>
          <p:cNvSpPr/>
          <p:nvPr/>
        </p:nvSpPr>
        <p:spPr>
          <a:xfrm>
            <a:off x="3762756" y="3657600"/>
            <a:ext cx="2011680" cy="320040"/>
          </a:xfrm>
          <a:prstGeom prst="rect">
            <a:avLst/>
          </a:prstGeom>
          <a:noFill/>
          <a:ln/>
        </p:spPr>
        <p:txBody>
          <a:bodyPr wrap="square" rtlCol="0" anchor="ctr"/>
          <a:lstStyle/>
          <a:p>
            <a:pPr indent="0" marL="0">
              <a:buNone/>
            </a:pPr>
            <a:r>
              <a:rPr lang="en-US" sz="1100" dirty="0">
                <a:solidFill>
                  <a:srgbClr val="9AA3C0"/>
                </a:solidFill>
                <a:latin typeface="Calibri" pitchFamily="34" charset="0"/>
                <a:ea typeface="Calibri" pitchFamily="34" charset="-122"/>
                <a:cs typeface="Calibri" pitchFamily="34" charset="-120"/>
              </a:rPr>
              <a:t>WhatsApp</a:t>
            </a:r>
            <a:endParaRPr lang="en-US" sz="1100" dirty="0"/>
          </a:p>
        </p:txBody>
      </p:sp>
      <p:sp>
        <p:nvSpPr>
          <p:cNvPr id="12" name="Text 9"/>
          <p:cNvSpPr/>
          <p:nvPr/>
        </p:nvSpPr>
        <p:spPr>
          <a:xfrm>
            <a:off x="3762756" y="3950208"/>
            <a:ext cx="2011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(21) 97244-3592</a:t>
            </a:r>
            <a:endParaRPr lang="en-US" sz="1500" dirty="0"/>
          </a:p>
        </p:txBody>
      </p:sp>
      <p:sp>
        <p:nvSpPr>
          <p:cNvPr id="13" name="Shape 10"/>
          <p:cNvSpPr/>
          <p:nvPr/>
        </p:nvSpPr>
        <p:spPr>
          <a:xfrm>
            <a:off x="6323076" y="3611880"/>
            <a:ext cx="2926080" cy="868680"/>
          </a:xfrm>
          <a:prstGeom prst="roundRect">
            <a:avLst>
              <a:gd name="adj" fmla="val 8421"/>
            </a:avLst>
          </a:prstGeom>
          <a:solidFill>
            <a:srgbClr val="16244F"/>
          </a:solidFill>
          <a:ln/>
        </p:spPr>
      </p:sp>
      <p:sp>
        <p:nvSpPr>
          <p:cNvPr id="14" name="Shape 11"/>
          <p:cNvSpPr/>
          <p:nvPr/>
        </p:nvSpPr>
        <p:spPr>
          <a:xfrm>
            <a:off x="6505956" y="3794760"/>
            <a:ext cx="502920" cy="502920"/>
          </a:xfrm>
          <a:prstGeom prst="ellipse">
            <a:avLst/>
          </a:prstGeom>
          <a:solidFill>
            <a:srgbClr val="C9A227"/>
          </a:solidFill>
          <a:ln/>
        </p:spPr>
      </p:sp>
      <p:pic>
        <p:nvPicPr>
          <p:cNvPr id="15" name="Image 1" descr="preencoded.png">    </p:cNvPr>
          <p:cNvPicPr>
            <a:picLocks noChangeAspect="1"/>
          </p:cNvPicPr>
          <p:nvPr/>
        </p:nvPicPr>
        <p:blipFill>
          <a:blip r:embed="rId2"/>
          <a:stretch>
            <a:fillRect/>
          </a:stretch>
        </p:blipFill>
        <p:spPr>
          <a:xfrm>
            <a:off x="6619113" y="3907917"/>
            <a:ext cx="276606" cy="276606"/>
          </a:xfrm>
          <a:prstGeom prst="rect">
            <a:avLst/>
          </a:prstGeom>
        </p:spPr>
      </p:pic>
      <p:sp>
        <p:nvSpPr>
          <p:cNvPr id="16" name="Text 12"/>
          <p:cNvSpPr/>
          <p:nvPr/>
        </p:nvSpPr>
        <p:spPr>
          <a:xfrm>
            <a:off x="7146036" y="3657600"/>
            <a:ext cx="2011680" cy="320040"/>
          </a:xfrm>
          <a:prstGeom prst="rect">
            <a:avLst/>
          </a:prstGeom>
          <a:noFill/>
          <a:ln/>
        </p:spPr>
        <p:txBody>
          <a:bodyPr wrap="square" rtlCol="0" anchor="ctr"/>
          <a:lstStyle/>
          <a:p>
            <a:pPr indent="0" marL="0">
              <a:buNone/>
            </a:pPr>
            <a:r>
              <a:rPr lang="en-US" sz="1100" dirty="0">
                <a:solidFill>
                  <a:srgbClr val="9AA3C0"/>
                </a:solidFill>
                <a:latin typeface="Calibri" pitchFamily="34" charset="0"/>
                <a:ea typeface="Calibri" pitchFamily="34" charset="-122"/>
                <a:cs typeface="Calibri" pitchFamily="34" charset="-120"/>
              </a:rPr>
              <a:t>Instagram</a:t>
            </a:r>
            <a:endParaRPr lang="en-US" sz="1100" dirty="0"/>
          </a:p>
        </p:txBody>
      </p:sp>
      <p:sp>
        <p:nvSpPr>
          <p:cNvPr id="17" name="Text 13"/>
          <p:cNvSpPr/>
          <p:nvPr/>
        </p:nvSpPr>
        <p:spPr>
          <a:xfrm>
            <a:off x="7146036" y="3950208"/>
            <a:ext cx="2011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@walimoveis_</a:t>
            </a:r>
            <a:endParaRPr lang="en-US" sz="1500" dirty="0"/>
          </a:p>
        </p:txBody>
      </p:sp>
      <p:sp>
        <p:nvSpPr>
          <p:cNvPr id="18" name="Text 14"/>
          <p:cNvSpPr/>
          <p:nvPr/>
        </p:nvSpPr>
        <p:spPr>
          <a:xfrm>
            <a:off x="0" y="6217920"/>
            <a:ext cx="12188952" cy="320040"/>
          </a:xfrm>
          <a:prstGeom prst="rect">
            <a:avLst/>
          </a:prstGeom>
          <a:noFill/>
          <a:ln/>
        </p:spPr>
        <p:txBody>
          <a:bodyPr wrap="square" rtlCol="0" anchor="ctr"/>
          <a:lstStyle/>
          <a:p>
            <a:pPr algn="ctr" indent="0" marL="0">
              <a:buNone/>
            </a:pPr>
            <a:r>
              <a:rPr lang="en-US" sz="1100" dirty="0">
                <a:solidFill>
                  <a:srgbClr val="9AA3C0"/>
                </a:solidFill>
                <a:latin typeface="Calibri" pitchFamily="34" charset="0"/>
                <a:ea typeface="Calibri" pitchFamily="34" charset="-122"/>
                <a:cs typeface="Calibri" pitchFamily="34" charset="-120"/>
              </a:rPr>
              <a:t>WAL Imóveis e Consultoria  ·  CRECI 12261-J</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Executivo — Feirão Online WAL Imóveis 2026</dc:title>
  <dc:subject>PptxGenJS Presentation</dc:subject>
  <dc:creator>WAL Imóveis e Consultoria</dc:creator>
  <cp:lastModifiedBy>WAL Imóveis e Consultoria</cp:lastModifiedBy>
  <cp:revision>1</cp:revision>
  <dcterms:created xsi:type="dcterms:W3CDTF">2026-07-07T13:18:08Z</dcterms:created>
  <dcterms:modified xsi:type="dcterms:W3CDTF">2026-07-07T13:18:08Z</dcterms:modified>
</cp:coreProperties>
</file>